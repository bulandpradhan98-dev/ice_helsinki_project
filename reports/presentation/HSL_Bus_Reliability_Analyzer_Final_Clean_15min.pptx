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51" d="100"/>
          <a:sy n="51" d="100"/>
        </p:scale>
        <p:origin x="2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land Kumar Pradhan" userId="0ee3e93d-a5f7-4e10-a2bc-7a437d8542ba" providerId="ADAL" clId="{55FF999A-AFFA-4603-97FF-1135DD015AD4}"/>
    <pc:docChg chg="modSld">
      <pc:chgData name="Buland Kumar Pradhan" userId="0ee3e93d-a5f7-4e10-a2bc-7a437d8542ba" providerId="ADAL" clId="{55FF999A-AFFA-4603-97FF-1135DD015AD4}" dt="2026-04-28T22:20:17.643" v="27" actId="403"/>
      <pc:docMkLst>
        <pc:docMk/>
      </pc:docMkLst>
      <pc:sldChg chg="modSp mod">
        <pc:chgData name="Buland Kumar Pradhan" userId="0ee3e93d-a5f7-4e10-a2bc-7a437d8542ba" providerId="ADAL" clId="{55FF999A-AFFA-4603-97FF-1135DD015AD4}" dt="2026-04-28T22:20:17.643" v="27" actId="403"/>
        <pc:sldMkLst>
          <pc:docMk/>
          <pc:sldMk cId="2108971371" sldId="256"/>
        </pc:sldMkLst>
        <pc:spChg chg="mod">
          <ac:chgData name="Buland Kumar Pradhan" userId="0ee3e93d-a5f7-4e10-a2bc-7a437d8542ba" providerId="ADAL" clId="{55FF999A-AFFA-4603-97FF-1135DD015AD4}" dt="2026-04-28T22:20:17.643" v="27" actId="403"/>
          <ac:spMkLst>
            <pc:docMk/>
            <pc:sldMk cId="2108971371" sldId="256"/>
            <ac:spMk id="4" creationId="{16C1FCA4-4DE6-464A-9786-E95B5E943860}"/>
          </ac:spMkLst>
        </pc:spChg>
        <pc:spChg chg="mod">
          <ac:chgData name="Buland Kumar Pradhan" userId="0ee3e93d-a5f7-4e10-a2bc-7a437d8542ba" providerId="ADAL" clId="{55FF999A-AFFA-4603-97FF-1135DD015AD4}" dt="2026-04-28T22:19:27.566" v="0" actId="14100"/>
          <ac:spMkLst>
            <pc:docMk/>
            <pc:sldMk cId="2108971371" sldId="256"/>
            <ac:spMk id="13" creationId="{17122DFF-ED89-4037-AA06-7537465B4539}"/>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r>
              <a:t>KMeans silhouette by k</a:t>
            </a:r>
          </a:p>
        </c:rich>
      </c:tx>
      <c:overlay val="0"/>
    </c:title>
    <c:autoTitleDeleted val="0"/>
    <c:plotArea>
      <c:layout/>
      <c:lineChart>
        <c:grouping val="standard"/>
        <c:varyColors val="1"/>
        <c:ser>
          <c:idx val="0"/>
          <c:order val="0"/>
          <c:tx>
            <c:v>Silhouette</c:v>
          </c:tx>
          <c:cat>
            <c:numLit>
              <c:formatCode>General</c:formatCode>
              <c:ptCount val="9"/>
              <c:pt idx="0">
                <c:v>2</c:v>
              </c:pt>
              <c:pt idx="1">
                <c:v>3</c:v>
              </c:pt>
              <c:pt idx="2">
                <c:v>4</c:v>
              </c:pt>
              <c:pt idx="3">
                <c:v>5</c:v>
              </c:pt>
              <c:pt idx="4">
                <c:v>6</c:v>
              </c:pt>
              <c:pt idx="5">
                <c:v>7</c:v>
              </c:pt>
              <c:pt idx="6">
                <c:v>8</c:v>
              </c:pt>
              <c:pt idx="7">
                <c:v>9</c:v>
              </c:pt>
              <c:pt idx="8">
                <c:v>10</c:v>
              </c:pt>
            </c:numLit>
          </c:cat>
          <c:val>
            <c:numLit>
              <c:formatCode>General</c:formatCode>
              <c:ptCount val="9"/>
              <c:pt idx="0">
                <c:v>0.40089999999999998</c:v>
              </c:pt>
              <c:pt idx="1">
                <c:v>0.37840000000000001</c:v>
              </c:pt>
              <c:pt idx="2">
                <c:v>0.32879999999999998</c:v>
              </c:pt>
              <c:pt idx="3">
                <c:v>0.3226</c:v>
              </c:pt>
              <c:pt idx="4">
                <c:v>0.31369999999999998</c:v>
              </c:pt>
              <c:pt idx="5">
                <c:v>0.32479999999999998</c:v>
              </c:pt>
              <c:pt idx="6">
                <c:v>0.30099999999999999</c:v>
              </c:pt>
              <c:pt idx="7">
                <c:v>0.28210000000000002</c:v>
              </c:pt>
              <c:pt idx="8">
                <c:v>0.26440000000000002</c:v>
              </c:pt>
            </c:numLit>
          </c:val>
          <c:smooth val="0"/>
          <c:extLst>
            <c:ext xmlns:c16="http://schemas.microsoft.com/office/drawing/2014/chart" uri="{C3380CC4-5D6E-409C-BE32-E72D297353CC}">
              <c16:uniqueId val="{00000000-B59B-4A65-B822-6E0D8B81CE95}"/>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legend>
      <c:legendPos val="b"/>
      <c:overlay val="0"/>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r>
              <a:t>Cluster window counts</a:t>
            </a:r>
          </a:p>
        </c:rich>
      </c:tx>
      <c:overlay val="0"/>
    </c:title>
    <c:autoTitleDeleted val="0"/>
    <c:plotArea>
      <c:layout/>
      <c:barChart>
        <c:barDir val="col"/>
        <c:grouping val="clustered"/>
        <c:varyColors val="0"/>
        <c:ser>
          <c:idx val="0"/>
          <c:order val="0"/>
          <c:tx>
            <c:v>Feature windows</c:v>
          </c:tx>
          <c:invertIfNegative val="1"/>
          <c:cat>
            <c:strLit>
              <c:ptCount val="4"/>
              <c:pt idx="0">
                <c:v>Reliable</c:v>
              </c:pt>
              <c:pt idx="1">
                <c:v>Watch</c:v>
              </c:pt>
              <c:pt idx="2">
                <c:v>Delay hotspot</c:v>
              </c:pt>
              <c:pt idx="3">
                <c:v>Low RT coverage</c:v>
              </c:pt>
            </c:strLit>
          </c:cat>
          <c:val>
            <c:numLit>
              <c:formatCode>General</c:formatCode>
              <c:ptCount val="4"/>
              <c:pt idx="0">
                <c:v>3557</c:v>
              </c:pt>
              <c:pt idx="1">
                <c:v>1202</c:v>
              </c:pt>
              <c:pt idx="2">
                <c:v>752</c:v>
              </c:pt>
              <c:pt idx="3">
                <c:v>489</c:v>
              </c:pt>
            </c:numLit>
          </c:val>
          <c:extLst>
            <c:ext xmlns:c16="http://schemas.microsoft.com/office/drawing/2014/chart" uri="{C3380CC4-5D6E-409C-BE32-E72D297353CC}">
              <c16:uniqueId val="{00000000-CFE4-4F84-9C48-FA55E2F864CE}"/>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legend>
      <c:legendPos val="b"/>
      <c:overlay val="0"/>
    </c:legend>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r>
              <a:t>Best anomaly-model comparison</a:t>
            </a:r>
          </a:p>
        </c:rich>
      </c:tx>
      <c:overlay val="0"/>
    </c:title>
    <c:autoTitleDeleted val="0"/>
    <c:plotArea>
      <c:layout/>
      <c:barChart>
        <c:barDir val="col"/>
        <c:grouping val="clustered"/>
        <c:varyColors val="0"/>
        <c:ser>
          <c:idx val="0"/>
          <c:order val="0"/>
          <c:tx>
            <c:v>Isolation Forest</c:v>
          </c:tx>
          <c:invertIfNegative val="1"/>
          <c:cat>
            <c:strLit>
              <c:ptCount val="3"/>
              <c:pt idx="0">
                <c:v>Precision@K</c:v>
              </c:pt>
              <c:pt idx="1">
                <c:v>Recall</c:v>
              </c:pt>
              <c:pt idx="2">
                <c:v>F1 proxy</c:v>
              </c:pt>
            </c:strLit>
          </c:cat>
          <c:val>
            <c:numLit>
              <c:formatCode>General</c:formatCode>
              <c:ptCount val="3"/>
              <c:pt idx="0">
                <c:v>0.872</c:v>
              </c:pt>
              <c:pt idx="1">
                <c:v>0.52300000000000002</c:v>
              </c:pt>
              <c:pt idx="2">
                <c:v>0.65400000000000003</c:v>
              </c:pt>
            </c:numLit>
          </c:val>
          <c:extLst>
            <c:ext xmlns:c16="http://schemas.microsoft.com/office/drawing/2014/chart" uri="{C3380CC4-5D6E-409C-BE32-E72D297353CC}">
              <c16:uniqueId val="{00000000-EFA2-4DC1-9AAA-9301C3A7AA64}"/>
            </c:ext>
          </c:extLst>
        </c:ser>
        <c:ser>
          <c:idx val="1"/>
          <c:order val="1"/>
          <c:tx>
            <c:v>LOF</c:v>
          </c:tx>
          <c:invertIfNegative val="1"/>
          <c:cat>
            <c:strLit>
              <c:ptCount val="3"/>
              <c:pt idx="0">
                <c:v>Precision@K</c:v>
              </c:pt>
              <c:pt idx="1">
                <c:v>Recall</c:v>
              </c:pt>
              <c:pt idx="2">
                <c:v>F1 proxy</c:v>
              </c:pt>
            </c:strLit>
          </c:cat>
          <c:val>
            <c:numLit>
              <c:formatCode>General</c:formatCode>
              <c:ptCount val="3"/>
              <c:pt idx="0">
                <c:v>0.20799999999999999</c:v>
              </c:pt>
              <c:pt idx="1">
                <c:v>0.125</c:v>
              </c:pt>
              <c:pt idx="2">
                <c:v>0.156</c:v>
              </c:pt>
            </c:numLit>
          </c:val>
          <c:extLst>
            <c:ext xmlns:c16="http://schemas.microsoft.com/office/drawing/2014/chart" uri="{C3380CC4-5D6E-409C-BE32-E72D297353CC}">
              <c16:uniqueId val="{00000001-EFA2-4DC1-9AAA-9301C3A7AA64}"/>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legend>
      <c:legendPos val="b"/>
      <c:overlay val="0"/>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This project studies how reliable HSL buses are by comparing what should happen in the timetable with what appears in live GTFS-RT data. The important story is not only the dashboard; it is the full data science workflow from data understanding to preprocessing, modelling, evaluation, and urban mobility 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project is about public-transport efficiency, not a generic app. The central metric is schedule adherence or OTP. We focused the data science story on HSL buses because bus reliability is directly connected to delays, stop-level performance, and urban planning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prove dataset understanding. Static GTFS provides the planned network. GTFS-RT provides live observations. The database stores raw history so the analysis can continue even when Docker is not running all day. The numbers come from the executed Part 4 notebook snapshot.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important exam defence slide. Say: the feed contains many transport modes, but modelling all modes together would mix different operational patterns. Buses are ideal for schedule adherence because they experience road conditions, delays, coverage differences, and route-level reliability problems.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this left to right. Static GTFS is the planned truth. GTFS-RT is the live evidence. PostgreSQL/PostGIS/Timescale stores relational, spatial, and time-series data. Feature windows aggregate bus reliability by route, stop, and hour. Models create clusters, hotspots, and anomaly scores. FastAPI exposes this to React and MapLibre.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the preprocessing rubric. Explain that models cannot use raw protocol buffers directly. We turn raw observations into meaningful numerical and categorical features. Missing realtime information is not hidden; it becomes coverage and freshness features, which are themselves useful for data-quality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clearest way to explain OTP. Say: OTP does not mean every bus is perfect; it means the observed/predicted stop event is inside the tolerance. Coverage matters because missing TripUpdates can reduce confidence in reliability estimates.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maps directly to the Part 3 rubric. Mention that we used more than two techniques: KMeans and DBSCAN for clustering/pattern discovery, Isolation Forest and LOF for anomaly detection. The reason is not to add complexity; it is to compare global versus spatial/local behaviour.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metrics simply. Silhouette measures separation. Davies-Bouldin measures compactness and overlap. Calinski-Harabasz rewards separated, compact clusters. KMeans k=2 is selected for interpretability and score. DBSCAN eps=0.8 and min_samples=20 finds meaningful hotspots without forcing every stop into a cluster.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interpretation slide. Say: the algorithm gives numeric clusters, but planners need labels. So we interpret clusters based on delay, p95 absolute delay, coverage, and hotspot membership. Reliable is not perfect; it simply has comparatively better reliability and data coverage.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slowly. The map is one of the strongest presentation visuals. Explain that the model output is spatial because every feature window is connected to stop geometry. This supports mobility planning because problems become locations, not just table rows.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pseudo-labels honestly. We do not have official labels saying 'this is a true disruption.' Therefore we create proxy labels from operational signals: coverage dropout, stale feed, extreme delay, and late-heavy windows. This lets us compare models while clearly stating the limitation.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Part 4. The main interpretation is balanced: the models are useful, but the analysis is limited by available GTFS-RT history and missing official anomaly labels. That honesty strengthens the project because it shows proper evaluation thinking.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dashboard proof slide. Explain that the dashboard is not replacing the notebooks; it is the visual layer that makes the data science outputs understandable. The orange dots are live buses. Static GTFS gives route geometry. The model layers show cluster and anomaly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Recommendations should sound practical. This project does not automatically redesign the bus network. Instead it gives planners a ranked evidence system: investigate hotspots, improve realtime coverage, and use anomaly watchlists to decide where to look first.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protects you in questions. Say clearly: the project meets the required data mining and evaluation scope. Predictive modelling is future work because clustering plus anomaly detection already satisfy Part 3, and prediction needs more stable labelled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20 seconds: summarize the achievement. I combined HSL static schedules and realtime feeds, engineered bus-only reliability features, applied clustering and anomaly detection, evaluated them with appropriate metrics, and built a dashboard to make findings explainable. The outcome is a practical MVP for bus reliability 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419"/>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74B7056-E3C4-4516-8B8B-635A486D498A}"/>
              </a:ext>
            </a:extLst>
          </p:cNvPr>
          <p:cNvSpPr>
            <a:spLocks noGrp="1"/>
          </p:cNvSpPr>
          <p:nvPr/>
        </p:nvSpPr>
        <p:spPr>
          <a:xfrm>
            <a:off x="0" y="0"/>
            <a:ext cx="18288000" cy="10287000"/>
          </a:xfrm>
          <a:prstGeom prst="rect">
            <a:avLst/>
          </a:prstGeom>
          <a:solidFill>
            <a:srgbClr val="071419"/>
          </a:solidFill>
        </p:spPr>
        <p:txBody>
          <a:bodyPr/>
          <a:lstStyle/>
          <a:p>
            <a:endParaRPr lang="en-US"/>
          </a:p>
        </p:txBody>
      </p:sp>
      <p:sp>
        <p:nvSpPr>
          <p:cNvPr id="2" name="Rectangle 1">
            <a:extLst>
              <a:ext uri="{FF2B5EF4-FFF2-40B4-BE49-F238E27FC236}">
                <a16:creationId xmlns:a16="http://schemas.microsoft.com/office/drawing/2014/main" id="{16A2536E-FA3D-40DB-B2A7-ABBCEA632058}"/>
              </a:ext>
            </a:extLst>
          </p:cNvPr>
          <p:cNvSpPr>
            <a:spLocks noGrp="1"/>
          </p:cNvSpPr>
          <p:nvPr/>
        </p:nvSpPr>
        <p:spPr>
          <a:xfrm>
            <a:off x="0" y="0"/>
            <a:ext cx="8763000" cy="10287000"/>
          </a:xfrm>
          <a:prstGeom prst="rect">
            <a:avLst/>
          </a:prstGeom>
          <a:solidFill>
            <a:srgbClr val="153D45"/>
          </a:solidFill>
        </p:spPr>
        <p:txBody>
          <a:bodyPr/>
          <a:lstStyle/>
          <a:p>
            <a:endParaRPr lang="en-US"/>
          </a:p>
        </p:txBody>
      </p:sp>
      <p:sp>
        <p:nvSpPr>
          <p:cNvPr id="3" name="Rectangle: Rounded Corners 2">
            <a:extLst>
              <a:ext uri="{FF2B5EF4-FFF2-40B4-BE49-F238E27FC236}">
                <a16:creationId xmlns:a16="http://schemas.microsoft.com/office/drawing/2014/main" id="{9B3DD8A8-C597-4282-BAE7-F1DAF2BCCDC8}"/>
              </a:ext>
            </a:extLst>
          </p:cNvPr>
          <p:cNvSpPr>
            <a:spLocks noGrp="1"/>
          </p:cNvSpPr>
          <p:nvPr/>
        </p:nvSpPr>
        <p:spPr>
          <a:xfrm>
            <a:off x="0" y="0"/>
            <a:ext cx="11239500" cy="11239500"/>
          </a:xfrm>
          <a:prstGeom prst="roundRect">
            <a:avLst>
              <a:gd name="adj" fmla="val 50000"/>
            </a:avLst>
          </a:prstGeom>
          <a:solidFill>
            <a:srgbClr val="276F7A">
              <a:alpha val="20000"/>
            </a:srgbClr>
          </a:solidFill>
        </p:spPr>
        <p:txBody>
          <a:bodyPr/>
          <a:lstStyle/>
          <a:p>
            <a:endParaRPr lang="en-US" dirty="0"/>
          </a:p>
        </p:txBody>
      </p:sp>
      <p:sp>
        <p:nvSpPr>
          <p:cNvPr id="4" name="Rectangle 3">
            <a:extLst>
              <a:ext uri="{FF2B5EF4-FFF2-40B4-BE49-F238E27FC236}">
                <a16:creationId xmlns:a16="http://schemas.microsoft.com/office/drawing/2014/main" id="{16C1FCA4-4DE6-464A-9786-E95B5E943860}"/>
              </a:ext>
            </a:extLst>
          </p:cNvPr>
          <p:cNvSpPr>
            <a:spLocks noGrp="1"/>
          </p:cNvSpPr>
          <p:nvPr/>
        </p:nvSpPr>
        <p:spPr>
          <a:xfrm>
            <a:off x="876300" y="2192055"/>
            <a:ext cx="7848600" cy="1008345"/>
          </a:xfrm>
          <a:prstGeom prst="rect">
            <a:avLst/>
          </a:prstGeom>
        </p:spPr>
        <p:txBody>
          <a:bodyPr lIns="0" tIns="0" rIns="0" bIns="0"/>
          <a:lstStyle/>
          <a:p>
            <a:pPr>
              <a:defRPr sz="1350" b="1" i="0">
                <a:solidFill>
                  <a:srgbClr val="A7D8D9"/>
                </a:solidFill>
              </a:defRPr>
            </a:pPr>
            <a:r>
              <a:rPr b="1" i="0" dirty="0">
                <a:solidFill>
                  <a:srgbClr val="A7D8D9"/>
                </a:solidFill>
              </a:rPr>
              <a:t>DATA SCIENCE FOR </a:t>
            </a:r>
            <a:r>
              <a:rPr sz="1600" b="1" i="0" dirty="0">
                <a:solidFill>
                  <a:srgbClr val="A7D8D9"/>
                </a:solidFill>
              </a:rPr>
              <a:t>URBAN</a:t>
            </a:r>
            <a:r>
              <a:rPr b="1" i="0" dirty="0">
                <a:solidFill>
                  <a:srgbClr val="A7D8D9"/>
                </a:solidFill>
              </a:rPr>
              <a:t> MOBILITY</a:t>
            </a:r>
          </a:p>
        </p:txBody>
      </p:sp>
      <p:sp>
        <p:nvSpPr>
          <p:cNvPr id="5" name="Rectangle 4">
            <a:extLst>
              <a:ext uri="{FF2B5EF4-FFF2-40B4-BE49-F238E27FC236}">
                <a16:creationId xmlns:a16="http://schemas.microsoft.com/office/drawing/2014/main" id="{83385A45-8DFA-4765-A8E8-D556E5FEC433}"/>
              </a:ext>
            </a:extLst>
          </p:cNvPr>
          <p:cNvSpPr>
            <a:spLocks noGrp="1"/>
          </p:cNvSpPr>
          <p:nvPr/>
        </p:nvSpPr>
        <p:spPr>
          <a:xfrm>
            <a:off x="876300" y="3448050"/>
            <a:ext cx="7848600" cy="1924050"/>
          </a:xfrm>
          <a:prstGeom prst="rect">
            <a:avLst/>
          </a:prstGeom>
        </p:spPr>
        <p:txBody>
          <a:bodyPr lIns="0" tIns="0" rIns="0" bIns="0"/>
          <a:lstStyle/>
          <a:p>
            <a:pPr>
              <a:defRPr sz="6300" b="1" i="0">
                <a:solidFill>
                  <a:srgbClr val="FFFFFF"/>
                </a:solidFill>
              </a:defRPr>
            </a:pPr>
            <a:r>
              <a:rPr sz="6300" b="1" i="0" dirty="0">
                <a:solidFill>
                  <a:srgbClr val="FFFFFF"/>
                </a:solidFill>
              </a:rPr>
              <a:t>HSL Bus Reliability Analyzer</a:t>
            </a:r>
          </a:p>
        </p:txBody>
      </p:sp>
      <p:sp>
        <p:nvSpPr>
          <p:cNvPr id="6" name="Rectangle 5">
            <a:extLst>
              <a:ext uri="{FF2B5EF4-FFF2-40B4-BE49-F238E27FC236}">
                <a16:creationId xmlns:a16="http://schemas.microsoft.com/office/drawing/2014/main" id="{3966FA89-3E34-483F-8215-EECDBDE797B5}"/>
              </a:ext>
            </a:extLst>
          </p:cNvPr>
          <p:cNvSpPr>
            <a:spLocks noGrp="1"/>
          </p:cNvSpPr>
          <p:nvPr/>
        </p:nvSpPr>
        <p:spPr>
          <a:xfrm>
            <a:off x="876300" y="5619750"/>
            <a:ext cx="6686550" cy="971550"/>
          </a:xfrm>
          <a:prstGeom prst="rect">
            <a:avLst/>
          </a:prstGeom>
        </p:spPr>
        <p:txBody>
          <a:bodyPr lIns="0" tIns="0" rIns="0" bIns="0"/>
          <a:lstStyle/>
          <a:p>
            <a:pPr>
              <a:defRPr sz="2100" b="0" i="0">
                <a:solidFill>
                  <a:srgbClr val="C8DFDD"/>
                </a:solidFill>
              </a:defRPr>
            </a:pPr>
            <a:r>
              <a:rPr sz="2100" b="0" i="0">
                <a:solidFill>
                  <a:srgbClr val="C8DFDD"/>
                </a:solidFill>
              </a:rPr>
              <a:t>A 15-minute project presentation on GTFS schedules, GTFS-RT live data, clustering, anomaly detection, and urban mobility insights.</a:t>
            </a:r>
          </a:p>
        </p:txBody>
      </p:sp>
      <p:sp>
        <p:nvSpPr>
          <p:cNvPr id="7" name="Rectangle: Rounded Corners 6">
            <a:extLst>
              <a:ext uri="{FF2B5EF4-FFF2-40B4-BE49-F238E27FC236}">
                <a16:creationId xmlns:a16="http://schemas.microsoft.com/office/drawing/2014/main" id="{76F9DC4E-3FC1-43C1-81E8-EAC59C630DD0}"/>
              </a:ext>
            </a:extLst>
          </p:cNvPr>
          <p:cNvSpPr>
            <a:spLocks noGrp="1"/>
          </p:cNvSpPr>
          <p:nvPr/>
        </p:nvSpPr>
        <p:spPr>
          <a:xfrm>
            <a:off x="876300" y="6819900"/>
            <a:ext cx="693610" cy="582930"/>
          </a:xfrm>
          <a:prstGeom prst="roundRect">
            <a:avLst>
              <a:gd name="adj" fmla="val 50000"/>
            </a:avLst>
          </a:prstGeom>
          <a:solidFill>
            <a:srgbClr val="48B8C7">
              <a:alpha val="13333"/>
            </a:srgbClr>
          </a:solidFill>
          <a:ln w="9525">
            <a:solidFill>
              <a:srgbClr val="48B8C7">
                <a:alpha val="40000"/>
              </a:srgbClr>
            </a:solidFill>
            <a:prstDash val="solid"/>
          </a:ln>
        </p:spPr>
        <p:txBody>
          <a:bodyPr/>
          <a:lstStyle/>
          <a:p>
            <a:endParaRPr lang="en-US"/>
          </a:p>
        </p:txBody>
      </p:sp>
      <p:sp>
        <p:nvSpPr>
          <p:cNvPr id="8" name="Rectangle 7">
            <a:extLst>
              <a:ext uri="{FF2B5EF4-FFF2-40B4-BE49-F238E27FC236}">
                <a16:creationId xmlns:a16="http://schemas.microsoft.com/office/drawing/2014/main" id="{3BE36089-C52A-413A-B561-8457971C6C7E}"/>
              </a:ext>
            </a:extLst>
          </p:cNvPr>
          <p:cNvSpPr>
            <a:spLocks noGrp="1"/>
          </p:cNvSpPr>
          <p:nvPr/>
        </p:nvSpPr>
        <p:spPr>
          <a:xfrm>
            <a:off x="1047750" y="6915150"/>
            <a:ext cx="342900" cy="419100"/>
          </a:xfrm>
          <a:prstGeom prst="rect">
            <a:avLst/>
          </a:prstGeom>
        </p:spPr>
        <p:txBody>
          <a:bodyPr lIns="0" tIns="0" rIns="0" bIns="0"/>
          <a:lstStyle/>
          <a:p>
            <a:pPr>
              <a:defRPr sz="1350" b="1" i="0">
                <a:solidFill>
                  <a:srgbClr val="48B8C7"/>
                </a:solidFill>
              </a:defRPr>
            </a:pPr>
            <a:r>
              <a:rPr sz="1350" b="1" i="0">
                <a:solidFill>
                  <a:srgbClr val="48B8C7"/>
                </a:solidFill>
              </a:rPr>
              <a:t>GTFS</a:t>
            </a:r>
          </a:p>
        </p:txBody>
      </p:sp>
      <p:sp>
        <p:nvSpPr>
          <p:cNvPr id="9" name="Rectangle: Rounded Corners 8">
            <a:extLst>
              <a:ext uri="{FF2B5EF4-FFF2-40B4-BE49-F238E27FC236}">
                <a16:creationId xmlns:a16="http://schemas.microsoft.com/office/drawing/2014/main" id="{892B6C4F-C166-4005-BC63-8C1F73E4FA7D}"/>
              </a:ext>
            </a:extLst>
          </p:cNvPr>
          <p:cNvSpPr>
            <a:spLocks noGrp="1"/>
          </p:cNvSpPr>
          <p:nvPr/>
        </p:nvSpPr>
        <p:spPr>
          <a:xfrm>
            <a:off x="1703260" y="6819900"/>
            <a:ext cx="925163" cy="582930"/>
          </a:xfrm>
          <a:prstGeom prst="roundRect">
            <a:avLst>
              <a:gd name="adj" fmla="val 50000"/>
            </a:avLst>
          </a:prstGeom>
          <a:solidFill>
            <a:srgbClr val="F39A1E">
              <a:alpha val="13333"/>
            </a:srgbClr>
          </a:solidFill>
          <a:ln w="9525">
            <a:solidFill>
              <a:srgbClr val="F39A1E">
                <a:alpha val="40000"/>
              </a:srgbClr>
            </a:solidFill>
            <a:prstDash val="solid"/>
          </a:ln>
        </p:spPr>
        <p:txBody>
          <a:bodyPr/>
          <a:lstStyle/>
          <a:p>
            <a:endParaRPr lang="en-US"/>
          </a:p>
        </p:txBody>
      </p:sp>
      <p:sp>
        <p:nvSpPr>
          <p:cNvPr id="10" name="Rectangle 9">
            <a:extLst>
              <a:ext uri="{FF2B5EF4-FFF2-40B4-BE49-F238E27FC236}">
                <a16:creationId xmlns:a16="http://schemas.microsoft.com/office/drawing/2014/main" id="{25B93002-B34E-40AD-A8F3-7611131496D8}"/>
              </a:ext>
            </a:extLst>
          </p:cNvPr>
          <p:cNvSpPr>
            <a:spLocks noGrp="1"/>
          </p:cNvSpPr>
          <p:nvPr/>
        </p:nvSpPr>
        <p:spPr>
          <a:xfrm>
            <a:off x="1866900" y="6915150"/>
            <a:ext cx="590550" cy="419100"/>
          </a:xfrm>
          <a:prstGeom prst="rect">
            <a:avLst/>
          </a:prstGeom>
        </p:spPr>
        <p:txBody>
          <a:bodyPr lIns="0" tIns="0" rIns="0" bIns="0"/>
          <a:lstStyle/>
          <a:p>
            <a:pPr>
              <a:defRPr sz="1350" b="1" i="0">
                <a:solidFill>
                  <a:srgbClr val="F39A1E"/>
                </a:solidFill>
              </a:defRPr>
            </a:pPr>
            <a:r>
              <a:rPr sz="1350" b="1" i="0">
                <a:solidFill>
                  <a:srgbClr val="F39A1E"/>
                </a:solidFill>
              </a:rPr>
              <a:t>GTFS-RT</a:t>
            </a:r>
          </a:p>
        </p:txBody>
      </p:sp>
      <p:sp>
        <p:nvSpPr>
          <p:cNvPr id="11" name="Rectangle: Rounded Corners 10">
            <a:extLst>
              <a:ext uri="{FF2B5EF4-FFF2-40B4-BE49-F238E27FC236}">
                <a16:creationId xmlns:a16="http://schemas.microsoft.com/office/drawing/2014/main" id="{64832480-38D0-4E90-8C4D-978DD8AC22BF}"/>
              </a:ext>
            </a:extLst>
          </p:cNvPr>
          <p:cNvSpPr>
            <a:spLocks noGrp="1"/>
          </p:cNvSpPr>
          <p:nvPr/>
        </p:nvSpPr>
        <p:spPr>
          <a:xfrm>
            <a:off x="2761774" y="6819900"/>
            <a:ext cx="959453" cy="582930"/>
          </a:xfrm>
          <a:prstGeom prst="roundRect">
            <a:avLst>
              <a:gd name="adj" fmla="val 50000"/>
            </a:avLst>
          </a:prstGeom>
          <a:solidFill>
            <a:srgbClr val="24B96F">
              <a:alpha val="13333"/>
            </a:srgbClr>
          </a:solidFill>
          <a:ln w="9525">
            <a:solidFill>
              <a:srgbClr val="24B96F">
                <a:alpha val="40000"/>
              </a:srgbClr>
            </a:solidFill>
            <a:prstDash val="solid"/>
          </a:ln>
        </p:spPr>
        <p:txBody>
          <a:bodyPr/>
          <a:lstStyle/>
          <a:p>
            <a:endParaRPr lang="en-US"/>
          </a:p>
        </p:txBody>
      </p:sp>
      <p:sp>
        <p:nvSpPr>
          <p:cNvPr id="12" name="Rectangle 11">
            <a:extLst>
              <a:ext uri="{FF2B5EF4-FFF2-40B4-BE49-F238E27FC236}">
                <a16:creationId xmlns:a16="http://schemas.microsoft.com/office/drawing/2014/main" id="{4C476B1A-466C-4D10-95C5-757CE0FE2531}"/>
              </a:ext>
            </a:extLst>
          </p:cNvPr>
          <p:cNvSpPr>
            <a:spLocks noGrp="1"/>
          </p:cNvSpPr>
          <p:nvPr/>
        </p:nvSpPr>
        <p:spPr>
          <a:xfrm>
            <a:off x="2933700" y="6915150"/>
            <a:ext cx="609600" cy="419100"/>
          </a:xfrm>
          <a:prstGeom prst="rect">
            <a:avLst/>
          </a:prstGeom>
        </p:spPr>
        <p:txBody>
          <a:bodyPr lIns="0" tIns="0" rIns="0" bIns="0"/>
          <a:lstStyle/>
          <a:p>
            <a:pPr>
              <a:defRPr sz="1350" b="1" i="0">
                <a:solidFill>
                  <a:srgbClr val="24B96F"/>
                </a:solidFill>
              </a:defRPr>
            </a:pPr>
            <a:r>
              <a:rPr sz="1350" b="1" i="0">
                <a:solidFill>
                  <a:srgbClr val="24B96F"/>
                </a:solidFill>
              </a:rPr>
              <a:t>Bus-only</a:t>
            </a:r>
          </a:p>
        </p:txBody>
      </p:sp>
      <p:sp>
        <p:nvSpPr>
          <p:cNvPr id="13" name="Rectangle: Rounded Corners 12">
            <a:extLst>
              <a:ext uri="{FF2B5EF4-FFF2-40B4-BE49-F238E27FC236}">
                <a16:creationId xmlns:a16="http://schemas.microsoft.com/office/drawing/2014/main" id="{17122DFF-ED89-4037-AA06-7537465B4539}"/>
              </a:ext>
            </a:extLst>
          </p:cNvPr>
          <p:cNvSpPr>
            <a:spLocks noGrp="1"/>
          </p:cNvSpPr>
          <p:nvPr/>
        </p:nvSpPr>
        <p:spPr>
          <a:xfrm>
            <a:off x="3854576" y="6819900"/>
            <a:ext cx="1594245" cy="582930"/>
          </a:xfrm>
          <a:prstGeom prst="roundRect">
            <a:avLst>
              <a:gd name="adj" fmla="val 50000"/>
            </a:avLst>
          </a:prstGeom>
          <a:solidFill>
            <a:srgbClr val="FFFFFF">
              <a:alpha val="13333"/>
            </a:srgbClr>
          </a:solidFill>
          <a:ln w="9525">
            <a:solidFill>
              <a:srgbClr val="FFFFFF">
                <a:alpha val="40000"/>
              </a:srgbClr>
            </a:solidFill>
            <a:prstDash val="solid"/>
          </a:ln>
        </p:spPr>
        <p:txBody>
          <a:bodyPr/>
          <a:lstStyle/>
          <a:p>
            <a:endParaRPr lang="en-US" dirty="0"/>
          </a:p>
        </p:txBody>
      </p:sp>
      <p:sp>
        <p:nvSpPr>
          <p:cNvPr id="14" name="Rectangle 13">
            <a:extLst>
              <a:ext uri="{FF2B5EF4-FFF2-40B4-BE49-F238E27FC236}">
                <a16:creationId xmlns:a16="http://schemas.microsoft.com/office/drawing/2014/main" id="{6E4C843B-A993-4CC5-8E60-E298121F6615}"/>
              </a:ext>
            </a:extLst>
          </p:cNvPr>
          <p:cNvSpPr>
            <a:spLocks noGrp="1"/>
          </p:cNvSpPr>
          <p:nvPr/>
        </p:nvSpPr>
        <p:spPr>
          <a:xfrm>
            <a:off x="4019550" y="6915150"/>
            <a:ext cx="971550" cy="209550"/>
          </a:xfrm>
          <a:prstGeom prst="rect">
            <a:avLst/>
          </a:prstGeom>
        </p:spPr>
        <p:txBody>
          <a:bodyPr lIns="0" tIns="0" rIns="0" bIns="0"/>
          <a:lstStyle/>
          <a:p>
            <a:pPr>
              <a:defRPr sz="1350" b="1" i="0">
                <a:solidFill>
                  <a:srgbClr val="FFFFFF"/>
                </a:solidFill>
              </a:defRPr>
            </a:pPr>
            <a:r>
              <a:rPr sz="1350" b="1" i="0">
                <a:solidFill>
                  <a:srgbClr val="FFFFFF"/>
                </a:solidFill>
              </a:rPr>
              <a:t>Helsinki / HSL</a:t>
            </a:r>
          </a:p>
        </p:txBody>
      </p:sp>
      <p:sp>
        <p:nvSpPr>
          <p:cNvPr id="15" name="Rectangle: Rounded Corners 14">
            <a:extLst>
              <a:ext uri="{FF2B5EF4-FFF2-40B4-BE49-F238E27FC236}">
                <a16:creationId xmlns:a16="http://schemas.microsoft.com/office/drawing/2014/main" id="{E62A362A-D591-4C13-9E41-D432156CB91C}"/>
              </a:ext>
            </a:extLst>
          </p:cNvPr>
          <p:cNvSpPr>
            <a:spLocks noGrp="1"/>
          </p:cNvSpPr>
          <p:nvPr/>
        </p:nvSpPr>
        <p:spPr>
          <a:xfrm>
            <a:off x="9384030" y="1581150"/>
            <a:ext cx="8161020" cy="7239000"/>
          </a:xfrm>
          <a:prstGeom prst="roundRect">
            <a:avLst>
              <a:gd name="adj" fmla="val 4474"/>
            </a:avLst>
          </a:prstGeom>
          <a:solidFill>
            <a:srgbClr val="FFFFFF"/>
          </a:solidFill>
        </p:spPr>
        <p:txBody>
          <a:bodyPr/>
          <a:lstStyle/>
          <a:p>
            <a:endParaRPr lang="en-US"/>
          </a:p>
        </p:txBody>
      </p:sp>
      <p:sp>
        <p:nvSpPr>
          <p:cNvPr id="16" name="Rectangle: Rounded Corners 15">
            <a:extLst>
              <a:ext uri="{FF2B5EF4-FFF2-40B4-BE49-F238E27FC236}">
                <a16:creationId xmlns:a16="http://schemas.microsoft.com/office/drawing/2014/main" id="{5771D9DC-E565-4485-87BB-5B3CC1D9FCC6}"/>
              </a:ext>
            </a:extLst>
          </p:cNvPr>
          <p:cNvSpPr>
            <a:spLocks noGrp="1"/>
          </p:cNvSpPr>
          <p:nvPr/>
        </p:nvSpPr>
        <p:spPr>
          <a:xfrm>
            <a:off x="9384030" y="1581150"/>
            <a:ext cx="8161020" cy="7239000"/>
          </a:xfrm>
          <a:prstGeom prst="roundRect">
            <a:avLst>
              <a:gd name="adj" fmla="val 3947"/>
            </a:avLst>
          </a:prstGeom>
          <a:solidFill>
            <a:srgbClr val="FFFFFF"/>
          </a:solidFill>
          <a:ln w="19050">
            <a:solidFill>
              <a:srgbClr val="48B8C7">
                <a:alpha val="53333"/>
              </a:srgbClr>
            </a:solidFill>
            <a:prstDash val="solid"/>
          </a:ln>
        </p:spPr>
        <p:txBody>
          <a:bodyPr/>
          <a:lstStyle/>
          <a:p>
            <a:endParaRPr lang="en-US"/>
          </a:p>
        </p:txBody>
      </p:sp>
      <p:sp>
        <p:nvSpPr>
          <p:cNvPr id="17" name="Rectangle: Rounded Corners 16">
            <a:extLst>
              <a:ext uri="{FF2B5EF4-FFF2-40B4-BE49-F238E27FC236}">
                <a16:creationId xmlns:a16="http://schemas.microsoft.com/office/drawing/2014/main" id="{629B72B6-821B-4415-9D94-EE14FF1866D9}"/>
              </a:ext>
            </a:extLst>
          </p:cNvPr>
          <p:cNvSpPr>
            <a:spLocks noGrp="1"/>
          </p:cNvSpPr>
          <p:nvPr/>
        </p:nvSpPr>
        <p:spPr>
          <a:xfrm>
            <a:off x="12801600" y="4267200"/>
            <a:ext cx="1314450" cy="95250"/>
          </a:xfrm>
          <a:prstGeom prst="roundRect">
            <a:avLst>
              <a:gd name="adj" fmla="val 50000"/>
            </a:avLst>
          </a:prstGeom>
          <a:solidFill>
            <a:srgbClr val="48B8C7"/>
          </a:solidFill>
        </p:spPr>
        <p:txBody>
          <a:bodyPr/>
          <a:lstStyle/>
          <a:p>
            <a:endParaRPr lang="en-US"/>
          </a:p>
        </p:txBody>
      </p:sp>
      <p:sp>
        <p:nvSpPr>
          <p:cNvPr id="18" name="Rectangle 17">
            <a:extLst>
              <a:ext uri="{FF2B5EF4-FFF2-40B4-BE49-F238E27FC236}">
                <a16:creationId xmlns:a16="http://schemas.microsoft.com/office/drawing/2014/main" id="{D7033C10-20A4-4764-872A-BAC3F94379B0}"/>
              </a:ext>
            </a:extLst>
          </p:cNvPr>
          <p:cNvSpPr>
            <a:spLocks noGrp="1"/>
          </p:cNvSpPr>
          <p:nvPr/>
        </p:nvSpPr>
        <p:spPr>
          <a:xfrm>
            <a:off x="12687300" y="4552950"/>
            <a:ext cx="1562100" cy="228600"/>
          </a:xfrm>
          <a:prstGeom prst="rect">
            <a:avLst/>
          </a:prstGeom>
        </p:spPr>
        <p:txBody>
          <a:bodyPr lIns="0" tIns="0" rIns="0" bIns="0"/>
          <a:lstStyle/>
          <a:p>
            <a:pPr>
              <a:defRPr sz="1500" b="1" i="0">
                <a:solidFill>
                  <a:srgbClr val="48B8C7"/>
                </a:solidFill>
              </a:defRPr>
            </a:pPr>
            <a:r>
              <a:rPr sz="1500" b="1" i="0">
                <a:solidFill>
                  <a:srgbClr val="48B8C7"/>
                </a:solidFill>
              </a:rPr>
              <a:t>SCREENSHOT SPACE</a:t>
            </a:r>
          </a:p>
        </p:txBody>
      </p:sp>
      <p:sp>
        <p:nvSpPr>
          <p:cNvPr id="19" name="Rectangle 18">
            <a:extLst>
              <a:ext uri="{FF2B5EF4-FFF2-40B4-BE49-F238E27FC236}">
                <a16:creationId xmlns:a16="http://schemas.microsoft.com/office/drawing/2014/main" id="{54810E97-A7B8-45A1-8B71-6CD2537E7F35}"/>
              </a:ext>
            </a:extLst>
          </p:cNvPr>
          <p:cNvSpPr>
            <a:spLocks noGrp="1"/>
          </p:cNvSpPr>
          <p:nvPr/>
        </p:nvSpPr>
        <p:spPr>
          <a:xfrm>
            <a:off x="11334750" y="4953000"/>
            <a:ext cx="4267200" cy="457200"/>
          </a:xfrm>
          <a:prstGeom prst="rect">
            <a:avLst/>
          </a:prstGeom>
        </p:spPr>
        <p:txBody>
          <a:bodyPr lIns="0" tIns="0" rIns="0" bIns="0"/>
          <a:lstStyle/>
          <a:p>
            <a:pPr>
              <a:defRPr sz="3000" b="1" i="0">
                <a:solidFill>
                  <a:srgbClr val="071419"/>
                </a:solidFill>
              </a:defRPr>
            </a:pPr>
            <a:r>
              <a:rPr sz="3000" b="1" i="0">
                <a:solidFill>
                  <a:srgbClr val="071419"/>
                </a:solidFill>
              </a:rPr>
              <a:t>Part 4 CartoDB cluster map</a:t>
            </a:r>
          </a:p>
        </p:txBody>
      </p:sp>
      <p:sp>
        <p:nvSpPr>
          <p:cNvPr id="20" name="Rectangle 19">
            <a:extLst>
              <a:ext uri="{FF2B5EF4-FFF2-40B4-BE49-F238E27FC236}">
                <a16:creationId xmlns:a16="http://schemas.microsoft.com/office/drawing/2014/main" id="{0256BC40-5DC9-44D3-802C-778A14566EE8}"/>
              </a:ext>
            </a:extLst>
          </p:cNvPr>
          <p:cNvSpPr>
            <a:spLocks noGrp="1"/>
          </p:cNvSpPr>
          <p:nvPr/>
        </p:nvSpPr>
        <p:spPr>
          <a:xfrm>
            <a:off x="10668000" y="5581650"/>
            <a:ext cx="5600700" cy="533400"/>
          </a:xfrm>
          <a:prstGeom prst="rect">
            <a:avLst/>
          </a:prstGeom>
        </p:spPr>
        <p:txBody>
          <a:bodyPr lIns="0" tIns="0" rIns="0" bIns="0"/>
          <a:lstStyle/>
          <a:p>
            <a:pPr>
              <a:defRPr sz="1725" b="0" i="0">
                <a:solidFill>
                  <a:srgbClr val="5D6D76"/>
                </a:solidFill>
              </a:defRPr>
            </a:pPr>
            <a:r>
              <a:rPr sz="1725" b="0" i="0">
                <a:solidFill>
                  <a:srgbClr val="5D6D76"/>
                </a:solidFill>
              </a:rPr>
              <a:t>Insert the notebook map showing HSL bus reliability clusters by stop location.</a:t>
            </a:r>
          </a:p>
        </p:txBody>
      </p:sp>
    </p:spTree>
    <p:extLst>
      <p:ext uri="{BB962C8B-B14F-4D97-AF65-F5344CB8AC3E}">
        <p14:creationId xmlns:p14="http://schemas.microsoft.com/office/powerpoint/2010/main" val="2108971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22" name="bg">
            <a:extLst>
              <a:ext uri="{FF2B5EF4-FFF2-40B4-BE49-F238E27FC236}">
                <a16:creationId xmlns:a16="http://schemas.microsoft.com/office/drawing/2014/main" id="{CA903138-8EB7-4ABA-940D-7DA83C79F1C1}"/>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A6C36594-672F-406B-A206-244F7536334B}"/>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CC9866DA-BBC5-4070-A957-91E9B1E589EB}"/>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CD50A919-DB93-44C9-9DF0-254149C569C9}"/>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Problem background and objective</a:t>
            </a:r>
          </a:p>
        </p:txBody>
      </p:sp>
      <p:sp>
        <p:nvSpPr>
          <p:cNvPr id="5" name="slide-subtitle">
            <a:extLst>
              <a:ext uri="{FF2B5EF4-FFF2-40B4-BE49-F238E27FC236}">
                <a16:creationId xmlns:a16="http://schemas.microsoft.com/office/drawing/2014/main" id="{4654873A-0E52-4C0D-BC7B-3EB813B20B2F}"/>
              </a:ext>
            </a:extLst>
          </p:cNvPr>
          <p:cNvSpPr>
            <a:spLocks noGrp="1"/>
          </p:cNvSpPr>
          <p:nvPr/>
        </p:nvSpPr>
        <p:spPr>
          <a:xfrm>
            <a:off x="1123950" y="1657350"/>
            <a:ext cx="10515600" cy="285750"/>
          </a:xfrm>
          <a:prstGeom prst="rect">
            <a:avLst/>
          </a:prstGeom>
        </p:spPr>
        <p:txBody>
          <a:bodyPr lIns="0" tIns="0" rIns="0" bIns="0"/>
          <a:lstStyle/>
          <a:p>
            <a:pPr>
              <a:defRPr sz="1875" b="0" i="0">
                <a:solidFill>
                  <a:srgbClr val="5D6D76"/>
                </a:solidFill>
              </a:defRPr>
            </a:pPr>
            <a:r>
              <a:rPr sz="1875" b="0" i="0">
                <a:solidFill>
                  <a:srgbClr val="5D6D76"/>
                </a:solidFill>
              </a:rPr>
              <a:t>Municipal planners need quick evidence about where bus service is reliable and where it needs investigation.</a:t>
            </a:r>
          </a:p>
        </p:txBody>
      </p:sp>
      <p:sp>
        <p:nvSpPr>
          <p:cNvPr id="6" name="Rectangle: Rounded Corners 5">
            <a:extLst>
              <a:ext uri="{FF2B5EF4-FFF2-40B4-BE49-F238E27FC236}">
                <a16:creationId xmlns:a16="http://schemas.microsoft.com/office/drawing/2014/main" id="{03179D5E-FE4B-454B-B8AC-A6E3AEE018AC}"/>
              </a:ext>
            </a:extLst>
          </p:cNvPr>
          <p:cNvSpPr>
            <a:spLocks noGrp="1"/>
          </p:cNvSpPr>
          <p:nvPr/>
        </p:nvSpPr>
        <p:spPr>
          <a:xfrm>
            <a:off x="1143000" y="2209800"/>
            <a:ext cx="171450" cy="171450"/>
          </a:xfrm>
          <a:prstGeom prst="roundRect">
            <a:avLst>
              <a:gd name="adj" fmla="val 50000"/>
            </a:avLst>
          </a:prstGeom>
          <a:solidFill>
            <a:srgbClr val="1E5A64"/>
          </a:solidFill>
        </p:spPr>
        <p:txBody>
          <a:bodyPr/>
          <a:lstStyle/>
          <a:p>
            <a:endParaRPr lang="en-US"/>
          </a:p>
        </p:txBody>
      </p:sp>
      <p:sp>
        <p:nvSpPr>
          <p:cNvPr id="7" name="Rectangle 6">
            <a:extLst>
              <a:ext uri="{FF2B5EF4-FFF2-40B4-BE49-F238E27FC236}">
                <a16:creationId xmlns:a16="http://schemas.microsoft.com/office/drawing/2014/main" id="{9E3C0B1B-DF8B-4DF9-BA80-01BACE655D8D}"/>
              </a:ext>
            </a:extLst>
          </p:cNvPr>
          <p:cNvSpPr>
            <a:spLocks noGrp="1"/>
          </p:cNvSpPr>
          <p:nvPr/>
        </p:nvSpPr>
        <p:spPr>
          <a:xfrm>
            <a:off x="1447800" y="2209800"/>
            <a:ext cx="7696200" cy="323850"/>
          </a:xfrm>
          <a:prstGeom prst="rect">
            <a:avLst/>
          </a:prstGeom>
        </p:spPr>
        <p:txBody>
          <a:bodyPr lIns="0" tIns="0" rIns="0" bIns="0"/>
          <a:lstStyle/>
          <a:p>
            <a:pPr>
              <a:defRPr sz="2100" b="1" i="0">
                <a:solidFill>
                  <a:srgbClr val="071419"/>
                </a:solidFill>
              </a:defRPr>
            </a:pPr>
            <a:r>
              <a:rPr sz="2100" b="1" i="0">
                <a:solidFill>
                  <a:srgbClr val="071419"/>
                </a:solidFill>
              </a:rPr>
              <a:t>Planning problem</a:t>
            </a:r>
          </a:p>
        </p:txBody>
      </p:sp>
      <p:sp>
        <p:nvSpPr>
          <p:cNvPr id="8" name="Rectangle 7">
            <a:extLst>
              <a:ext uri="{FF2B5EF4-FFF2-40B4-BE49-F238E27FC236}">
                <a16:creationId xmlns:a16="http://schemas.microsoft.com/office/drawing/2014/main" id="{D03C6806-6A27-426C-A9A2-DC7916896820}"/>
              </a:ext>
            </a:extLst>
          </p:cNvPr>
          <p:cNvSpPr>
            <a:spLocks noGrp="1"/>
          </p:cNvSpPr>
          <p:nvPr/>
        </p:nvSpPr>
        <p:spPr>
          <a:xfrm>
            <a:off x="1447800" y="2552700"/>
            <a:ext cx="6515100" cy="514350"/>
          </a:xfrm>
          <a:prstGeom prst="rect">
            <a:avLst/>
          </a:prstGeom>
        </p:spPr>
        <p:txBody>
          <a:bodyPr lIns="0" tIns="0" rIns="0" bIns="0"/>
          <a:lstStyle/>
          <a:p>
            <a:pPr>
              <a:defRPr sz="1650" b="0" i="0">
                <a:solidFill>
                  <a:srgbClr val="5D6D76"/>
                </a:solidFill>
              </a:defRPr>
            </a:pPr>
            <a:r>
              <a:rPr sz="1650" b="0" i="0">
                <a:solidFill>
                  <a:srgbClr val="5D6D76"/>
                </a:solidFill>
              </a:rPr>
              <a:t>Static timetables show planned service, but they do not show whether buses actually arrive close to schedule.</a:t>
            </a:r>
          </a:p>
        </p:txBody>
      </p:sp>
      <p:sp>
        <p:nvSpPr>
          <p:cNvPr id="9" name="Rectangle: Rounded Corners 8">
            <a:extLst>
              <a:ext uri="{FF2B5EF4-FFF2-40B4-BE49-F238E27FC236}">
                <a16:creationId xmlns:a16="http://schemas.microsoft.com/office/drawing/2014/main" id="{27D285DB-9B8C-45E6-8FBE-0BFB39EEF2B3}"/>
              </a:ext>
            </a:extLst>
          </p:cNvPr>
          <p:cNvSpPr>
            <a:spLocks noGrp="1"/>
          </p:cNvSpPr>
          <p:nvPr/>
        </p:nvSpPr>
        <p:spPr>
          <a:xfrm>
            <a:off x="1143000" y="3238500"/>
            <a:ext cx="171450" cy="171450"/>
          </a:xfrm>
          <a:prstGeom prst="roundRect">
            <a:avLst>
              <a:gd name="adj" fmla="val 50000"/>
            </a:avLst>
          </a:prstGeom>
          <a:solidFill>
            <a:srgbClr val="48B8C7"/>
          </a:solidFill>
        </p:spPr>
        <p:txBody>
          <a:bodyPr/>
          <a:lstStyle/>
          <a:p>
            <a:endParaRPr lang="en-US"/>
          </a:p>
        </p:txBody>
      </p:sp>
      <p:sp>
        <p:nvSpPr>
          <p:cNvPr id="10" name="Rectangle 9">
            <a:extLst>
              <a:ext uri="{FF2B5EF4-FFF2-40B4-BE49-F238E27FC236}">
                <a16:creationId xmlns:a16="http://schemas.microsoft.com/office/drawing/2014/main" id="{95C60D1E-632F-4D09-B188-DAC67354E1AA}"/>
              </a:ext>
            </a:extLst>
          </p:cNvPr>
          <p:cNvSpPr>
            <a:spLocks noGrp="1"/>
          </p:cNvSpPr>
          <p:nvPr/>
        </p:nvSpPr>
        <p:spPr>
          <a:xfrm>
            <a:off x="1447800" y="3238500"/>
            <a:ext cx="7696200" cy="323850"/>
          </a:xfrm>
          <a:prstGeom prst="rect">
            <a:avLst/>
          </a:prstGeom>
        </p:spPr>
        <p:txBody>
          <a:bodyPr lIns="0" tIns="0" rIns="0" bIns="0"/>
          <a:lstStyle/>
          <a:p>
            <a:pPr>
              <a:defRPr sz="2100" b="1" i="0">
                <a:solidFill>
                  <a:srgbClr val="071419"/>
                </a:solidFill>
              </a:defRPr>
            </a:pPr>
            <a:r>
              <a:rPr sz="2100" b="1" i="0">
                <a:solidFill>
                  <a:srgbClr val="071419"/>
                </a:solidFill>
              </a:rPr>
              <a:t>Data science objective</a:t>
            </a:r>
          </a:p>
        </p:txBody>
      </p:sp>
      <p:sp>
        <p:nvSpPr>
          <p:cNvPr id="11" name="Rectangle 10">
            <a:extLst>
              <a:ext uri="{FF2B5EF4-FFF2-40B4-BE49-F238E27FC236}">
                <a16:creationId xmlns:a16="http://schemas.microsoft.com/office/drawing/2014/main" id="{8687D0EA-5798-4F22-B1F5-D308674D4FF6}"/>
              </a:ext>
            </a:extLst>
          </p:cNvPr>
          <p:cNvSpPr>
            <a:spLocks noGrp="1"/>
          </p:cNvSpPr>
          <p:nvPr/>
        </p:nvSpPr>
        <p:spPr>
          <a:xfrm>
            <a:off x="1447800" y="3600450"/>
            <a:ext cx="6743700" cy="514350"/>
          </a:xfrm>
          <a:prstGeom prst="rect">
            <a:avLst/>
          </a:prstGeom>
        </p:spPr>
        <p:txBody>
          <a:bodyPr lIns="0" tIns="0" rIns="0" bIns="0"/>
          <a:lstStyle/>
          <a:p>
            <a:pPr>
              <a:defRPr sz="1650" b="0" i="0">
                <a:solidFill>
                  <a:srgbClr val="5D6D76"/>
                </a:solidFill>
              </a:defRPr>
            </a:pPr>
            <a:r>
              <a:rPr sz="1650" b="0" i="0">
                <a:solidFill>
                  <a:srgbClr val="5D6D76"/>
                </a:solidFill>
              </a:rPr>
              <a:t>Combine scheduled GTFS with realtime GTFS-RT evidence to quantify reliability, discover patterns, and flag unusual bus-operation windows.</a:t>
            </a:r>
          </a:p>
        </p:txBody>
      </p:sp>
      <p:sp>
        <p:nvSpPr>
          <p:cNvPr id="12" name="Rectangle: Rounded Corners 11">
            <a:extLst>
              <a:ext uri="{FF2B5EF4-FFF2-40B4-BE49-F238E27FC236}">
                <a16:creationId xmlns:a16="http://schemas.microsoft.com/office/drawing/2014/main" id="{80F4E27A-F146-4365-BC86-47FD025FDAF1}"/>
              </a:ext>
            </a:extLst>
          </p:cNvPr>
          <p:cNvSpPr>
            <a:spLocks noGrp="1"/>
          </p:cNvSpPr>
          <p:nvPr/>
        </p:nvSpPr>
        <p:spPr>
          <a:xfrm>
            <a:off x="1143000" y="4267200"/>
            <a:ext cx="171450" cy="171450"/>
          </a:xfrm>
          <a:prstGeom prst="roundRect">
            <a:avLst>
              <a:gd name="adj" fmla="val 50000"/>
            </a:avLst>
          </a:prstGeom>
          <a:solidFill>
            <a:srgbClr val="1E5A64"/>
          </a:solidFill>
        </p:spPr>
        <p:txBody>
          <a:bodyPr/>
          <a:lstStyle/>
          <a:p>
            <a:endParaRPr lang="en-US"/>
          </a:p>
        </p:txBody>
      </p:sp>
      <p:sp>
        <p:nvSpPr>
          <p:cNvPr id="13" name="Rectangle 12">
            <a:extLst>
              <a:ext uri="{FF2B5EF4-FFF2-40B4-BE49-F238E27FC236}">
                <a16:creationId xmlns:a16="http://schemas.microsoft.com/office/drawing/2014/main" id="{DD2E19F0-F59A-4BD2-8C17-2B7FF39CBFEA}"/>
              </a:ext>
            </a:extLst>
          </p:cNvPr>
          <p:cNvSpPr>
            <a:spLocks noGrp="1"/>
          </p:cNvSpPr>
          <p:nvPr/>
        </p:nvSpPr>
        <p:spPr>
          <a:xfrm>
            <a:off x="1447800" y="4267200"/>
            <a:ext cx="7696200" cy="323850"/>
          </a:xfrm>
          <a:prstGeom prst="rect">
            <a:avLst/>
          </a:prstGeom>
        </p:spPr>
        <p:txBody>
          <a:bodyPr lIns="0" tIns="0" rIns="0" bIns="0"/>
          <a:lstStyle/>
          <a:p>
            <a:pPr>
              <a:defRPr sz="2100" b="1" i="0">
                <a:solidFill>
                  <a:srgbClr val="071419"/>
                </a:solidFill>
              </a:defRPr>
            </a:pPr>
            <a:r>
              <a:rPr sz="2100" b="1" i="0">
                <a:solidFill>
                  <a:srgbClr val="071419"/>
                </a:solidFill>
              </a:rPr>
              <a:t>MVP objective</a:t>
            </a:r>
          </a:p>
        </p:txBody>
      </p:sp>
      <p:sp>
        <p:nvSpPr>
          <p:cNvPr id="14" name="Rectangle 13">
            <a:extLst>
              <a:ext uri="{FF2B5EF4-FFF2-40B4-BE49-F238E27FC236}">
                <a16:creationId xmlns:a16="http://schemas.microsoft.com/office/drawing/2014/main" id="{911F5243-35B2-420F-8CEE-0D6B040DA3FF}"/>
              </a:ext>
            </a:extLst>
          </p:cNvPr>
          <p:cNvSpPr>
            <a:spLocks noGrp="1"/>
          </p:cNvSpPr>
          <p:nvPr/>
        </p:nvSpPr>
        <p:spPr>
          <a:xfrm>
            <a:off x="1447800" y="4629150"/>
            <a:ext cx="6267450" cy="762000"/>
          </a:xfrm>
          <a:prstGeom prst="rect">
            <a:avLst/>
          </a:prstGeom>
        </p:spPr>
        <p:txBody>
          <a:bodyPr lIns="0" tIns="0" rIns="0" bIns="0"/>
          <a:lstStyle/>
          <a:p>
            <a:pPr>
              <a:defRPr sz="1650" b="0" i="0">
                <a:solidFill>
                  <a:srgbClr val="5D6D76"/>
                </a:solidFill>
              </a:defRPr>
            </a:pPr>
            <a:r>
              <a:rPr sz="1650" b="0" i="0">
                <a:solidFill>
                  <a:srgbClr val="5D6D76"/>
                </a:solidFill>
              </a:rPr>
              <a:t>Produce an explainable dashboard and notebooks that answer: which bus routes/stops are reliable, watch-worthy, delayed, or data-quality limited?</a:t>
            </a:r>
          </a:p>
        </p:txBody>
      </p:sp>
      <p:sp>
        <p:nvSpPr>
          <p:cNvPr id="15" name="Rectangle 14">
            <a:extLst>
              <a:ext uri="{FF2B5EF4-FFF2-40B4-BE49-F238E27FC236}">
                <a16:creationId xmlns:a16="http://schemas.microsoft.com/office/drawing/2014/main" id="{0CC5FAC1-99FC-4C31-941B-3ABBA3F77A5B}"/>
              </a:ext>
            </a:extLst>
          </p:cNvPr>
          <p:cNvSpPr>
            <a:spLocks noGrp="1"/>
          </p:cNvSpPr>
          <p:nvPr/>
        </p:nvSpPr>
        <p:spPr>
          <a:xfrm>
            <a:off x="9544050" y="4210050"/>
            <a:ext cx="8020050" cy="628650"/>
          </a:xfrm>
          <a:prstGeom prst="rect">
            <a:avLst/>
          </a:prstGeom>
        </p:spPr>
        <p:txBody>
          <a:bodyPr lIns="0" tIns="0" rIns="0" bIns="0"/>
          <a:lstStyle/>
          <a:p>
            <a:pPr>
              <a:defRPr sz="4050" b="1" i="0">
                <a:solidFill>
                  <a:srgbClr val="24B96F"/>
                </a:solidFill>
              </a:defRPr>
            </a:pPr>
            <a:r>
              <a:rPr sz="4050" b="1" i="0">
                <a:solidFill>
                  <a:srgbClr val="24B96F"/>
                </a:solidFill>
              </a:rPr>
              <a:t>OTP</a:t>
            </a:r>
          </a:p>
        </p:txBody>
      </p:sp>
      <p:sp>
        <p:nvSpPr>
          <p:cNvPr id="16" name="Rectangle 15">
            <a:extLst>
              <a:ext uri="{FF2B5EF4-FFF2-40B4-BE49-F238E27FC236}">
                <a16:creationId xmlns:a16="http://schemas.microsoft.com/office/drawing/2014/main" id="{1B6DA67F-1CFF-41FF-87DE-56105CBF1A85}"/>
              </a:ext>
            </a:extLst>
          </p:cNvPr>
          <p:cNvSpPr>
            <a:spLocks noGrp="1"/>
          </p:cNvSpPr>
          <p:nvPr/>
        </p:nvSpPr>
        <p:spPr>
          <a:xfrm>
            <a:off x="9544050" y="4895850"/>
            <a:ext cx="8020050" cy="228600"/>
          </a:xfrm>
          <a:prstGeom prst="rect">
            <a:avLst/>
          </a:prstGeom>
        </p:spPr>
        <p:txBody>
          <a:bodyPr lIns="0" tIns="0" rIns="0" bIns="0"/>
          <a:lstStyle/>
          <a:p>
            <a:pPr>
              <a:defRPr sz="1500" b="0" i="0">
                <a:solidFill>
                  <a:srgbClr val="5D6D76"/>
                </a:solidFill>
              </a:defRPr>
            </a:pPr>
            <a:r>
              <a:rPr sz="1500" b="0" i="0">
                <a:solidFill>
                  <a:srgbClr val="5D6D76"/>
                </a:solidFill>
              </a:rPr>
              <a:t>On-time performance: arrivals between -1 and +5 minutes</a:t>
            </a:r>
          </a:p>
        </p:txBody>
      </p:sp>
      <p:sp>
        <p:nvSpPr>
          <p:cNvPr id="17" name="Rectangle 16">
            <a:extLst>
              <a:ext uri="{FF2B5EF4-FFF2-40B4-BE49-F238E27FC236}">
                <a16:creationId xmlns:a16="http://schemas.microsoft.com/office/drawing/2014/main" id="{C003EE7C-AE5D-454E-A2E6-A48A10C16C9B}"/>
              </a:ext>
            </a:extLst>
          </p:cNvPr>
          <p:cNvSpPr>
            <a:spLocks noGrp="1"/>
          </p:cNvSpPr>
          <p:nvPr/>
        </p:nvSpPr>
        <p:spPr>
          <a:xfrm>
            <a:off x="9544050" y="5391150"/>
            <a:ext cx="8020050" cy="628650"/>
          </a:xfrm>
          <a:prstGeom prst="rect">
            <a:avLst/>
          </a:prstGeom>
        </p:spPr>
        <p:txBody>
          <a:bodyPr lIns="0" tIns="0" rIns="0" bIns="0"/>
          <a:lstStyle/>
          <a:p>
            <a:pPr>
              <a:defRPr sz="4050" b="1" i="0">
                <a:solidFill>
                  <a:srgbClr val="F39A1E"/>
                </a:solidFill>
              </a:defRPr>
            </a:pPr>
            <a:r>
              <a:rPr sz="4050" b="1" i="0">
                <a:solidFill>
                  <a:srgbClr val="F39A1E"/>
                </a:solidFill>
              </a:rPr>
              <a:t>GTFS vs GTFS-RT</a:t>
            </a:r>
          </a:p>
        </p:txBody>
      </p:sp>
      <p:sp>
        <p:nvSpPr>
          <p:cNvPr id="18" name="Rectangle 17">
            <a:extLst>
              <a:ext uri="{FF2B5EF4-FFF2-40B4-BE49-F238E27FC236}">
                <a16:creationId xmlns:a16="http://schemas.microsoft.com/office/drawing/2014/main" id="{04B50B83-887C-4D39-815A-E6FFF771BA1B}"/>
              </a:ext>
            </a:extLst>
          </p:cNvPr>
          <p:cNvSpPr>
            <a:spLocks noGrp="1"/>
          </p:cNvSpPr>
          <p:nvPr/>
        </p:nvSpPr>
        <p:spPr>
          <a:xfrm>
            <a:off x="9544050" y="6057900"/>
            <a:ext cx="8020050" cy="228600"/>
          </a:xfrm>
          <a:prstGeom prst="rect">
            <a:avLst/>
          </a:prstGeom>
        </p:spPr>
        <p:txBody>
          <a:bodyPr lIns="0" tIns="0" rIns="0" bIns="0"/>
          <a:lstStyle/>
          <a:p>
            <a:pPr>
              <a:defRPr sz="1500" b="0" i="0">
                <a:solidFill>
                  <a:srgbClr val="5D6D76"/>
                </a:solidFill>
              </a:defRPr>
            </a:pPr>
            <a:r>
              <a:rPr sz="1500" b="0" i="0">
                <a:solidFill>
                  <a:srgbClr val="5D6D76"/>
                </a:solidFill>
              </a:rPr>
              <a:t>Schedule plan compared with live vehicle/trip-update observations</a:t>
            </a:r>
          </a:p>
        </p:txBody>
      </p:sp>
      <p:sp>
        <p:nvSpPr>
          <p:cNvPr id="19" name="Rectangle 18">
            <a:extLst>
              <a:ext uri="{FF2B5EF4-FFF2-40B4-BE49-F238E27FC236}">
                <a16:creationId xmlns:a16="http://schemas.microsoft.com/office/drawing/2014/main" id="{D2AA22E7-A98F-40D2-9DD3-4FCD9BA9B10F}"/>
              </a:ext>
            </a:extLst>
          </p:cNvPr>
          <p:cNvSpPr>
            <a:spLocks noGrp="1"/>
          </p:cNvSpPr>
          <p:nvPr/>
        </p:nvSpPr>
        <p:spPr>
          <a:xfrm>
            <a:off x="9544050" y="6553200"/>
            <a:ext cx="8020050" cy="628650"/>
          </a:xfrm>
          <a:prstGeom prst="rect">
            <a:avLst/>
          </a:prstGeom>
        </p:spPr>
        <p:txBody>
          <a:bodyPr lIns="0" tIns="0" rIns="0" bIns="0"/>
          <a:lstStyle/>
          <a:p>
            <a:pPr>
              <a:defRPr sz="4050" b="1" i="0">
                <a:solidFill>
                  <a:srgbClr val="1E5A64"/>
                </a:solidFill>
              </a:defRPr>
            </a:pPr>
            <a:r>
              <a:rPr sz="4050" b="1" i="0">
                <a:solidFill>
                  <a:srgbClr val="1E5A64"/>
                </a:solidFill>
              </a:rPr>
              <a:t>Bus-only</a:t>
            </a:r>
          </a:p>
        </p:txBody>
      </p:sp>
      <p:sp>
        <p:nvSpPr>
          <p:cNvPr id="20" name="Rectangle 19">
            <a:extLst>
              <a:ext uri="{FF2B5EF4-FFF2-40B4-BE49-F238E27FC236}">
                <a16:creationId xmlns:a16="http://schemas.microsoft.com/office/drawing/2014/main" id="{F4496BBF-3D21-4933-BA17-DCEC20BD7671}"/>
              </a:ext>
            </a:extLst>
          </p:cNvPr>
          <p:cNvSpPr>
            <a:spLocks noGrp="1"/>
          </p:cNvSpPr>
          <p:nvPr/>
        </p:nvSpPr>
        <p:spPr>
          <a:xfrm>
            <a:off x="9544050" y="7219950"/>
            <a:ext cx="8020050" cy="228600"/>
          </a:xfrm>
          <a:prstGeom prst="rect">
            <a:avLst/>
          </a:prstGeom>
        </p:spPr>
        <p:txBody>
          <a:bodyPr lIns="0" tIns="0" rIns="0" bIns="0"/>
          <a:lstStyle/>
          <a:p>
            <a:pPr>
              <a:defRPr sz="1500" b="0" i="0">
                <a:solidFill>
                  <a:srgbClr val="5D6D76"/>
                </a:solidFill>
              </a:defRPr>
            </a:pPr>
            <a:r>
              <a:rPr sz="1500" b="0" i="0">
                <a:solidFill>
                  <a:srgbClr val="5D6D76"/>
                </a:solidFill>
              </a:rPr>
              <a:t>Focused scope for consistent modelling and explanation</a:t>
            </a:r>
          </a:p>
        </p:txBody>
      </p:sp>
      <p:sp>
        <p:nvSpPr>
          <p:cNvPr id="21" name="source">
            <a:extLst>
              <a:ext uri="{FF2B5EF4-FFF2-40B4-BE49-F238E27FC236}">
                <a16:creationId xmlns:a16="http://schemas.microsoft.com/office/drawing/2014/main" id="{3D87ECA2-89C2-4FEE-A3C8-EF8A95F164C8}"/>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336633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45" name="bg">
            <a:extLst>
              <a:ext uri="{FF2B5EF4-FFF2-40B4-BE49-F238E27FC236}">
                <a16:creationId xmlns:a16="http://schemas.microsoft.com/office/drawing/2014/main" id="{C15BB2FB-DC05-4ED5-9BA6-85434C6BBD35}"/>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C6A350CC-8049-4A22-B1F9-BB16CC187942}"/>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DB838CE1-ABB9-42AA-B3D1-2902C5F7BCD1}"/>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82AC27C0-A0FF-4D5F-8E3C-F52013473419}"/>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Data understanding: what the feeds contain</a:t>
            </a:r>
          </a:p>
        </p:txBody>
      </p:sp>
      <p:sp>
        <p:nvSpPr>
          <p:cNvPr id="5" name="slide-subtitle">
            <a:extLst>
              <a:ext uri="{FF2B5EF4-FFF2-40B4-BE49-F238E27FC236}">
                <a16:creationId xmlns:a16="http://schemas.microsoft.com/office/drawing/2014/main" id="{2F6E7B97-16AF-4C40-B28F-124986A80F09}"/>
              </a:ext>
            </a:extLst>
          </p:cNvPr>
          <p:cNvSpPr>
            <a:spLocks noGrp="1"/>
          </p:cNvSpPr>
          <p:nvPr/>
        </p:nvSpPr>
        <p:spPr>
          <a:xfrm>
            <a:off x="1123950" y="1657350"/>
            <a:ext cx="9620250" cy="285750"/>
          </a:xfrm>
          <a:prstGeom prst="rect">
            <a:avLst/>
          </a:prstGeom>
        </p:spPr>
        <p:txBody>
          <a:bodyPr lIns="0" tIns="0" rIns="0" bIns="0"/>
          <a:lstStyle/>
          <a:p>
            <a:pPr>
              <a:defRPr sz="1875" b="0" i="0">
                <a:solidFill>
                  <a:srgbClr val="5D6D76"/>
                </a:solidFill>
              </a:defRPr>
            </a:pPr>
            <a:r>
              <a:rPr sz="1875" b="0" i="0">
                <a:solidFill>
                  <a:srgbClr val="5D6D76"/>
                </a:solidFill>
              </a:rPr>
              <a:t>The project uses HSL Static GTFS for planned service and GTFS-RT for realtime operational evidence.</a:t>
            </a:r>
          </a:p>
        </p:txBody>
      </p:sp>
      <p:sp>
        <p:nvSpPr>
          <p:cNvPr id="6" name="Rectangle 5">
            <a:extLst>
              <a:ext uri="{FF2B5EF4-FFF2-40B4-BE49-F238E27FC236}">
                <a16:creationId xmlns:a16="http://schemas.microsoft.com/office/drawing/2014/main" id="{93E1AAFD-75CB-4B48-A52C-A86F71196D7E}"/>
              </a:ext>
            </a:extLst>
          </p:cNvPr>
          <p:cNvSpPr>
            <a:spLocks noGrp="1"/>
          </p:cNvSpPr>
          <p:nvPr/>
        </p:nvSpPr>
        <p:spPr>
          <a:xfrm>
            <a:off x="1123950" y="2202180"/>
            <a:ext cx="1897230" cy="434340"/>
          </a:xfrm>
          <a:prstGeom prst="rect">
            <a:avLst/>
          </a:prstGeom>
          <a:solidFill>
            <a:srgbClr val="1E5A64"/>
          </a:solidFill>
        </p:spPr>
        <p:txBody>
          <a:bodyPr/>
          <a:lstStyle/>
          <a:p>
            <a:endParaRPr lang="en-US"/>
          </a:p>
        </p:txBody>
      </p:sp>
      <p:sp>
        <p:nvSpPr>
          <p:cNvPr id="7" name="Rectangle 6">
            <a:extLst>
              <a:ext uri="{FF2B5EF4-FFF2-40B4-BE49-F238E27FC236}">
                <a16:creationId xmlns:a16="http://schemas.microsoft.com/office/drawing/2014/main" id="{95EFBA37-B803-4110-9D72-9D4418796DAB}"/>
              </a:ext>
            </a:extLst>
          </p:cNvPr>
          <p:cNvSpPr>
            <a:spLocks noGrp="1"/>
          </p:cNvSpPr>
          <p:nvPr/>
        </p:nvSpPr>
        <p:spPr>
          <a:xfrm>
            <a:off x="1276350" y="2324100"/>
            <a:ext cx="1600200" cy="209550"/>
          </a:xfrm>
          <a:prstGeom prst="rect">
            <a:avLst/>
          </a:prstGeom>
        </p:spPr>
        <p:txBody>
          <a:bodyPr lIns="0" tIns="0" rIns="0" bIns="0"/>
          <a:lstStyle/>
          <a:p>
            <a:pPr>
              <a:defRPr sz="1350" b="1" i="0">
                <a:solidFill>
                  <a:srgbClr val="FFFFFF"/>
                </a:solidFill>
              </a:defRPr>
            </a:pPr>
            <a:r>
              <a:rPr sz="1350" b="1" i="0">
                <a:solidFill>
                  <a:srgbClr val="FFFFFF"/>
                </a:solidFill>
              </a:rPr>
              <a:t>Feed</a:t>
            </a:r>
          </a:p>
        </p:txBody>
      </p:sp>
      <p:sp>
        <p:nvSpPr>
          <p:cNvPr id="8" name="Rectangle 7">
            <a:extLst>
              <a:ext uri="{FF2B5EF4-FFF2-40B4-BE49-F238E27FC236}">
                <a16:creationId xmlns:a16="http://schemas.microsoft.com/office/drawing/2014/main" id="{A9BDB062-A073-400C-ACE5-EB2D787CE490}"/>
              </a:ext>
            </a:extLst>
          </p:cNvPr>
          <p:cNvSpPr>
            <a:spLocks noGrp="1"/>
          </p:cNvSpPr>
          <p:nvPr/>
        </p:nvSpPr>
        <p:spPr>
          <a:xfrm>
            <a:off x="3021180" y="2202180"/>
            <a:ext cx="2951246" cy="434340"/>
          </a:xfrm>
          <a:prstGeom prst="rect">
            <a:avLst/>
          </a:prstGeom>
          <a:solidFill>
            <a:srgbClr val="1E5A64"/>
          </a:solidFill>
        </p:spPr>
        <p:txBody>
          <a:bodyPr/>
          <a:lstStyle/>
          <a:p>
            <a:endParaRPr lang="en-US"/>
          </a:p>
        </p:txBody>
      </p:sp>
      <p:sp>
        <p:nvSpPr>
          <p:cNvPr id="9" name="Rectangle 8">
            <a:extLst>
              <a:ext uri="{FF2B5EF4-FFF2-40B4-BE49-F238E27FC236}">
                <a16:creationId xmlns:a16="http://schemas.microsoft.com/office/drawing/2014/main" id="{0EEBA62D-8CB3-4FD0-89ED-C092B26315DE}"/>
              </a:ext>
            </a:extLst>
          </p:cNvPr>
          <p:cNvSpPr>
            <a:spLocks noGrp="1"/>
          </p:cNvSpPr>
          <p:nvPr/>
        </p:nvSpPr>
        <p:spPr>
          <a:xfrm>
            <a:off x="3181350" y="2324100"/>
            <a:ext cx="2647950" cy="209550"/>
          </a:xfrm>
          <a:prstGeom prst="rect">
            <a:avLst/>
          </a:prstGeom>
        </p:spPr>
        <p:txBody>
          <a:bodyPr lIns="0" tIns="0" rIns="0" bIns="0"/>
          <a:lstStyle/>
          <a:p>
            <a:pPr>
              <a:defRPr sz="1350" b="1" i="0">
                <a:solidFill>
                  <a:srgbClr val="FFFFFF"/>
                </a:solidFill>
              </a:defRPr>
            </a:pPr>
            <a:r>
              <a:rPr sz="1350" b="1" i="0">
                <a:solidFill>
                  <a:srgbClr val="FFFFFF"/>
                </a:solidFill>
              </a:rPr>
              <a:t>Main contents</a:t>
            </a:r>
          </a:p>
        </p:txBody>
      </p:sp>
      <p:sp>
        <p:nvSpPr>
          <p:cNvPr id="10" name="Rectangle 9">
            <a:extLst>
              <a:ext uri="{FF2B5EF4-FFF2-40B4-BE49-F238E27FC236}">
                <a16:creationId xmlns:a16="http://schemas.microsoft.com/office/drawing/2014/main" id="{FF1CA2E5-C8F9-49F1-AEC0-A0A405D259E2}"/>
              </a:ext>
            </a:extLst>
          </p:cNvPr>
          <p:cNvSpPr>
            <a:spLocks noGrp="1"/>
          </p:cNvSpPr>
          <p:nvPr/>
        </p:nvSpPr>
        <p:spPr>
          <a:xfrm>
            <a:off x="5972426" y="2202180"/>
            <a:ext cx="3162049" cy="434340"/>
          </a:xfrm>
          <a:prstGeom prst="rect">
            <a:avLst/>
          </a:prstGeom>
          <a:solidFill>
            <a:srgbClr val="1E5A64"/>
          </a:solidFill>
        </p:spPr>
        <p:txBody>
          <a:bodyPr/>
          <a:lstStyle/>
          <a:p>
            <a:endParaRPr lang="en-US"/>
          </a:p>
        </p:txBody>
      </p:sp>
      <p:sp>
        <p:nvSpPr>
          <p:cNvPr id="11" name="Rectangle 10">
            <a:extLst>
              <a:ext uri="{FF2B5EF4-FFF2-40B4-BE49-F238E27FC236}">
                <a16:creationId xmlns:a16="http://schemas.microsoft.com/office/drawing/2014/main" id="{E444168A-D5BA-45ED-9FE2-9F632E441C71}"/>
              </a:ext>
            </a:extLst>
          </p:cNvPr>
          <p:cNvSpPr>
            <a:spLocks noGrp="1"/>
          </p:cNvSpPr>
          <p:nvPr/>
        </p:nvSpPr>
        <p:spPr>
          <a:xfrm>
            <a:off x="6134100" y="2324100"/>
            <a:ext cx="2857500" cy="209550"/>
          </a:xfrm>
          <a:prstGeom prst="rect">
            <a:avLst/>
          </a:prstGeom>
        </p:spPr>
        <p:txBody>
          <a:bodyPr lIns="0" tIns="0" rIns="0" bIns="0"/>
          <a:lstStyle/>
          <a:p>
            <a:pPr>
              <a:defRPr sz="1350" b="1" i="0">
                <a:solidFill>
                  <a:srgbClr val="FFFFFF"/>
                </a:solidFill>
              </a:defRPr>
            </a:pPr>
            <a:r>
              <a:rPr sz="1350" b="1" i="0">
                <a:solidFill>
                  <a:srgbClr val="FFFFFF"/>
                </a:solidFill>
              </a:rPr>
              <a:t>Used for</a:t>
            </a:r>
          </a:p>
        </p:txBody>
      </p:sp>
      <p:sp>
        <p:nvSpPr>
          <p:cNvPr id="12" name="Rectangle 11">
            <a:extLst>
              <a:ext uri="{FF2B5EF4-FFF2-40B4-BE49-F238E27FC236}">
                <a16:creationId xmlns:a16="http://schemas.microsoft.com/office/drawing/2014/main" id="{318C3009-1F1D-48C8-9551-F29F2849CAEC}"/>
              </a:ext>
            </a:extLst>
          </p:cNvPr>
          <p:cNvSpPr>
            <a:spLocks noGrp="1"/>
          </p:cNvSpPr>
          <p:nvPr/>
        </p:nvSpPr>
        <p:spPr>
          <a:xfrm>
            <a:off x="1123950" y="2636520"/>
            <a:ext cx="1897230" cy="617220"/>
          </a:xfrm>
          <a:prstGeom prst="rect">
            <a:avLst/>
          </a:prstGeom>
          <a:solidFill>
            <a:srgbClr val="FFFFFF"/>
          </a:solidFill>
          <a:ln w="9525">
            <a:solidFill>
              <a:srgbClr val="E0E7E4"/>
            </a:solidFill>
            <a:prstDash val="solid"/>
          </a:ln>
        </p:spPr>
        <p:txBody>
          <a:bodyPr/>
          <a:lstStyle/>
          <a:p>
            <a:endParaRPr lang="en-US"/>
          </a:p>
        </p:txBody>
      </p:sp>
      <p:sp>
        <p:nvSpPr>
          <p:cNvPr id="13" name="Rectangle 12">
            <a:extLst>
              <a:ext uri="{FF2B5EF4-FFF2-40B4-BE49-F238E27FC236}">
                <a16:creationId xmlns:a16="http://schemas.microsoft.com/office/drawing/2014/main" id="{9BD8B1A3-F7F5-4288-B21A-D8DB75AE9982}"/>
              </a:ext>
            </a:extLst>
          </p:cNvPr>
          <p:cNvSpPr>
            <a:spLocks noGrp="1"/>
          </p:cNvSpPr>
          <p:nvPr/>
        </p:nvSpPr>
        <p:spPr>
          <a:xfrm>
            <a:off x="1276350" y="2743200"/>
            <a:ext cx="1600200" cy="209550"/>
          </a:xfrm>
          <a:prstGeom prst="rect">
            <a:avLst/>
          </a:prstGeom>
        </p:spPr>
        <p:txBody>
          <a:bodyPr lIns="0" tIns="0" rIns="0" bIns="0"/>
          <a:lstStyle/>
          <a:p>
            <a:pPr>
              <a:defRPr sz="1275" b="0" i="0">
                <a:solidFill>
                  <a:srgbClr val="10242E"/>
                </a:solidFill>
              </a:defRPr>
            </a:pPr>
            <a:r>
              <a:rPr sz="1275" b="0" i="0">
                <a:solidFill>
                  <a:srgbClr val="10242E"/>
                </a:solidFill>
              </a:rPr>
              <a:t>Static GTFS</a:t>
            </a:r>
          </a:p>
        </p:txBody>
      </p:sp>
      <p:sp>
        <p:nvSpPr>
          <p:cNvPr id="14" name="Rectangle 13">
            <a:extLst>
              <a:ext uri="{FF2B5EF4-FFF2-40B4-BE49-F238E27FC236}">
                <a16:creationId xmlns:a16="http://schemas.microsoft.com/office/drawing/2014/main" id="{5489F07C-B1CF-43B0-B1CB-F441764A1733}"/>
              </a:ext>
            </a:extLst>
          </p:cNvPr>
          <p:cNvSpPr>
            <a:spLocks noGrp="1"/>
          </p:cNvSpPr>
          <p:nvPr/>
        </p:nvSpPr>
        <p:spPr>
          <a:xfrm>
            <a:off x="3021180" y="2636520"/>
            <a:ext cx="2951246" cy="617220"/>
          </a:xfrm>
          <a:prstGeom prst="rect">
            <a:avLst/>
          </a:prstGeom>
          <a:solidFill>
            <a:srgbClr val="FFFFFF"/>
          </a:solidFill>
          <a:ln w="9525">
            <a:solidFill>
              <a:srgbClr val="E0E7E4"/>
            </a:solidFill>
            <a:prstDash val="solid"/>
          </a:ln>
        </p:spPr>
        <p:txBody>
          <a:bodyPr/>
          <a:lstStyle/>
          <a:p>
            <a:endParaRPr lang="en-US"/>
          </a:p>
        </p:txBody>
      </p:sp>
      <p:sp>
        <p:nvSpPr>
          <p:cNvPr id="15" name="Rectangle 14">
            <a:extLst>
              <a:ext uri="{FF2B5EF4-FFF2-40B4-BE49-F238E27FC236}">
                <a16:creationId xmlns:a16="http://schemas.microsoft.com/office/drawing/2014/main" id="{8D82CC47-B3EB-45F6-9435-1CC86A971D41}"/>
              </a:ext>
            </a:extLst>
          </p:cNvPr>
          <p:cNvSpPr>
            <a:spLocks noGrp="1"/>
          </p:cNvSpPr>
          <p:nvPr/>
        </p:nvSpPr>
        <p:spPr>
          <a:xfrm>
            <a:off x="3181350" y="2743200"/>
            <a:ext cx="2647950" cy="209550"/>
          </a:xfrm>
          <a:prstGeom prst="rect">
            <a:avLst/>
          </a:prstGeom>
        </p:spPr>
        <p:txBody>
          <a:bodyPr lIns="0" tIns="0" rIns="0" bIns="0"/>
          <a:lstStyle/>
          <a:p>
            <a:pPr>
              <a:defRPr sz="1275" b="0" i="0">
                <a:solidFill>
                  <a:srgbClr val="10242E"/>
                </a:solidFill>
              </a:defRPr>
            </a:pPr>
            <a:r>
              <a:rPr sz="1275" b="0" i="0">
                <a:solidFill>
                  <a:srgbClr val="10242E"/>
                </a:solidFill>
              </a:rPr>
              <a:t>routes, stops, trips, stop_times, shapes</a:t>
            </a:r>
          </a:p>
        </p:txBody>
      </p:sp>
      <p:sp>
        <p:nvSpPr>
          <p:cNvPr id="16" name="Rectangle 15">
            <a:extLst>
              <a:ext uri="{FF2B5EF4-FFF2-40B4-BE49-F238E27FC236}">
                <a16:creationId xmlns:a16="http://schemas.microsoft.com/office/drawing/2014/main" id="{BB38A21D-D36E-4DF0-A6EA-1410927DF169}"/>
              </a:ext>
            </a:extLst>
          </p:cNvPr>
          <p:cNvSpPr>
            <a:spLocks noGrp="1"/>
          </p:cNvSpPr>
          <p:nvPr/>
        </p:nvSpPr>
        <p:spPr>
          <a:xfrm>
            <a:off x="5972426" y="2636520"/>
            <a:ext cx="3162049" cy="617220"/>
          </a:xfrm>
          <a:prstGeom prst="rect">
            <a:avLst/>
          </a:prstGeom>
          <a:solidFill>
            <a:srgbClr val="FFFFFF"/>
          </a:solidFill>
          <a:ln w="9525">
            <a:solidFill>
              <a:srgbClr val="E0E7E4"/>
            </a:solidFill>
            <a:prstDash val="solid"/>
          </a:ln>
        </p:spPr>
        <p:txBody>
          <a:bodyPr/>
          <a:lstStyle/>
          <a:p>
            <a:endParaRPr lang="en-US"/>
          </a:p>
        </p:txBody>
      </p:sp>
      <p:sp>
        <p:nvSpPr>
          <p:cNvPr id="17" name="Rectangle 16">
            <a:extLst>
              <a:ext uri="{FF2B5EF4-FFF2-40B4-BE49-F238E27FC236}">
                <a16:creationId xmlns:a16="http://schemas.microsoft.com/office/drawing/2014/main" id="{7D3623DB-2A08-405F-92DD-3EDDF3E6F1AC}"/>
              </a:ext>
            </a:extLst>
          </p:cNvPr>
          <p:cNvSpPr>
            <a:spLocks noGrp="1"/>
          </p:cNvSpPr>
          <p:nvPr/>
        </p:nvSpPr>
        <p:spPr>
          <a:xfrm>
            <a:off x="6134100" y="2743200"/>
            <a:ext cx="2857500" cy="400050"/>
          </a:xfrm>
          <a:prstGeom prst="rect">
            <a:avLst/>
          </a:prstGeom>
        </p:spPr>
        <p:txBody>
          <a:bodyPr lIns="0" tIns="0" rIns="0" bIns="0"/>
          <a:lstStyle/>
          <a:p>
            <a:pPr>
              <a:defRPr sz="1275" b="0" i="0">
                <a:solidFill>
                  <a:srgbClr val="10242E"/>
                </a:solidFill>
              </a:defRPr>
            </a:pPr>
            <a:r>
              <a:rPr sz="1275" b="0" i="0">
                <a:solidFill>
                  <a:srgbClr val="10242E"/>
                </a:solidFill>
              </a:rPr>
              <a:t>planned bus network and schedule baseline</a:t>
            </a:r>
          </a:p>
        </p:txBody>
      </p:sp>
      <p:sp>
        <p:nvSpPr>
          <p:cNvPr id="18" name="Rectangle 17">
            <a:extLst>
              <a:ext uri="{FF2B5EF4-FFF2-40B4-BE49-F238E27FC236}">
                <a16:creationId xmlns:a16="http://schemas.microsoft.com/office/drawing/2014/main" id="{45F14F1B-921D-4BEF-B320-9EDA7268CC9F}"/>
              </a:ext>
            </a:extLst>
          </p:cNvPr>
          <p:cNvSpPr>
            <a:spLocks noGrp="1"/>
          </p:cNvSpPr>
          <p:nvPr/>
        </p:nvSpPr>
        <p:spPr>
          <a:xfrm>
            <a:off x="1123950" y="3253740"/>
            <a:ext cx="1897230" cy="617220"/>
          </a:xfrm>
          <a:prstGeom prst="rect">
            <a:avLst/>
          </a:prstGeom>
          <a:solidFill>
            <a:srgbClr val="F0F4F2"/>
          </a:solidFill>
          <a:ln w="9525">
            <a:solidFill>
              <a:srgbClr val="E0E7E4"/>
            </a:solidFill>
            <a:prstDash val="solid"/>
          </a:ln>
        </p:spPr>
        <p:txBody>
          <a:bodyPr/>
          <a:lstStyle/>
          <a:p>
            <a:endParaRPr lang="en-US"/>
          </a:p>
        </p:txBody>
      </p:sp>
      <p:sp>
        <p:nvSpPr>
          <p:cNvPr id="19" name="Rectangle 18">
            <a:extLst>
              <a:ext uri="{FF2B5EF4-FFF2-40B4-BE49-F238E27FC236}">
                <a16:creationId xmlns:a16="http://schemas.microsoft.com/office/drawing/2014/main" id="{08205CFB-0555-4CB2-A7DF-2982963E98A2}"/>
              </a:ext>
            </a:extLst>
          </p:cNvPr>
          <p:cNvSpPr>
            <a:spLocks noGrp="1"/>
          </p:cNvSpPr>
          <p:nvPr/>
        </p:nvSpPr>
        <p:spPr>
          <a:xfrm>
            <a:off x="1276350" y="3371850"/>
            <a:ext cx="1600200" cy="209550"/>
          </a:xfrm>
          <a:prstGeom prst="rect">
            <a:avLst/>
          </a:prstGeom>
        </p:spPr>
        <p:txBody>
          <a:bodyPr lIns="0" tIns="0" rIns="0" bIns="0"/>
          <a:lstStyle/>
          <a:p>
            <a:pPr>
              <a:defRPr sz="1275" b="0" i="0">
                <a:solidFill>
                  <a:srgbClr val="10242E"/>
                </a:solidFill>
              </a:defRPr>
            </a:pPr>
            <a:r>
              <a:rPr sz="1275" b="0" i="0">
                <a:solidFill>
                  <a:srgbClr val="10242E"/>
                </a:solidFill>
              </a:rPr>
              <a:t>VehiclePositions</a:t>
            </a:r>
          </a:p>
        </p:txBody>
      </p:sp>
      <p:sp>
        <p:nvSpPr>
          <p:cNvPr id="20" name="Rectangle 19">
            <a:extLst>
              <a:ext uri="{FF2B5EF4-FFF2-40B4-BE49-F238E27FC236}">
                <a16:creationId xmlns:a16="http://schemas.microsoft.com/office/drawing/2014/main" id="{8A28715E-FDB1-4444-AFA9-41B8EA045ACF}"/>
              </a:ext>
            </a:extLst>
          </p:cNvPr>
          <p:cNvSpPr>
            <a:spLocks noGrp="1"/>
          </p:cNvSpPr>
          <p:nvPr/>
        </p:nvSpPr>
        <p:spPr>
          <a:xfrm>
            <a:off x="3021180" y="3253740"/>
            <a:ext cx="2951246" cy="617220"/>
          </a:xfrm>
          <a:prstGeom prst="rect">
            <a:avLst/>
          </a:prstGeom>
          <a:solidFill>
            <a:srgbClr val="F0F4F2"/>
          </a:solidFill>
          <a:ln w="9525">
            <a:solidFill>
              <a:srgbClr val="E0E7E4"/>
            </a:solidFill>
            <a:prstDash val="solid"/>
          </a:ln>
        </p:spPr>
        <p:txBody>
          <a:bodyPr/>
          <a:lstStyle/>
          <a:p>
            <a:endParaRPr lang="en-US"/>
          </a:p>
        </p:txBody>
      </p:sp>
      <p:sp>
        <p:nvSpPr>
          <p:cNvPr id="21" name="Rectangle 20">
            <a:extLst>
              <a:ext uri="{FF2B5EF4-FFF2-40B4-BE49-F238E27FC236}">
                <a16:creationId xmlns:a16="http://schemas.microsoft.com/office/drawing/2014/main" id="{DA46A103-D7FA-42D7-98A2-F0378BA4D570}"/>
              </a:ext>
            </a:extLst>
          </p:cNvPr>
          <p:cNvSpPr>
            <a:spLocks noGrp="1"/>
          </p:cNvSpPr>
          <p:nvPr/>
        </p:nvSpPr>
        <p:spPr>
          <a:xfrm>
            <a:off x="3181350" y="3371850"/>
            <a:ext cx="2647950" cy="400050"/>
          </a:xfrm>
          <a:prstGeom prst="rect">
            <a:avLst/>
          </a:prstGeom>
        </p:spPr>
        <p:txBody>
          <a:bodyPr lIns="0" tIns="0" rIns="0" bIns="0"/>
          <a:lstStyle/>
          <a:p>
            <a:pPr>
              <a:defRPr sz="1275" b="0" i="0">
                <a:solidFill>
                  <a:srgbClr val="10242E"/>
                </a:solidFill>
              </a:defRPr>
            </a:pPr>
            <a:r>
              <a:rPr sz="1275" b="0" i="0">
                <a:solidFill>
                  <a:srgbClr val="10242E"/>
                </a:solidFill>
              </a:rPr>
              <a:t>vehicle id, location, timestamp, trip reference</a:t>
            </a:r>
          </a:p>
        </p:txBody>
      </p:sp>
      <p:sp>
        <p:nvSpPr>
          <p:cNvPr id="22" name="Rectangle 21">
            <a:extLst>
              <a:ext uri="{FF2B5EF4-FFF2-40B4-BE49-F238E27FC236}">
                <a16:creationId xmlns:a16="http://schemas.microsoft.com/office/drawing/2014/main" id="{1E686490-88F3-4FBD-8859-37017E65ABA4}"/>
              </a:ext>
            </a:extLst>
          </p:cNvPr>
          <p:cNvSpPr>
            <a:spLocks noGrp="1"/>
          </p:cNvSpPr>
          <p:nvPr/>
        </p:nvSpPr>
        <p:spPr>
          <a:xfrm>
            <a:off x="5972426" y="3253740"/>
            <a:ext cx="3162049" cy="617220"/>
          </a:xfrm>
          <a:prstGeom prst="rect">
            <a:avLst/>
          </a:prstGeom>
          <a:solidFill>
            <a:srgbClr val="F0F4F2"/>
          </a:solidFill>
          <a:ln w="9525">
            <a:solidFill>
              <a:srgbClr val="E0E7E4"/>
            </a:solidFill>
            <a:prstDash val="solid"/>
          </a:ln>
        </p:spPr>
        <p:txBody>
          <a:bodyPr/>
          <a:lstStyle/>
          <a:p>
            <a:endParaRPr lang="en-US"/>
          </a:p>
        </p:txBody>
      </p:sp>
      <p:sp>
        <p:nvSpPr>
          <p:cNvPr id="23" name="Rectangle 22">
            <a:extLst>
              <a:ext uri="{FF2B5EF4-FFF2-40B4-BE49-F238E27FC236}">
                <a16:creationId xmlns:a16="http://schemas.microsoft.com/office/drawing/2014/main" id="{FCBA81FB-7468-4A27-ABA2-663C5106C282}"/>
              </a:ext>
            </a:extLst>
          </p:cNvPr>
          <p:cNvSpPr>
            <a:spLocks noGrp="1"/>
          </p:cNvSpPr>
          <p:nvPr/>
        </p:nvSpPr>
        <p:spPr>
          <a:xfrm>
            <a:off x="6134100" y="3371850"/>
            <a:ext cx="2857500" cy="209550"/>
          </a:xfrm>
          <a:prstGeom prst="rect">
            <a:avLst/>
          </a:prstGeom>
        </p:spPr>
        <p:txBody>
          <a:bodyPr lIns="0" tIns="0" rIns="0" bIns="0"/>
          <a:lstStyle/>
          <a:p>
            <a:pPr>
              <a:defRPr sz="1275" b="0" i="0">
                <a:solidFill>
                  <a:srgbClr val="10242E"/>
                </a:solidFill>
              </a:defRPr>
            </a:pPr>
            <a:r>
              <a:rPr sz="1275" b="0" i="0">
                <a:solidFill>
                  <a:srgbClr val="10242E"/>
                </a:solidFill>
              </a:rPr>
              <a:t>live bus dots and movement history</a:t>
            </a:r>
          </a:p>
        </p:txBody>
      </p:sp>
      <p:sp>
        <p:nvSpPr>
          <p:cNvPr id="24" name="Rectangle 23">
            <a:extLst>
              <a:ext uri="{FF2B5EF4-FFF2-40B4-BE49-F238E27FC236}">
                <a16:creationId xmlns:a16="http://schemas.microsoft.com/office/drawing/2014/main" id="{7EE07570-2D19-4128-9444-8CD004214E0A}"/>
              </a:ext>
            </a:extLst>
          </p:cNvPr>
          <p:cNvSpPr>
            <a:spLocks noGrp="1"/>
          </p:cNvSpPr>
          <p:nvPr/>
        </p:nvSpPr>
        <p:spPr>
          <a:xfrm>
            <a:off x="1123950" y="3870960"/>
            <a:ext cx="1897230" cy="422910"/>
          </a:xfrm>
          <a:prstGeom prst="rect">
            <a:avLst/>
          </a:prstGeom>
          <a:solidFill>
            <a:srgbClr val="FFFFFF"/>
          </a:solidFill>
          <a:ln w="9525">
            <a:solidFill>
              <a:srgbClr val="E0E7E4"/>
            </a:solidFill>
            <a:prstDash val="solid"/>
          </a:ln>
        </p:spPr>
        <p:txBody>
          <a:bodyPr/>
          <a:lstStyle/>
          <a:p>
            <a:endParaRPr lang="en-US"/>
          </a:p>
        </p:txBody>
      </p:sp>
      <p:sp>
        <p:nvSpPr>
          <p:cNvPr id="25" name="Rectangle 24">
            <a:extLst>
              <a:ext uri="{FF2B5EF4-FFF2-40B4-BE49-F238E27FC236}">
                <a16:creationId xmlns:a16="http://schemas.microsoft.com/office/drawing/2014/main" id="{C65B2AA8-17C8-44F4-87DB-2411124CED8D}"/>
              </a:ext>
            </a:extLst>
          </p:cNvPr>
          <p:cNvSpPr>
            <a:spLocks noGrp="1"/>
          </p:cNvSpPr>
          <p:nvPr/>
        </p:nvSpPr>
        <p:spPr>
          <a:xfrm>
            <a:off x="1276350" y="3981450"/>
            <a:ext cx="1600200" cy="209550"/>
          </a:xfrm>
          <a:prstGeom prst="rect">
            <a:avLst/>
          </a:prstGeom>
        </p:spPr>
        <p:txBody>
          <a:bodyPr lIns="0" tIns="0" rIns="0" bIns="0"/>
          <a:lstStyle/>
          <a:p>
            <a:pPr>
              <a:defRPr sz="1275" b="0" i="0">
                <a:solidFill>
                  <a:srgbClr val="10242E"/>
                </a:solidFill>
              </a:defRPr>
            </a:pPr>
            <a:r>
              <a:rPr sz="1275" b="0" i="0">
                <a:solidFill>
                  <a:srgbClr val="10242E"/>
                </a:solidFill>
              </a:rPr>
              <a:t>TripUpdates</a:t>
            </a:r>
          </a:p>
        </p:txBody>
      </p:sp>
      <p:sp>
        <p:nvSpPr>
          <p:cNvPr id="26" name="Rectangle 25">
            <a:extLst>
              <a:ext uri="{FF2B5EF4-FFF2-40B4-BE49-F238E27FC236}">
                <a16:creationId xmlns:a16="http://schemas.microsoft.com/office/drawing/2014/main" id="{6F578399-5534-4848-970F-65528FABFDD6}"/>
              </a:ext>
            </a:extLst>
          </p:cNvPr>
          <p:cNvSpPr>
            <a:spLocks noGrp="1"/>
          </p:cNvSpPr>
          <p:nvPr/>
        </p:nvSpPr>
        <p:spPr>
          <a:xfrm>
            <a:off x="3021180" y="3870960"/>
            <a:ext cx="2951246" cy="422910"/>
          </a:xfrm>
          <a:prstGeom prst="rect">
            <a:avLst/>
          </a:prstGeom>
          <a:solidFill>
            <a:srgbClr val="FFFFFF"/>
          </a:solidFill>
          <a:ln w="9525">
            <a:solidFill>
              <a:srgbClr val="E0E7E4"/>
            </a:solidFill>
            <a:prstDash val="solid"/>
          </a:ln>
        </p:spPr>
        <p:txBody>
          <a:bodyPr/>
          <a:lstStyle/>
          <a:p>
            <a:endParaRPr lang="en-US"/>
          </a:p>
        </p:txBody>
      </p:sp>
      <p:sp>
        <p:nvSpPr>
          <p:cNvPr id="27" name="Rectangle 26">
            <a:extLst>
              <a:ext uri="{FF2B5EF4-FFF2-40B4-BE49-F238E27FC236}">
                <a16:creationId xmlns:a16="http://schemas.microsoft.com/office/drawing/2014/main" id="{9431DDBF-21EF-46C5-BCDD-59224453F424}"/>
              </a:ext>
            </a:extLst>
          </p:cNvPr>
          <p:cNvSpPr>
            <a:spLocks noGrp="1"/>
          </p:cNvSpPr>
          <p:nvPr/>
        </p:nvSpPr>
        <p:spPr>
          <a:xfrm>
            <a:off x="3181350" y="3981450"/>
            <a:ext cx="2647950" cy="209550"/>
          </a:xfrm>
          <a:prstGeom prst="rect">
            <a:avLst/>
          </a:prstGeom>
        </p:spPr>
        <p:txBody>
          <a:bodyPr lIns="0" tIns="0" rIns="0" bIns="0"/>
          <a:lstStyle/>
          <a:p>
            <a:pPr>
              <a:defRPr sz="1275" b="0" i="0">
                <a:solidFill>
                  <a:srgbClr val="10242E"/>
                </a:solidFill>
              </a:defRPr>
            </a:pPr>
            <a:r>
              <a:rPr sz="1275" b="0" i="0">
                <a:solidFill>
                  <a:srgbClr val="10242E"/>
                </a:solidFill>
              </a:rPr>
              <a:t>predicted stop arrivals/departures</a:t>
            </a:r>
          </a:p>
        </p:txBody>
      </p:sp>
      <p:sp>
        <p:nvSpPr>
          <p:cNvPr id="28" name="Rectangle 27">
            <a:extLst>
              <a:ext uri="{FF2B5EF4-FFF2-40B4-BE49-F238E27FC236}">
                <a16:creationId xmlns:a16="http://schemas.microsoft.com/office/drawing/2014/main" id="{EC8524D7-1604-41EB-8BB2-D8D66CA17147}"/>
              </a:ext>
            </a:extLst>
          </p:cNvPr>
          <p:cNvSpPr>
            <a:spLocks noGrp="1"/>
          </p:cNvSpPr>
          <p:nvPr/>
        </p:nvSpPr>
        <p:spPr>
          <a:xfrm>
            <a:off x="5972426" y="3870960"/>
            <a:ext cx="3162049" cy="422910"/>
          </a:xfrm>
          <a:prstGeom prst="rect">
            <a:avLst/>
          </a:prstGeom>
          <a:solidFill>
            <a:srgbClr val="FFFFFF"/>
          </a:solidFill>
          <a:ln w="9525">
            <a:solidFill>
              <a:srgbClr val="E0E7E4"/>
            </a:solidFill>
            <a:prstDash val="solid"/>
          </a:ln>
        </p:spPr>
        <p:txBody>
          <a:bodyPr/>
          <a:lstStyle/>
          <a:p>
            <a:endParaRPr lang="en-US"/>
          </a:p>
        </p:txBody>
      </p:sp>
      <p:sp>
        <p:nvSpPr>
          <p:cNvPr id="29" name="Rectangle 28">
            <a:extLst>
              <a:ext uri="{FF2B5EF4-FFF2-40B4-BE49-F238E27FC236}">
                <a16:creationId xmlns:a16="http://schemas.microsoft.com/office/drawing/2014/main" id="{3198999D-13BD-4AA5-847B-0136440FFF80}"/>
              </a:ext>
            </a:extLst>
          </p:cNvPr>
          <p:cNvSpPr>
            <a:spLocks noGrp="1"/>
          </p:cNvSpPr>
          <p:nvPr/>
        </p:nvSpPr>
        <p:spPr>
          <a:xfrm>
            <a:off x="6134100" y="3981450"/>
            <a:ext cx="2857500" cy="209550"/>
          </a:xfrm>
          <a:prstGeom prst="rect">
            <a:avLst/>
          </a:prstGeom>
        </p:spPr>
        <p:txBody>
          <a:bodyPr lIns="0" tIns="0" rIns="0" bIns="0"/>
          <a:lstStyle/>
          <a:p>
            <a:pPr>
              <a:defRPr sz="1275" b="0" i="0">
                <a:solidFill>
                  <a:srgbClr val="10242E"/>
                </a:solidFill>
              </a:defRPr>
            </a:pPr>
            <a:r>
              <a:rPr sz="1275" b="0" i="0">
                <a:solidFill>
                  <a:srgbClr val="10242E"/>
                </a:solidFill>
              </a:rPr>
              <a:t>schedule comparison and coverage</a:t>
            </a:r>
          </a:p>
        </p:txBody>
      </p:sp>
      <p:sp>
        <p:nvSpPr>
          <p:cNvPr id="30" name="Rectangle 29">
            <a:extLst>
              <a:ext uri="{FF2B5EF4-FFF2-40B4-BE49-F238E27FC236}">
                <a16:creationId xmlns:a16="http://schemas.microsoft.com/office/drawing/2014/main" id="{A33E1859-C8E0-47C6-B3BA-5B167A3363EA}"/>
              </a:ext>
            </a:extLst>
          </p:cNvPr>
          <p:cNvSpPr>
            <a:spLocks noGrp="1"/>
          </p:cNvSpPr>
          <p:nvPr/>
        </p:nvSpPr>
        <p:spPr>
          <a:xfrm>
            <a:off x="1123950" y="4293870"/>
            <a:ext cx="1897230" cy="422910"/>
          </a:xfrm>
          <a:prstGeom prst="rect">
            <a:avLst/>
          </a:prstGeom>
          <a:solidFill>
            <a:srgbClr val="F0F4F2"/>
          </a:solidFill>
          <a:ln w="9525">
            <a:solidFill>
              <a:srgbClr val="E0E7E4"/>
            </a:solidFill>
            <a:prstDash val="solid"/>
          </a:ln>
        </p:spPr>
        <p:txBody>
          <a:bodyPr/>
          <a:lstStyle/>
          <a:p>
            <a:endParaRPr lang="en-US"/>
          </a:p>
        </p:txBody>
      </p:sp>
      <p:sp>
        <p:nvSpPr>
          <p:cNvPr id="31" name="Rectangle 30">
            <a:extLst>
              <a:ext uri="{FF2B5EF4-FFF2-40B4-BE49-F238E27FC236}">
                <a16:creationId xmlns:a16="http://schemas.microsoft.com/office/drawing/2014/main" id="{4B6AA675-33EF-4F1B-844D-C6693442BC20}"/>
              </a:ext>
            </a:extLst>
          </p:cNvPr>
          <p:cNvSpPr>
            <a:spLocks noGrp="1"/>
          </p:cNvSpPr>
          <p:nvPr/>
        </p:nvSpPr>
        <p:spPr>
          <a:xfrm>
            <a:off x="1276350" y="4400550"/>
            <a:ext cx="1600200" cy="209550"/>
          </a:xfrm>
          <a:prstGeom prst="rect">
            <a:avLst/>
          </a:prstGeom>
        </p:spPr>
        <p:txBody>
          <a:bodyPr lIns="0" tIns="0" rIns="0" bIns="0"/>
          <a:lstStyle/>
          <a:p>
            <a:pPr>
              <a:defRPr sz="1275" b="0" i="0">
                <a:solidFill>
                  <a:srgbClr val="10242E"/>
                </a:solidFill>
              </a:defRPr>
            </a:pPr>
            <a:r>
              <a:rPr sz="1275" b="0" i="0">
                <a:solidFill>
                  <a:srgbClr val="10242E"/>
                </a:solidFill>
              </a:rPr>
              <a:t>Model outputs</a:t>
            </a:r>
          </a:p>
        </p:txBody>
      </p:sp>
      <p:sp>
        <p:nvSpPr>
          <p:cNvPr id="32" name="Rectangle 31">
            <a:extLst>
              <a:ext uri="{FF2B5EF4-FFF2-40B4-BE49-F238E27FC236}">
                <a16:creationId xmlns:a16="http://schemas.microsoft.com/office/drawing/2014/main" id="{98FF6381-587E-4DC4-A1C5-E4924EE85A08}"/>
              </a:ext>
            </a:extLst>
          </p:cNvPr>
          <p:cNvSpPr>
            <a:spLocks noGrp="1"/>
          </p:cNvSpPr>
          <p:nvPr/>
        </p:nvSpPr>
        <p:spPr>
          <a:xfrm>
            <a:off x="3021180" y="4293870"/>
            <a:ext cx="2951246" cy="422910"/>
          </a:xfrm>
          <a:prstGeom prst="rect">
            <a:avLst/>
          </a:prstGeom>
          <a:solidFill>
            <a:srgbClr val="F0F4F2"/>
          </a:solidFill>
          <a:ln w="9525">
            <a:solidFill>
              <a:srgbClr val="E0E7E4"/>
            </a:solidFill>
            <a:prstDash val="solid"/>
          </a:ln>
        </p:spPr>
        <p:txBody>
          <a:bodyPr/>
          <a:lstStyle/>
          <a:p>
            <a:endParaRPr lang="en-US"/>
          </a:p>
        </p:txBody>
      </p:sp>
      <p:sp>
        <p:nvSpPr>
          <p:cNvPr id="33" name="Rectangle 32">
            <a:extLst>
              <a:ext uri="{FF2B5EF4-FFF2-40B4-BE49-F238E27FC236}">
                <a16:creationId xmlns:a16="http://schemas.microsoft.com/office/drawing/2014/main" id="{9A006969-95E6-4504-BEC3-C6A0E59ECA9E}"/>
              </a:ext>
            </a:extLst>
          </p:cNvPr>
          <p:cNvSpPr>
            <a:spLocks noGrp="1"/>
          </p:cNvSpPr>
          <p:nvPr/>
        </p:nvSpPr>
        <p:spPr>
          <a:xfrm>
            <a:off x="3181350" y="4400550"/>
            <a:ext cx="2647950" cy="209550"/>
          </a:xfrm>
          <a:prstGeom prst="rect">
            <a:avLst/>
          </a:prstGeom>
        </p:spPr>
        <p:txBody>
          <a:bodyPr lIns="0" tIns="0" rIns="0" bIns="0"/>
          <a:lstStyle/>
          <a:p>
            <a:pPr>
              <a:defRPr sz="1275" b="0" i="0">
                <a:solidFill>
                  <a:srgbClr val="10242E"/>
                </a:solidFill>
              </a:defRPr>
            </a:pPr>
            <a:r>
              <a:rPr sz="1275" b="0" i="0">
                <a:solidFill>
                  <a:srgbClr val="10242E"/>
                </a:solidFill>
              </a:rPr>
              <a:t>feature windows, clusters, anomalies</a:t>
            </a:r>
          </a:p>
        </p:txBody>
      </p:sp>
      <p:sp>
        <p:nvSpPr>
          <p:cNvPr id="34" name="Rectangle 33">
            <a:extLst>
              <a:ext uri="{FF2B5EF4-FFF2-40B4-BE49-F238E27FC236}">
                <a16:creationId xmlns:a16="http://schemas.microsoft.com/office/drawing/2014/main" id="{4C82B464-B57B-428E-8635-3C6E1798F451}"/>
              </a:ext>
            </a:extLst>
          </p:cNvPr>
          <p:cNvSpPr>
            <a:spLocks noGrp="1"/>
          </p:cNvSpPr>
          <p:nvPr/>
        </p:nvSpPr>
        <p:spPr>
          <a:xfrm>
            <a:off x="5972426" y="4293870"/>
            <a:ext cx="3162049" cy="422910"/>
          </a:xfrm>
          <a:prstGeom prst="rect">
            <a:avLst/>
          </a:prstGeom>
          <a:solidFill>
            <a:srgbClr val="F0F4F2"/>
          </a:solidFill>
          <a:ln w="9525">
            <a:solidFill>
              <a:srgbClr val="E0E7E4"/>
            </a:solidFill>
            <a:prstDash val="solid"/>
          </a:ln>
        </p:spPr>
        <p:txBody>
          <a:bodyPr/>
          <a:lstStyle/>
          <a:p>
            <a:endParaRPr lang="en-US"/>
          </a:p>
        </p:txBody>
      </p:sp>
      <p:sp>
        <p:nvSpPr>
          <p:cNvPr id="35" name="Rectangle 34">
            <a:extLst>
              <a:ext uri="{FF2B5EF4-FFF2-40B4-BE49-F238E27FC236}">
                <a16:creationId xmlns:a16="http://schemas.microsoft.com/office/drawing/2014/main" id="{E4A72AFB-2282-4CF0-95E5-6BC92997F542}"/>
              </a:ext>
            </a:extLst>
          </p:cNvPr>
          <p:cNvSpPr>
            <a:spLocks noGrp="1"/>
          </p:cNvSpPr>
          <p:nvPr/>
        </p:nvSpPr>
        <p:spPr>
          <a:xfrm>
            <a:off x="6134100" y="4400550"/>
            <a:ext cx="2857500" cy="209550"/>
          </a:xfrm>
          <a:prstGeom prst="rect">
            <a:avLst/>
          </a:prstGeom>
        </p:spPr>
        <p:txBody>
          <a:bodyPr lIns="0" tIns="0" rIns="0" bIns="0"/>
          <a:lstStyle/>
          <a:p>
            <a:pPr>
              <a:defRPr sz="1275" b="0" i="0">
                <a:solidFill>
                  <a:srgbClr val="10242E"/>
                </a:solidFill>
              </a:defRPr>
            </a:pPr>
            <a:r>
              <a:rPr sz="1275" b="0" i="0">
                <a:solidFill>
                  <a:srgbClr val="10242E"/>
                </a:solidFill>
              </a:rPr>
              <a:t>Part 3 and Part 4 analysis</a:t>
            </a:r>
          </a:p>
        </p:txBody>
      </p:sp>
      <p:sp>
        <p:nvSpPr>
          <p:cNvPr id="36" name="Rectangle 35">
            <a:extLst>
              <a:ext uri="{FF2B5EF4-FFF2-40B4-BE49-F238E27FC236}">
                <a16:creationId xmlns:a16="http://schemas.microsoft.com/office/drawing/2014/main" id="{79A5BFE4-E5D5-45BD-BCE0-9B0940B7C640}"/>
              </a:ext>
            </a:extLst>
          </p:cNvPr>
          <p:cNvSpPr>
            <a:spLocks noGrp="1"/>
          </p:cNvSpPr>
          <p:nvPr/>
        </p:nvSpPr>
        <p:spPr>
          <a:xfrm>
            <a:off x="9544050" y="3695700"/>
            <a:ext cx="8020050" cy="628650"/>
          </a:xfrm>
          <a:prstGeom prst="rect">
            <a:avLst/>
          </a:prstGeom>
        </p:spPr>
        <p:txBody>
          <a:bodyPr lIns="0" tIns="0" rIns="0" bIns="0"/>
          <a:lstStyle/>
          <a:p>
            <a:pPr>
              <a:defRPr sz="4050" b="1" i="0">
                <a:solidFill>
                  <a:srgbClr val="1E5A64"/>
                </a:solidFill>
              </a:defRPr>
            </a:pPr>
            <a:r>
              <a:rPr sz="4050" b="1" i="0">
                <a:solidFill>
                  <a:srgbClr val="1E5A64"/>
                </a:solidFill>
              </a:rPr>
              <a:t>402,576</a:t>
            </a:r>
          </a:p>
        </p:txBody>
      </p:sp>
      <p:sp>
        <p:nvSpPr>
          <p:cNvPr id="37" name="Rectangle 36">
            <a:extLst>
              <a:ext uri="{FF2B5EF4-FFF2-40B4-BE49-F238E27FC236}">
                <a16:creationId xmlns:a16="http://schemas.microsoft.com/office/drawing/2014/main" id="{81223B65-8ED9-451E-8F41-140A8E09C83F}"/>
              </a:ext>
            </a:extLst>
          </p:cNvPr>
          <p:cNvSpPr>
            <a:spLocks noGrp="1"/>
          </p:cNvSpPr>
          <p:nvPr/>
        </p:nvSpPr>
        <p:spPr>
          <a:xfrm>
            <a:off x="9544050" y="4362450"/>
            <a:ext cx="8020050" cy="228600"/>
          </a:xfrm>
          <a:prstGeom prst="rect">
            <a:avLst/>
          </a:prstGeom>
        </p:spPr>
        <p:txBody>
          <a:bodyPr lIns="0" tIns="0" rIns="0" bIns="0"/>
          <a:lstStyle/>
          <a:p>
            <a:pPr>
              <a:defRPr sz="1500" b="0" i="0">
                <a:solidFill>
                  <a:srgbClr val="5D6D76"/>
                </a:solidFill>
              </a:defRPr>
            </a:pPr>
            <a:r>
              <a:rPr sz="1500" b="0" i="0">
                <a:solidFill>
                  <a:srgbClr val="5D6D76"/>
                </a:solidFill>
              </a:rPr>
              <a:t>bus feature windows available for modelling</a:t>
            </a:r>
          </a:p>
        </p:txBody>
      </p:sp>
      <p:sp>
        <p:nvSpPr>
          <p:cNvPr id="38" name="Rectangle 37">
            <a:extLst>
              <a:ext uri="{FF2B5EF4-FFF2-40B4-BE49-F238E27FC236}">
                <a16:creationId xmlns:a16="http://schemas.microsoft.com/office/drawing/2014/main" id="{C8C6F051-14A6-4FD4-97ED-E95540084D42}"/>
              </a:ext>
            </a:extLst>
          </p:cNvPr>
          <p:cNvSpPr>
            <a:spLocks noGrp="1"/>
          </p:cNvSpPr>
          <p:nvPr/>
        </p:nvSpPr>
        <p:spPr>
          <a:xfrm>
            <a:off x="9544050" y="4819650"/>
            <a:ext cx="8020050" cy="628650"/>
          </a:xfrm>
          <a:prstGeom prst="rect">
            <a:avLst/>
          </a:prstGeom>
        </p:spPr>
        <p:txBody>
          <a:bodyPr lIns="0" tIns="0" rIns="0" bIns="0"/>
          <a:lstStyle/>
          <a:p>
            <a:pPr>
              <a:defRPr sz="4050" b="1" i="0">
                <a:solidFill>
                  <a:srgbClr val="F39A1E"/>
                </a:solidFill>
              </a:defRPr>
            </a:pPr>
            <a:r>
              <a:rPr sz="4050" b="1" i="0">
                <a:solidFill>
                  <a:srgbClr val="F39A1E"/>
                </a:solidFill>
              </a:rPr>
              <a:t>2.59M</a:t>
            </a:r>
          </a:p>
        </p:txBody>
      </p:sp>
      <p:sp>
        <p:nvSpPr>
          <p:cNvPr id="39" name="Rectangle 38">
            <a:extLst>
              <a:ext uri="{FF2B5EF4-FFF2-40B4-BE49-F238E27FC236}">
                <a16:creationId xmlns:a16="http://schemas.microsoft.com/office/drawing/2014/main" id="{A215E0BF-91D4-4D70-8044-85A3797E33DF}"/>
              </a:ext>
            </a:extLst>
          </p:cNvPr>
          <p:cNvSpPr>
            <a:spLocks noGrp="1"/>
          </p:cNvSpPr>
          <p:nvPr/>
        </p:nvSpPr>
        <p:spPr>
          <a:xfrm>
            <a:off x="9544050" y="5486400"/>
            <a:ext cx="8020050" cy="228600"/>
          </a:xfrm>
          <a:prstGeom prst="rect">
            <a:avLst/>
          </a:prstGeom>
        </p:spPr>
        <p:txBody>
          <a:bodyPr lIns="0" tIns="0" rIns="0" bIns="0"/>
          <a:lstStyle/>
          <a:p>
            <a:pPr>
              <a:defRPr sz="1500" b="0" i="0">
                <a:solidFill>
                  <a:srgbClr val="5D6D76"/>
                </a:solidFill>
              </a:defRPr>
            </a:pPr>
            <a:r>
              <a:rPr sz="1500" b="0" i="0">
                <a:solidFill>
                  <a:srgbClr val="5D6D76"/>
                </a:solidFill>
              </a:rPr>
              <a:t>vehicle position snapshots stored</a:t>
            </a:r>
          </a:p>
        </p:txBody>
      </p:sp>
      <p:sp>
        <p:nvSpPr>
          <p:cNvPr id="40" name="Rectangle 39">
            <a:extLst>
              <a:ext uri="{FF2B5EF4-FFF2-40B4-BE49-F238E27FC236}">
                <a16:creationId xmlns:a16="http://schemas.microsoft.com/office/drawing/2014/main" id="{58FE285D-C488-440F-A3A5-ABB46F07985E}"/>
              </a:ext>
            </a:extLst>
          </p:cNvPr>
          <p:cNvSpPr>
            <a:spLocks noGrp="1"/>
          </p:cNvSpPr>
          <p:nvPr/>
        </p:nvSpPr>
        <p:spPr>
          <a:xfrm>
            <a:off x="9544050" y="5943600"/>
            <a:ext cx="8020050" cy="628650"/>
          </a:xfrm>
          <a:prstGeom prst="rect">
            <a:avLst/>
          </a:prstGeom>
        </p:spPr>
        <p:txBody>
          <a:bodyPr lIns="0" tIns="0" rIns="0" bIns="0"/>
          <a:lstStyle/>
          <a:p>
            <a:pPr>
              <a:defRPr sz="4050" b="1" i="0">
                <a:solidFill>
                  <a:srgbClr val="326DFF"/>
                </a:solidFill>
              </a:defRPr>
            </a:pPr>
            <a:r>
              <a:rPr sz="4050" b="1" i="0">
                <a:solidFill>
                  <a:srgbClr val="326DFF"/>
                </a:solidFill>
              </a:rPr>
              <a:t>3.53M</a:t>
            </a:r>
          </a:p>
        </p:txBody>
      </p:sp>
      <p:sp>
        <p:nvSpPr>
          <p:cNvPr id="41" name="Rectangle 40">
            <a:extLst>
              <a:ext uri="{FF2B5EF4-FFF2-40B4-BE49-F238E27FC236}">
                <a16:creationId xmlns:a16="http://schemas.microsoft.com/office/drawing/2014/main" id="{2640FC7E-A954-40A6-BE68-FD55F6B79080}"/>
              </a:ext>
            </a:extLst>
          </p:cNvPr>
          <p:cNvSpPr>
            <a:spLocks noGrp="1"/>
          </p:cNvSpPr>
          <p:nvPr/>
        </p:nvSpPr>
        <p:spPr>
          <a:xfrm>
            <a:off x="9544050" y="6629400"/>
            <a:ext cx="8020050" cy="228600"/>
          </a:xfrm>
          <a:prstGeom prst="rect">
            <a:avLst/>
          </a:prstGeom>
        </p:spPr>
        <p:txBody>
          <a:bodyPr lIns="0" tIns="0" rIns="0" bIns="0"/>
          <a:lstStyle/>
          <a:p>
            <a:pPr>
              <a:defRPr sz="1500" b="0" i="0">
                <a:solidFill>
                  <a:srgbClr val="5D6D76"/>
                </a:solidFill>
              </a:defRPr>
            </a:pPr>
            <a:r>
              <a:rPr sz="1500" b="0" i="0">
                <a:solidFill>
                  <a:srgbClr val="5D6D76"/>
                </a:solidFill>
              </a:rPr>
              <a:t>trip update records stored</a:t>
            </a:r>
          </a:p>
        </p:txBody>
      </p:sp>
      <p:sp>
        <p:nvSpPr>
          <p:cNvPr id="42" name="Rectangle 41">
            <a:extLst>
              <a:ext uri="{FF2B5EF4-FFF2-40B4-BE49-F238E27FC236}">
                <a16:creationId xmlns:a16="http://schemas.microsoft.com/office/drawing/2014/main" id="{CA2A1E6F-E3BA-4A55-9B86-8208CF0824CF}"/>
              </a:ext>
            </a:extLst>
          </p:cNvPr>
          <p:cNvSpPr>
            <a:spLocks noGrp="1"/>
          </p:cNvSpPr>
          <p:nvPr/>
        </p:nvSpPr>
        <p:spPr>
          <a:xfrm>
            <a:off x="9544050" y="7086600"/>
            <a:ext cx="8020050" cy="628650"/>
          </a:xfrm>
          <a:prstGeom prst="rect">
            <a:avLst/>
          </a:prstGeom>
        </p:spPr>
        <p:txBody>
          <a:bodyPr lIns="0" tIns="0" rIns="0" bIns="0"/>
          <a:lstStyle/>
          <a:p>
            <a:pPr>
              <a:defRPr sz="4050" b="1" i="0">
                <a:solidFill>
                  <a:srgbClr val="24B96F"/>
                </a:solidFill>
              </a:defRPr>
            </a:pPr>
            <a:r>
              <a:rPr sz="4050" b="1" i="0">
                <a:solidFill>
                  <a:srgbClr val="24B96F"/>
                </a:solidFill>
              </a:rPr>
              <a:t>383,644</a:t>
            </a:r>
          </a:p>
        </p:txBody>
      </p:sp>
      <p:sp>
        <p:nvSpPr>
          <p:cNvPr id="43" name="Rectangle 42">
            <a:extLst>
              <a:ext uri="{FF2B5EF4-FFF2-40B4-BE49-F238E27FC236}">
                <a16:creationId xmlns:a16="http://schemas.microsoft.com/office/drawing/2014/main" id="{5E5F6016-0E0B-4AB2-A776-7997B6F21A5E}"/>
              </a:ext>
            </a:extLst>
          </p:cNvPr>
          <p:cNvSpPr>
            <a:spLocks noGrp="1"/>
          </p:cNvSpPr>
          <p:nvPr/>
        </p:nvSpPr>
        <p:spPr>
          <a:xfrm>
            <a:off x="9544050" y="7753350"/>
            <a:ext cx="8020050" cy="228600"/>
          </a:xfrm>
          <a:prstGeom prst="rect">
            <a:avLst/>
          </a:prstGeom>
        </p:spPr>
        <p:txBody>
          <a:bodyPr lIns="0" tIns="0" rIns="0" bIns="0"/>
          <a:lstStyle/>
          <a:p>
            <a:pPr>
              <a:defRPr sz="1500" b="0" i="0">
                <a:solidFill>
                  <a:srgbClr val="5D6D76"/>
                </a:solidFill>
              </a:defRPr>
            </a:pPr>
            <a:r>
              <a:rPr sz="1500" b="0" i="0">
                <a:solidFill>
                  <a:srgbClr val="5D6D76"/>
                </a:solidFill>
              </a:rPr>
              <a:t>schedule-adherence events generated</a:t>
            </a:r>
          </a:p>
        </p:txBody>
      </p:sp>
      <p:sp>
        <p:nvSpPr>
          <p:cNvPr id="44" name="source">
            <a:extLst>
              <a:ext uri="{FF2B5EF4-FFF2-40B4-BE49-F238E27FC236}">
                <a16:creationId xmlns:a16="http://schemas.microsoft.com/office/drawing/2014/main" id="{9DDA3DB7-B77B-4836-B57C-470261AA1AF9}"/>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2024683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38" name="bg">
            <a:extLst>
              <a:ext uri="{FF2B5EF4-FFF2-40B4-BE49-F238E27FC236}">
                <a16:creationId xmlns:a16="http://schemas.microsoft.com/office/drawing/2014/main" id="{1E821B86-96BB-428D-B3F2-CE7C23A6D47F}"/>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5FABA0A5-BE4D-45E8-8024-FFBE6BDF6011}"/>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12503A86-87CA-4F29-A4BC-A9986DE51559}"/>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CAE76535-B59F-4996-9CBB-568FD3A1427F}"/>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Scope decision: HSL bus-only analysis</a:t>
            </a:r>
          </a:p>
        </p:txBody>
      </p:sp>
      <p:sp>
        <p:nvSpPr>
          <p:cNvPr id="5" name="slide-subtitle">
            <a:extLst>
              <a:ext uri="{FF2B5EF4-FFF2-40B4-BE49-F238E27FC236}">
                <a16:creationId xmlns:a16="http://schemas.microsoft.com/office/drawing/2014/main" id="{3E85E5AE-37D5-4B06-88EB-6662E7CF4497}"/>
              </a:ext>
            </a:extLst>
          </p:cNvPr>
          <p:cNvSpPr>
            <a:spLocks noGrp="1"/>
          </p:cNvSpPr>
          <p:nvPr/>
        </p:nvSpPr>
        <p:spPr>
          <a:xfrm>
            <a:off x="1123950" y="1657350"/>
            <a:ext cx="11087100" cy="285750"/>
          </a:xfrm>
          <a:prstGeom prst="rect">
            <a:avLst/>
          </a:prstGeom>
        </p:spPr>
        <p:txBody>
          <a:bodyPr lIns="0" tIns="0" rIns="0" bIns="0"/>
          <a:lstStyle/>
          <a:p>
            <a:pPr>
              <a:defRPr sz="1875" b="0" i="0">
                <a:solidFill>
                  <a:srgbClr val="5D6D76"/>
                </a:solidFill>
              </a:defRPr>
            </a:pPr>
            <a:r>
              <a:rPr sz="1875" b="0" i="0">
                <a:solidFill>
                  <a:srgbClr val="5D6D76"/>
                </a:solidFill>
              </a:rPr>
              <a:t>The raw HSL feed is multimodal, but the graded modelling story focuses only on bus route types 701, 702, and 704.</a:t>
            </a:r>
          </a:p>
        </p:txBody>
      </p:sp>
      <p:sp>
        <p:nvSpPr>
          <p:cNvPr id="6" name="Rectangle 5">
            <a:extLst>
              <a:ext uri="{FF2B5EF4-FFF2-40B4-BE49-F238E27FC236}">
                <a16:creationId xmlns:a16="http://schemas.microsoft.com/office/drawing/2014/main" id="{A32F1918-803D-48AE-9EA1-1ABCDB142817}"/>
              </a:ext>
            </a:extLst>
          </p:cNvPr>
          <p:cNvSpPr>
            <a:spLocks noGrp="1"/>
          </p:cNvSpPr>
          <p:nvPr/>
        </p:nvSpPr>
        <p:spPr>
          <a:xfrm>
            <a:off x="1123950" y="2202180"/>
            <a:ext cx="1780117" cy="434340"/>
          </a:xfrm>
          <a:prstGeom prst="rect">
            <a:avLst/>
          </a:prstGeom>
          <a:solidFill>
            <a:srgbClr val="1E5A64"/>
          </a:solidFill>
        </p:spPr>
        <p:txBody>
          <a:bodyPr/>
          <a:lstStyle/>
          <a:p>
            <a:endParaRPr lang="en-US"/>
          </a:p>
        </p:txBody>
      </p:sp>
      <p:sp>
        <p:nvSpPr>
          <p:cNvPr id="7" name="Rectangle 6">
            <a:extLst>
              <a:ext uri="{FF2B5EF4-FFF2-40B4-BE49-F238E27FC236}">
                <a16:creationId xmlns:a16="http://schemas.microsoft.com/office/drawing/2014/main" id="{0F0D60FD-12E0-40BB-A9B3-776598DAED4B}"/>
              </a:ext>
            </a:extLst>
          </p:cNvPr>
          <p:cNvSpPr>
            <a:spLocks noGrp="1"/>
          </p:cNvSpPr>
          <p:nvPr/>
        </p:nvSpPr>
        <p:spPr>
          <a:xfrm>
            <a:off x="1276350" y="2324100"/>
            <a:ext cx="1466850" cy="209550"/>
          </a:xfrm>
          <a:prstGeom prst="rect">
            <a:avLst/>
          </a:prstGeom>
        </p:spPr>
        <p:txBody>
          <a:bodyPr lIns="0" tIns="0" rIns="0" bIns="0"/>
          <a:lstStyle/>
          <a:p>
            <a:pPr>
              <a:defRPr sz="1350" b="1" i="0">
                <a:solidFill>
                  <a:srgbClr val="FFFFFF"/>
                </a:solidFill>
              </a:defRPr>
            </a:pPr>
            <a:r>
              <a:rPr sz="1350" b="1" i="0">
                <a:solidFill>
                  <a:srgbClr val="FFFFFF"/>
                </a:solidFill>
              </a:rPr>
              <a:t>Route type</a:t>
            </a:r>
          </a:p>
        </p:txBody>
      </p:sp>
      <p:sp>
        <p:nvSpPr>
          <p:cNvPr id="8" name="Rectangle 7">
            <a:extLst>
              <a:ext uri="{FF2B5EF4-FFF2-40B4-BE49-F238E27FC236}">
                <a16:creationId xmlns:a16="http://schemas.microsoft.com/office/drawing/2014/main" id="{0FA00733-B0A4-4215-A88A-A40D1FD04696}"/>
              </a:ext>
            </a:extLst>
          </p:cNvPr>
          <p:cNvSpPr>
            <a:spLocks noGrp="1"/>
          </p:cNvSpPr>
          <p:nvPr/>
        </p:nvSpPr>
        <p:spPr>
          <a:xfrm>
            <a:off x="2904067" y="2202180"/>
            <a:ext cx="3226461" cy="434340"/>
          </a:xfrm>
          <a:prstGeom prst="rect">
            <a:avLst/>
          </a:prstGeom>
          <a:solidFill>
            <a:srgbClr val="1E5A64"/>
          </a:solidFill>
        </p:spPr>
        <p:txBody>
          <a:bodyPr/>
          <a:lstStyle/>
          <a:p>
            <a:endParaRPr lang="en-US"/>
          </a:p>
        </p:txBody>
      </p:sp>
      <p:sp>
        <p:nvSpPr>
          <p:cNvPr id="9" name="Rectangle 8">
            <a:extLst>
              <a:ext uri="{FF2B5EF4-FFF2-40B4-BE49-F238E27FC236}">
                <a16:creationId xmlns:a16="http://schemas.microsoft.com/office/drawing/2014/main" id="{4939FF0C-FEE2-43AC-90B5-DD17D1C60CF4}"/>
              </a:ext>
            </a:extLst>
          </p:cNvPr>
          <p:cNvSpPr>
            <a:spLocks noGrp="1"/>
          </p:cNvSpPr>
          <p:nvPr/>
        </p:nvSpPr>
        <p:spPr>
          <a:xfrm>
            <a:off x="3048000" y="2324100"/>
            <a:ext cx="2914650" cy="209550"/>
          </a:xfrm>
          <a:prstGeom prst="rect">
            <a:avLst/>
          </a:prstGeom>
        </p:spPr>
        <p:txBody>
          <a:bodyPr lIns="0" tIns="0" rIns="0" bIns="0"/>
          <a:lstStyle/>
          <a:p>
            <a:pPr>
              <a:defRPr sz="1350" b="1" i="0">
                <a:solidFill>
                  <a:srgbClr val="FFFFFF"/>
                </a:solidFill>
              </a:defRPr>
            </a:pPr>
            <a:r>
              <a:rPr sz="1350" b="1" i="0">
                <a:solidFill>
                  <a:srgbClr val="FFFFFF"/>
                </a:solidFill>
              </a:rPr>
              <a:t>Meaning in this project</a:t>
            </a:r>
          </a:p>
        </p:txBody>
      </p:sp>
      <p:sp>
        <p:nvSpPr>
          <p:cNvPr id="10" name="Rectangle 9">
            <a:extLst>
              <a:ext uri="{FF2B5EF4-FFF2-40B4-BE49-F238E27FC236}">
                <a16:creationId xmlns:a16="http://schemas.microsoft.com/office/drawing/2014/main" id="{3043C365-B8D3-4602-B655-205420F76C9B}"/>
              </a:ext>
            </a:extLst>
          </p:cNvPr>
          <p:cNvSpPr>
            <a:spLocks noGrp="1"/>
          </p:cNvSpPr>
          <p:nvPr/>
        </p:nvSpPr>
        <p:spPr>
          <a:xfrm>
            <a:off x="6130528" y="2202180"/>
            <a:ext cx="3003947" cy="434340"/>
          </a:xfrm>
          <a:prstGeom prst="rect">
            <a:avLst/>
          </a:prstGeom>
          <a:solidFill>
            <a:srgbClr val="1E5A64"/>
          </a:solidFill>
        </p:spPr>
        <p:txBody>
          <a:bodyPr/>
          <a:lstStyle/>
          <a:p>
            <a:endParaRPr lang="en-US"/>
          </a:p>
        </p:txBody>
      </p:sp>
      <p:sp>
        <p:nvSpPr>
          <p:cNvPr id="11" name="Rectangle 10">
            <a:extLst>
              <a:ext uri="{FF2B5EF4-FFF2-40B4-BE49-F238E27FC236}">
                <a16:creationId xmlns:a16="http://schemas.microsoft.com/office/drawing/2014/main" id="{60C15FA1-29B4-4DBB-97D3-9AF53F9EC63A}"/>
              </a:ext>
            </a:extLst>
          </p:cNvPr>
          <p:cNvSpPr>
            <a:spLocks noGrp="1"/>
          </p:cNvSpPr>
          <p:nvPr/>
        </p:nvSpPr>
        <p:spPr>
          <a:xfrm>
            <a:off x="6286500" y="2324100"/>
            <a:ext cx="2705100" cy="209550"/>
          </a:xfrm>
          <a:prstGeom prst="rect">
            <a:avLst/>
          </a:prstGeom>
        </p:spPr>
        <p:txBody>
          <a:bodyPr lIns="0" tIns="0" rIns="0" bIns="0"/>
          <a:lstStyle/>
          <a:p>
            <a:pPr>
              <a:defRPr sz="1350" b="1" i="0">
                <a:solidFill>
                  <a:srgbClr val="FFFFFF"/>
                </a:solidFill>
              </a:defRPr>
            </a:pPr>
            <a:r>
              <a:rPr sz="1350" b="1" i="0">
                <a:solidFill>
                  <a:srgbClr val="FFFFFF"/>
                </a:solidFill>
              </a:rPr>
              <a:t>Why kept</a:t>
            </a:r>
          </a:p>
        </p:txBody>
      </p:sp>
      <p:sp>
        <p:nvSpPr>
          <p:cNvPr id="12" name="Rectangle 11">
            <a:extLst>
              <a:ext uri="{FF2B5EF4-FFF2-40B4-BE49-F238E27FC236}">
                <a16:creationId xmlns:a16="http://schemas.microsoft.com/office/drawing/2014/main" id="{9B03B9C8-8F5C-44A0-8BB4-3DAE82237443}"/>
              </a:ext>
            </a:extLst>
          </p:cNvPr>
          <p:cNvSpPr>
            <a:spLocks noGrp="1"/>
          </p:cNvSpPr>
          <p:nvPr/>
        </p:nvSpPr>
        <p:spPr>
          <a:xfrm>
            <a:off x="1123950" y="2636520"/>
            <a:ext cx="1780117" cy="422910"/>
          </a:xfrm>
          <a:prstGeom prst="rect">
            <a:avLst/>
          </a:prstGeom>
          <a:solidFill>
            <a:srgbClr val="FFFFFF"/>
          </a:solidFill>
          <a:ln w="9525">
            <a:solidFill>
              <a:srgbClr val="E0E7E4"/>
            </a:solidFill>
            <a:prstDash val="solid"/>
          </a:ln>
        </p:spPr>
        <p:txBody>
          <a:bodyPr/>
          <a:lstStyle/>
          <a:p>
            <a:endParaRPr lang="en-US"/>
          </a:p>
        </p:txBody>
      </p:sp>
      <p:sp>
        <p:nvSpPr>
          <p:cNvPr id="13" name="Rectangle 12">
            <a:extLst>
              <a:ext uri="{FF2B5EF4-FFF2-40B4-BE49-F238E27FC236}">
                <a16:creationId xmlns:a16="http://schemas.microsoft.com/office/drawing/2014/main" id="{23715222-110C-4DFF-B91C-447F214D37D5}"/>
              </a:ext>
            </a:extLst>
          </p:cNvPr>
          <p:cNvSpPr>
            <a:spLocks noGrp="1"/>
          </p:cNvSpPr>
          <p:nvPr/>
        </p:nvSpPr>
        <p:spPr>
          <a:xfrm>
            <a:off x="1276350" y="2743200"/>
            <a:ext cx="1466850" cy="209550"/>
          </a:xfrm>
          <a:prstGeom prst="rect">
            <a:avLst/>
          </a:prstGeom>
        </p:spPr>
        <p:txBody>
          <a:bodyPr lIns="0" tIns="0" rIns="0" bIns="0"/>
          <a:lstStyle/>
          <a:p>
            <a:pPr>
              <a:defRPr sz="1275" b="0" i="0">
                <a:solidFill>
                  <a:srgbClr val="10242E"/>
                </a:solidFill>
              </a:defRPr>
            </a:pPr>
            <a:r>
              <a:rPr sz="1275" b="0" i="0">
                <a:solidFill>
                  <a:srgbClr val="10242E"/>
                </a:solidFill>
              </a:rPr>
              <a:t>701</a:t>
            </a:r>
          </a:p>
        </p:txBody>
      </p:sp>
      <p:sp>
        <p:nvSpPr>
          <p:cNvPr id="14" name="Rectangle 13">
            <a:extLst>
              <a:ext uri="{FF2B5EF4-FFF2-40B4-BE49-F238E27FC236}">
                <a16:creationId xmlns:a16="http://schemas.microsoft.com/office/drawing/2014/main" id="{5158B8DA-6778-4BF6-8851-C0D81D9B6596}"/>
              </a:ext>
            </a:extLst>
          </p:cNvPr>
          <p:cNvSpPr>
            <a:spLocks noGrp="1"/>
          </p:cNvSpPr>
          <p:nvPr/>
        </p:nvSpPr>
        <p:spPr>
          <a:xfrm>
            <a:off x="2904067" y="2636520"/>
            <a:ext cx="3226461" cy="422910"/>
          </a:xfrm>
          <a:prstGeom prst="rect">
            <a:avLst/>
          </a:prstGeom>
          <a:solidFill>
            <a:srgbClr val="FFFFFF"/>
          </a:solidFill>
          <a:ln w="9525">
            <a:solidFill>
              <a:srgbClr val="E0E7E4"/>
            </a:solidFill>
            <a:prstDash val="solid"/>
          </a:ln>
        </p:spPr>
        <p:txBody>
          <a:bodyPr/>
          <a:lstStyle/>
          <a:p>
            <a:endParaRPr lang="en-US"/>
          </a:p>
        </p:txBody>
      </p:sp>
      <p:sp>
        <p:nvSpPr>
          <p:cNvPr id="15" name="Rectangle 14">
            <a:extLst>
              <a:ext uri="{FF2B5EF4-FFF2-40B4-BE49-F238E27FC236}">
                <a16:creationId xmlns:a16="http://schemas.microsoft.com/office/drawing/2014/main" id="{762458DC-9AB8-4338-BA3D-9A27D98E97F2}"/>
              </a:ext>
            </a:extLst>
          </p:cNvPr>
          <p:cNvSpPr>
            <a:spLocks noGrp="1"/>
          </p:cNvSpPr>
          <p:nvPr/>
        </p:nvSpPr>
        <p:spPr>
          <a:xfrm>
            <a:off x="3048000" y="2743200"/>
            <a:ext cx="2914650" cy="209550"/>
          </a:xfrm>
          <a:prstGeom prst="rect">
            <a:avLst/>
          </a:prstGeom>
        </p:spPr>
        <p:txBody>
          <a:bodyPr lIns="0" tIns="0" rIns="0" bIns="0"/>
          <a:lstStyle/>
          <a:p>
            <a:pPr>
              <a:defRPr sz="1275" b="0" i="0">
                <a:solidFill>
                  <a:srgbClr val="10242E"/>
                </a:solidFill>
              </a:defRPr>
            </a:pPr>
            <a:r>
              <a:rPr sz="1275" b="0" i="0">
                <a:solidFill>
                  <a:srgbClr val="10242E"/>
                </a:solidFill>
              </a:rPr>
              <a:t>HSL bus-family service</a:t>
            </a:r>
          </a:p>
        </p:txBody>
      </p:sp>
      <p:sp>
        <p:nvSpPr>
          <p:cNvPr id="16" name="Rectangle 15">
            <a:extLst>
              <a:ext uri="{FF2B5EF4-FFF2-40B4-BE49-F238E27FC236}">
                <a16:creationId xmlns:a16="http://schemas.microsoft.com/office/drawing/2014/main" id="{3B424EF8-48BA-4916-B99E-665D0E0E1A32}"/>
              </a:ext>
            </a:extLst>
          </p:cNvPr>
          <p:cNvSpPr>
            <a:spLocks noGrp="1"/>
          </p:cNvSpPr>
          <p:nvPr/>
        </p:nvSpPr>
        <p:spPr>
          <a:xfrm>
            <a:off x="6130528" y="2636520"/>
            <a:ext cx="3003947" cy="422910"/>
          </a:xfrm>
          <a:prstGeom prst="rect">
            <a:avLst/>
          </a:prstGeom>
          <a:solidFill>
            <a:srgbClr val="FFFFFF"/>
          </a:solidFill>
          <a:ln w="9525">
            <a:solidFill>
              <a:srgbClr val="E0E7E4"/>
            </a:solidFill>
            <a:prstDash val="solid"/>
          </a:ln>
        </p:spPr>
        <p:txBody>
          <a:bodyPr/>
          <a:lstStyle/>
          <a:p>
            <a:endParaRPr lang="en-US"/>
          </a:p>
        </p:txBody>
      </p:sp>
      <p:sp>
        <p:nvSpPr>
          <p:cNvPr id="17" name="Rectangle 16">
            <a:extLst>
              <a:ext uri="{FF2B5EF4-FFF2-40B4-BE49-F238E27FC236}">
                <a16:creationId xmlns:a16="http://schemas.microsoft.com/office/drawing/2014/main" id="{0AE8ACC4-8C5A-4DF7-8C02-E73B961253AC}"/>
              </a:ext>
            </a:extLst>
          </p:cNvPr>
          <p:cNvSpPr>
            <a:spLocks noGrp="1"/>
          </p:cNvSpPr>
          <p:nvPr/>
        </p:nvSpPr>
        <p:spPr>
          <a:xfrm>
            <a:off x="6286500" y="2743200"/>
            <a:ext cx="2705100" cy="209550"/>
          </a:xfrm>
          <a:prstGeom prst="rect">
            <a:avLst/>
          </a:prstGeom>
        </p:spPr>
        <p:txBody>
          <a:bodyPr lIns="0" tIns="0" rIns="0" bIns="0"/>
          <a:lstStyle/>
          <a:p>
            <a:pPr>
              <a:defRPr sz="1275" b="0" i="0">
                <a:solidFill>
                  <a:srgbClr val="10242E"/>
                </a:solidFill>
              </a:defRPr>
            </a:pPr>
            <a:r>
              <a:rPr sz="1275" b="0" i="0">
                <a:solidFill>
                  <a:srgbClr val="10242E"/>
                </a:solidFill>
              </a:rPr>
              <a:t>main bus network</a:t>
            </a:r>
          </a:p>
        </p:txBody>
      </p:sp>
      <p:sp>
        <p:nvSpPr>
          <p:cNvPr id="18" name="Rectangle 17">
            <a:extLst>
              <a:ext uri="{FF2B5EF4-FFF2-40B4-BE49-F238E27FC236}">
                <a16:creationId xmlns:a16="http://schemas.microsoft.com/office/drawing/2014/main" id="{6A29374D-76C5-46BB-922A-F7C21B5CCE33}"/>
              </a:ext>
            </a:extLst>
          </p:cNvPr>
          <p:cNvSpPr>
            <a:spLocks noGrp="1"/>
          </p:cNvSpPr>
          <p:nvPr/>
        </p:nvSpPr>
        <p:spPr>
          <a:xfrm>
            <a:off x="1123950" y="3059430"/>
            <a:ext cx="1780117" cy="422910"/>
          </a:xfrm>
          <a:prstGeom prst="rect">
            <a:avLst/>
          </a:prstGeom>
          <a:solidFill>
            <a:srgbClr val="F0F4F2"/>
          </a:solidFill>
          <a:ln w="9525">
            <a:solidFill>
              <a:srgbClr val="E0E7E4"/>
            </a:solidFill>
            <a:prstDash val="solid"/>
          </a:ln>
        </p:spPr>
        <p:txBody>
          <a:bodyPr/>
          <a:lstStyle/>
          <a:p>
            <a:endParaRPr lang="en-US"/>
          </a:p>
        </p:txBody>
      </p:sp>
      <p:sp>
        <p:nvSpPr>
          <p:cNvPr id="19" name="Rectangle 18">
            <a:extLst>
              <a:ext uri="{FF2B5EF4-FFF2-40B4-BE49-F238E27FC236}">
                <a16:creationId xmlns:a16="http://schemas.microsoft.com/office/drawing/2014/main" id="{AD944D04-7E47-4FDC-94B4-A01B1293349B}"/>
              </a:ext>
            </a:extLst>
          </p:cNvPr>
          <p:cNvSpPr>
            <a:spLocks noGrp="1"/>
          </p:cNvSpPr>
          <p:nvPr/>
        </p:nvSpPr>
        <p:spPr>
          <a:xfrm>
            <a:off x="1276350" y="3181350"/>
            <a:ext cx="1466850" cy="209550"/>
          </a:xfrm>
          <a:prstGeom prst="rect">
            <a:avLst/>
          </a:prstGeom>
        </p:spPr>
        <p:txBody>
          <a:bodyPr lIns="0" tIns="0" rIns="0" bIns="0"/>
          <a:lstStyle/>
          <a:p>
            <a:pPr>
              <a:defRPr sz="1275" b="0" i="0">
                <a:solidFill>
                  <a:srgbClr val="10242E"/>
                </a:solidFill>
              </a:defRPr>
            </a:pPr>
            <a:r>
              <a:rPr sz="1275" b="0" i="0">
                <a:solidFill>
                  <a:srgbClr val="10242E"/>
                </a:solidFill>
              </a:rPr>
              <a:t>702</a:t>
            </a:r>
          </a:p>
        </p:txBody>
      </p:sp>
      <p:sp>
        <p:nvSpPr>
          <p:cNvPr id="20" name="Rectangle 19">
            <a:extLst>
              <a:ext uri="{FF2B5EF4-FFF2-40B4-BE49-F238E27FC236}">
                <a16:creationId xmlns:a16="http://schemas.microsoft.com/office/drawing/2014/main" id="{B06B090E-EF80-47BD-BF26-855D7498907C}"/>
              </a:ext>
            </a:extLst>
          </p:cNvPr>
          <p:cNvSpPr>
            <a:spLocks noGrp="1"/>
          </p:cNvSpPr>
          <p:nvPr/>
        </p:nvSpPr>
        <p:spPr>
          <a:xfrm>
            <a:off x="2904067" y="3059430"/>
            <a:ext cx="3226461" cy="422910"/>
          </a:xfrm>
          <a:prstGeom prst="rect">
            <a:avLst/>
          </a:prstGeom>
          <a:solidFill>
            <a:srgbClr val="F0F4F2"/>
          </a:solidFill>
          <a:ln w="9525">
            <a:solidFill>
              <a:srgbClr val="E0E7E4"/>
            </a:solidFill>
            <a:prstDash val="solid"/>
          </a:ln>
        </p:spPr>
        <p:txBody>
          <a:bodyPr/>
          <a:lstStyle/>
          <a:p>
            <a:endParaRPr lang="en-US"/>
          </a:p>
        </p:txBody>
      </p:sp>
      <p:sp>
        <p:nvSpPr>
          <p:cNvPr id="21" name="Rectangle 20">
            <a:extLst>
              <a:ext uri="{FF2B5EF4-FFF2-40B4-BE49-F238E27FC236}">
                <a16:creationId xmlns:a16="http://schemas.microsoft.com/office/drawing/2014/main" id="{86127628-256D-44C6-9231-CD468D3625F0}"/>
              </a:ext>
            </a:extLst>
          </p:cNvPr>
          <p:cNvSpPr>
            <a:spLocks noGrp="1"/>
          </p:cNvSpPr>
          <p:nvPr/>
        </p:nvSpPr>
        <p:spPr>
          <a:xfrm>
            <a:off x="3048000" y="3181350"/>
            <a:ext cx="2914650" cy="209550"/>
          </a:xfrm>
          <a:prstGeom prst="rect">
            <a:avLst/>
          </a:prstGeom>
        </p:spPr>
        <p:txBody>
          <a:bodyPr lIns="0" tIns="0" rIns="0" bIns="0"/>
          <a:lstStyle/>
          <a:p>
            <a:pPr>
              <a:defRPr sz="1275" b="0" i="0">
                <a:solidFill>
                  <a:srgbClr val="10242E"/>
                </a:solidFill>
              </a:defRPr>
            </a:pPr>
            <a:r>
              <a:rPr sz="1275" b="0" i="0">
                <a:solidFill>
                  <a:srgbClr val="10242E"/>
                </a:solidFill>
              </a:rPr>
              <a:t>HSL bus-family service variant</a:t>
            </a:r>
          </a:p>
        </p:txBody>
      </p:sp>
      <p:sp>
        <p:nvSpPr>
          <p:cNvPr id="22" name="Rectangle 21">
            <a:extLst>
              <a:ext uri="{FF2B5EF4-FFF2-40B4-BE49-F238E27FC236}">
                <a16:creationId xmlns:a16="http://schemas.microsoft.com/office/drawing/2014/main" id="{590B4676-732A-4F57-920D-83B9AECC1F0B}"/>
              </a:ext>
            </a:extLst>
          </p:cNvPr>
          <p:cNvSpPr>
            <a:spLocks noGrp="1"/>
          </p:cNvSpPr>
          <p:nvPr/>
        </p:nvSpPr>
        <p:spPr>
          <a:xfrm>
            <a:off x="6130528" y="3059430"/>
            <a:ext cx="3003947" cy="422910"/>
          </a:xfrm>
          <a:prstGeom prst="rect">
            <a:avLst/>
          </a:prstGeom>
          <a:solidFill>
            <a:srgbClr val="F0F4F2"/>
          </a:solidFill>
          <a:ln w="9525">
            <a:solidFill>
              <a:srgbClr val="E0E7E4"/>
            </a:solidFill>
            <a:prstDash val="solid"/>
          </a:ln>
        </p:spPr>
        <p:txBody>
          <a:bodyPr/>
          <a:lstStyle/>
          <a:p>
            <a:endParaRPr lang="en-US"/>
          </a:p>
        </p:txBody>
      </p:sp>
      <p:sp>
        <p:nvSpPr>
          <p:cNvPr id="23" name="Rectangle 22">
            <a:extLst>
              <a:ext uri="{FF2B5EF4-FFF2-40B4-BE49-F238E27FC236}">
                <a16:creationId xmlns:a16="http://schemas.microsoft.com/office/drawing/2014/main" id="{95FBC2B3-4954-4267-A034-805522981FE8}"/>
              </a:ext>
            </a:extLst>
          </p:cNvPr>
          <p:cNvSpPr>
            <a:spLocks noGrp="1"/>
          </p:cNvSpPr>
          <p:nvPr/>
        </p:nvSpPr>
        <p:spPr>
          <a:xfrm>
            <a:off x="6286500" y="3181350"/>
            <a:ext cx="2705100" cy="209550"/>
          </a:xfrm>
          <a:prstGeom prst="rect">
            <a:avLst/>
          </a:prstGeom>
        </p:spPr>
        <p:txBody>
          <a:bodyPr lIns="0" tIns="0" rIns="0" bIns="0"/>
          <a:lstStyle/>
          <a:p>
            <a:pPr>
              <a:defRPr sz="1275" b="0" i="0">
                <a:solidFill>
                  <a:srgbClr val="10242E"/>
                </a:solidFill>
              </a:defRPr>
            </a:pPr>
            <a:r>
              <a:rPr sz="1275" b="0" i="0">
                <a:solidFill>
                  <a:srgbClr val="10242E"/>
                </a:solidFill>
              </a:rPr>
              <a:t>bus-compatible operations</a:t>
            </a:r>
          </a:p>
        </p:txBody>
      </p:sp>
      <p:sp>
        <p:nvSpPr>
          <p:cNvPr id="24" name="Rectangle 23">
            <a:extLst>
              <a:ext uri="{FF2B5EF4-FFF2-40B4-BE49-F238E27FC236}">
                <a16:creationId xmlns:a16="http://schemas.microsoft.com/office/drawing/2014/main" id="{F448B53A-A7CE-4C6C-963E-9932741CDDF8}"/>
              </a:ext>
            </a:extLst>
          </p:cNvPr>
          <p:cNvSpPr>
            <a:spLocks noGrp="1"/>
          </p:cNvSpPr>
          <p:nvPr/>
        </p:nvSpPr>
        <p:spPr>
          <a:xfrm>
            <a:off x="1123950" y="3482340"/>
            <a:ext cx="1780117" cy="422910"/>
          </a:xfrm>
          <a:prstGeom prst="rect">
            <a:avLst/>
          </a:prstGeom>
          <a:solidFill>
            <a:srgbClr val="FFFFFF"/>
          </a:solidFill>
          <a:ln w="9525">
            <a:solidFill>
              <a:srgbClr val="E0E7E4"/>
            </a:solidFill>
            <a:prstDash val="solid"/>
          </a:ln>
        </p:spPr>
        <p:txBody>
          <a:bodyPr/>
          <a:lstStyle/>
          <a:p>
            <a:endParaRPr lang="en-US"/>
          </a:p>
        </p:txBody>
      </p:sp>
      <p:sp>
        <p:nvSpPr>
          <p:cNvPr id="25" name="Rectangle 24">
            <a:extLst>
              <a:ext uri="{FF2B5EF4-FFF2-40B4-BE49-F238E27FC236}">
                <a16:creationId xmlns:a16="http://schemas.microsoft.com/office/drawing/2014/main" id="{BDCFE1D9-556C-4635-84E8-2B4A18E82FB3}"/>
              </a:ext>
            </a:extLst>
          </p:cNvPr>
          <p:cNvSpPr>
            <a:spLocks noGrp="1"/>
          </p:cNvSpPr>
          <p:nvPr/>
        </p:nvSpPr>
        <p:spPr>
          <a:xfrm>
            <a:off x="1276350" y="3600450"/>
            <a:ext cx="1466850" cy="209550"/>
          </a:xfrm>
          <a:prstGeom prst="rect">
            <a:avLst/>
          </a:prstGeom>
        </p:spPr>
        <p:txBody>
          <a:bodyPr lIns="0" tIns="0" rIns="0" bIns="0"/>
          <a:lstStyle/>
          <a:p>
            <a:pPr>
              <a:defRPr sz="1275" b="0" i="0">
                <a:solidFill>
                  <a:srgbClr val="10242E"/>
                </a:solidFill>
              </a:defRPr>
            </a:pPr>
            <a:r>
              <a:rPr sz="1275" b="0" i="0">
                <a:solidFill>
                  <a:srgbClr val="10242E"/>
                </a:solidFill>
              </a:rPr>
              <a:t>704</a:t>
            </a:r>
          </a:p>
        </p:txBody>
      </p:sp>
      <p:sp>
        <p:nvSpPr>
          <p:cNvPr id="26" name="Rectangle 25">
            <a:extLst>
              <a:ext uri="{FF2B5EF4-FFF2-40B4-BE49-F238E27FC236}">
                <a16:creationId xmlns:a16="http://schemas.microsoft.com/office/drawing/2014/main" id="{47877CB4-A4F5-43DD-844C-53BA95E75B6C}"/>
              </a:ext>
            </a:extLst>
          </p:cNvPr>
          <p:cNvSpPr>
            <a:spLocks noGrp="1"/>
          </p:cNvSpPr>
          <p:nvPr/>
        </p:nvSpPr>
        <p:spPr>
          <a:xfrm>
            <a:off x="2904067" y="3482340"/>
            <a:ext cx="3226461" cy="422910"/>
          </a:xfrm>
          <a:prstGeom prst="rect">
            <a:avLst/>
          </a:prstGeom>
          <a:solidFill>
            <a:srgbClr val="FFFFFF"/>
          </a:solidFill>
          <a:ln w="9525">
            <a:solidFill>
              <a:srgbClr val="E0E7E4"/>
            </a:solidFill>
            <a:prstDash val="solid"/>
          </a:ln>
        </p:spPr>
        <p:txBody>
          <a:bodyPr/>
          <a:lstStyle/>
          <a:p>
            <a:endParaRPr lang="en-US"/>
          </a:p>
        </p:txBody>
      </p:sp>
      <p:sp>
        <p:nvSpPr>
          <p:cNvPr id="27" name="Rectangle 26">
            <a:extLst>
              <a:ext uri="{FF2B5EF4-FFF2-40B4-BE49-F238E27FC236}">
                <a16:creationId xmlns:a16="http://schemas.microsoft.com/office/drawing/2014/main" id="{3BCC640E-1734-45A1-9E34-2E7ACDF0C70F}"/>
              </a:ext>
            </a:extLst>
          </p:cNvPr>
          <p:cNvSpPr>
            <a:spLocks noGrp="1"/>
          </p:cNvSpPr>
          <p:nvPr/>
        </p:nvSpPr>
        <p:spPr>
          <a:xfrm>
            <a:off x="3048000" y="3600450"/>
            <a:ext cx="2914650" cy="209550"/>
          </a:xfrm>
          <a:prstGeom prst="rect">
            <a:avLst/>
          </a:prstGeom>
        </p:spPr>
        <p:txBody>
          <a:bodyPr lIns="0" tIns="0" rIns="0" bIns="0"/>
          <a:lstStyle/>
          <a:p>
            <a:pPr>
              <a:defRPr sz="1275" b="0" i="0">
                <a:solidFill>
                  <a:srgbClr val="10242E"/>
                </a:solidFill>
              </a:defRPr>
            </a:pPr>
            <a:r>
              <a:rPr sz="1275" b="0" i="0">
                <a:solidFill>
                  <a:srgbClr val="10242E"/>
                </a:solidFill>
              </a:rPr>
              <a:t>HSL bus-family service variant</a:t>
            </a:r>
          </a:p>
        </p:txBody>
      </p:sp>
      <p:sp>
        <p:nvSpPr>
          <p:cNvPr id="28" name="Rectangle 27">
            <a:extLst>
              <a:ext uri="{FF2B5EF4-FFF2-40B4-BE49-F238E27FC236}">
                <a16:creationId xmlns:a16="http://schemas.microsoft.com/office/drawing/2014/main" id="{04D08543-D377-4CF9-8943-C3DCB62FA658}"/>
              </a:ext>
            </a:extLst>
          </p:cNvPr>
          <p:cNvSpPr>
            <a:spLocks noGrp="1"/>
          </p:cNvSpPr>
          <p:nvPr/>
        </p:nvSpPr>
        <p:spPr>
          <a:xfrm>
            <a:off x="6130528" y="3482340"/>
            <a:ext cx="3003947" cy="422910"/>
          </a:xfrm>
          <a:prstGeom prst="rect">
            <a:avLst/>
          </a:prstGeom>
          <a:solidFill>
            <a:srgbClr val="FFFFFF"/>
          </a:solidFill>
          <a:ln w="9525">
            <a:solidFill>
              <a:srgbClr val="E0E7E4"/>
            </a:solidFill>
            <a:prstDash val="solid"/>
          </a:ln>
        </p:spPr>
        <p:txBody>
          <a:bodyPr/>
          <a:lstStyle/>
          <a:p>
            <a:endParaRPr lang="en-US"/>
          </a:p>
        </p:txBody>
      </p:sp>
      <p:sp>
        <p:nvSpPr>
          <p:cNvPr id="29" name="Rectangle 28">
            <a:extLst>
              <a:ext uri="{FF2B5EF4-FFF2-40B4-BE49-F238E27FC236}">
                <a16:creationId xmlns:a16="http://schemas.microsoft.com/office/drawing/2014/main" id="{4890F0DD-DEED-44FE-89F8-C0951FC33351}"/>
              </a:ext>
            </a:extLst>
          </p:cNvPr>
          <p:cNvSpPr>
            <a:spLocks noGrp="1"/>
          </p:cNvSpPr>
          <p:nvPr/>
        </p:nvSpPr>
        <p:spPr>
          <a:xfrm>
            <a:off x="6286500" y="3600450"/>
            <a:ext cx="2705100" cy="209550"/>
          </a:xfrm>
          <a:prstGeom prst="rect">
            <a:avLst/>
          </a:prstGeom>
        </p:spPr>
        <p:txBody>
          <a:bodyPr lIns="0" tIns="0" rIns="0" bIns="0"/>
          <a:lstStyle/>
          <a:p>
            <a:pPr>
              <a:defRPr sz="1275" b="0" i="0">
                <a:solidFill>
                  <a:srgbClr val="10242E"/>
                </a:solidFill>
              </a:defRPr>
            </a:pPr>
            <a:r>
              <a:rPr sz="1275" b="0" i="0">
                <a:solidFill>
                  <a:srgbClr val="10242E"/>
                </a:solidFill>
              </a:rPr>
              <a:t>bus-compatible operations</a:t>
            </a:r>
          </a:p>
        </p:txBody>
      </p:sp>
      <p:sp>
        <p:nvSpPr>
          <p:cNvPr id="30" name="Rectangle 29">
            <a:extLst>
              <a:ext uri="{FF2B5EF4-FFF2-40B4-BE49-F238E27FC236}">
                <a16:creationId xmlns:a16="http://schemas.microsoft.com/office/drawing/2014/main" id="{FDABEDC6-281C-4BF1-AD11-EB4616CA07B6}"/>
              </a:ext>
            </a:extLst>
          </p:cNvPr>
          <p:cNvSpPr>
            <a:spLocks noGrp="1"/>
          </p:cNvSpPr>
          <p:nvPr/>
        </p:nvSpPr>
        <p:spPr>
          <a:xfrm>
            <a:off x="1123950" y="4133850"/>
            <a:ext cx="6781800" cy="552450"/>
          </a:xfrm>
          <a:prstGeom prst="rect">
            <a:avLst/>
          </a:prstGeom>
        </p:spPr>
        <p:txBody>
          <a:bodyPr lIns="0" tIns="0" rIns="0" bIns="0"/>
          <a:lstStyle/>
          <a:p>
            <a:pPr>
              <a:defRPr sz="1800" b="0" i="0">
                <a:solidFill>
                  <a:srgbClr val="10242E"/>
                </a:solidFill>
              </a:defRPr>
            </a:pPr>
            <a:r>
              <a:rPr sz="1800" b="0" i="0">
                <a:solidFill>
                  <a:srgbClr val="10242E"/>
                </a:solidFill>
              </a:rPr>
              <a:t>Bus-only validation passed in Part 4: route API, cluster layer, and anomaly layer used only route types 701, 702, and 704.</a:t>
            </a:r>
          </a:p>
        </p:txBody>
      </p:sp>
      <p:sp>
        <p:nvSpPr>
          <p:cNvPr id="31" name="Rectangle 30">
            <a:extLst>
              <a:ext uri="{FF2B5EF4-FFF2-40B4-BE49-F238E27FC236}">
                <a16:creationId xmlns:a16="http://schemas.microsoft.com/office/drawing/2014/main" id="{393BD135-2403-473F-AB64-1B3976A4D921}"/>
              </a:ext>
            </a:extLst>
          </p:cNvPr>
          <p:cNvSpPr>
            <a:spLocks noGrp="1"/>
          </p:cNvSpPr>
          <p:nvPr/>
        </p:nvSpPr>
        <p:spPr>
          <a:xfrm>
            <a:off x="9544050" y="4210050"/>
            <a:ext cx="8020050" cy="628650"/>
          </a:xfrm>
          <a:prstGeom prst="rect">
            <a:avLst/>
          </a:prstGeom>
        </p:spPr>
        <p:txBody>
          <a:bodyPr lIns="0" tIns="0" rIns="0" bIns="0"/>
          <a:lstStyle/>
          <a:p>
            <a:pPr>
              <a:defRPr sz="4050" b="1" i="0">
                <a:solidFill>
                  <a:srgbClr val="1E5A64"/>
                </a:solidFill>
              </a:defRPr>
            </a:pPr>
            <a:r>
              <a:rPr sz="4050" b="1" i="0">
                <a:solidFill>
                  <a:srgbClr val="1E5A64"/>
                </a:solidFill>
              </a:rPr>
              <a:t>228</a:t>
            </a:r>
          </a:p>
        </p:txBody>
      </p:sp>
      <p:sp>
        <p:nvSpPr>
          <p:cNvPr id="32" name="Rectangle 31">
            <a:extLst>
              <a:ext uri="{FF2B5EF4-FFF2-40B4-BE49-F238E27FC236}">
                <a16:creationId xmlns:a16="http://schemas.microsoft.com/office/drawing/2014/main" id="{6B11FBB8-C823-402F-9CDB-A92501A5A7BC}"/>
              </a:ext>
            </a:extLst>
          </p:cNvPr>
          <p:cNvSpPr>
            <a:spLocks noGrp="1"/>
          </p:cNvSpPr>
          <p:nvPr/>
        </p:nvSpPr>
        <p:spPr>
          <a:xfrm>
            <a:off x="9544050" y="4895850"/>
            <a:ext cx="8020050" cy="228600"/>
          </a:xfrm>
          <a:prstGeom prst="rect">
            <a:avLst/>
          </a:prstGeom>
        </p:spPr>
        <p:txBody>
          <a:bodyPr lIns="0" tIns="0" rIns="0" bIns="0"/>
          <a:lstStyle/>
          <a:p>
            <a:pPr>
              <a:defRPr sz="1500" b="0" i="0">
                <a:solidFill>
                  <a:srgbClr val="5D6D76"/>
                </a:solidFill>
              </a:defRPr>
            </a:pPr>
            <a:r>
              <a:rPr sz="1500" b="0" i="0">
                <a:solidFill>
                  <a:srgbClr val="5D6D76"/>
                </a:solidFill>
              </a:rPr>
              <a:t>bus routes loaded in Part 4 route API snapshot</a:t>
            </a:r>
          </a:p>
        </p:txBody>
      </p:sp>
      <p:sp>
        <p:nvSpPr>
          <p:cNvPr id="33" name="Rectangle 32">
            <a:extLst>
              <a:ext uri="{FF2B5EF4-FFF2-40B4-BE49-F238E27FC236}">
                <a16:creationId xmlns:a16="http://schemas.microsoft.com/office/drawing/2014/main" id="{B962F055-49DA-4EB6-A6A1-0FFB01FFCD38}"/>
              </a:ext>
            </a:extLst>
          </p:cNvPr>
          <p:cNvSpPr>
            <a:spLocks noGrp="1"/>
          </p:cNvSpPr>
          <p:nvPr/>
        </p:nvSpPr>
        <p:spPr>
          <a:xfrm>
            <a:off x="9544050" y="5391150"/>
            <a:ext cx="8020050" cy="628650"/>
          </a:xfrm>
          <a:prstGeom prst="rect">
            <a:avLst/>
          </a:prstGeom>
        </p:spPr>
        <p:txBody>
          <a:bodyPr lIns="0" tIns="0" rIns="0" bIns="0"/>
          <a:lstStyle/>
          <a:p>
            <a:pPr>
              <a:defRPr sz="4050" b="1" i="0">
                <a:solidFill>
                  <a:srgbClr val="F39A1E"/>
                </a:solidFill>
              </a:defRPr>
            </a:pPr>
            <a:r>
              <a:rPr sz="4050" b="1" i="0">
                <a:solidFill>
                  <a:srgbClr val="F39A1E"/>
                </a:solidFill>
              </a:rPr>
              <a:t>6,000</a:t>
            </a:r>
          </a:p>
        </p:txBody>
      </p:sp>
      <p:sp>
        <p:nvSpPr>
          <p:cNvPr id="34" name="Rectangle 33">
            <a:extLst>
              <a:ext uri="{FF2B5EF4-FFF2-40B4-BE49-F238E27FC236}">
                <a16:creationId xmlns:a16="http://schemas.microsoft.com/office/drawing/2014/main" id="{81266B5B-B5F7-4B3C-AB1A-A4DDDEA94EA8}"/>
              </a:ext>
            </a:extLst>
          </p:cNvPr>
          <p:cNvSpPr>
            <a:spLocks noGrp="1"/>
          </p:cNvSpPr>
          <p:nvPr/>
        </p:nvSpPr>
        <p:spPr>
          <a:xfrm>
            <a:off x="9544050" y="6057900"/>
            <a:ext cx="8020050" cy="228600"/>
          </a:xfrm>
          <a:prstGeom prst="rect">
            <a:avLst/>
          </a:prstGeom>
        </p:spPr>
        <p:txBody>
          <a:bodyPr lIns="0" tIns="0" rIns="0" bIns="0"/>
          <a:lstStyle/>
          <a:p>
            <a:pPr>
              <a:defRPr sz="1500" b="0" i="0">
                <a:solidFill>
                  <a:srgbClr val="5D6D76"/>
                </a:solidFill>
              </a:defRPr>
            </a:pPr>
            <a:r>
              <a:rPr sz="1500" b="0" i="0">
                <a:solidFill>
                  <a:srgbClr val="5D6D76"/>
                </a:solidFill>
              </a:rPr>
              <a:t>latest bus cluster assignment rows</a:t>
            </a:r>
          </a:p>
        </p:txBody>
      </p:sp>
      <p:sp>
        <p:nvSpPr>
          <p:cNvPr id="35" name="Rectangle 34">
            <a:extLst>
              <a:ext uri="{FF2B5EF4-FFF2-40B4-BE49-F238E27FC236}">
                <a16:creationId xmlns:a16="http://schemas.microsoft.com/office/drawing/2014/main" id="{DC4458CD-32F9-4CD9-966D-7A43488C199A}"/>
              </a:ext>
            </a:extLst>
          </p:cNvPr>
          <p:cNvSpPr>
            <a:spLocks noGrp="1"/>
          </p:cNvSpPr>
          <p:nvPr/>
        </p:nvSpPr>
        <p:spPr>
          <a:xfrm>
            <a:off x="9544050" y="6553200"/>
            <a:ext cx="8020050" cy="628650"/>
          </a:xfrm>
          <a:prstGeom prst="rect">
            <a:avLst/>
          </a:prstGeom>
        </p:spPr>
        <p:txBody>
          <a:bodyPr lIns="0" tIns="0" rIns="0" bIns="0"/>
          <a:lstStyle/>
          <a:p>
            <a:pPr>
              <a:defRPr sz="4050" b="1" i="0">
                <a:solidFill>
                  <a:srgbClr val="D83B3E"/>
                </a:solidFill>
              </a:defRPr>
            </a:pPr>
            <a:r>
              <a:rPr sz="4050" b="1" i="0">
                <a:solidFill>
                  <a:srgbClr val="D83B3E"/>
                </a:solidFill>
              </a:rPr>
              <a:t>3,477</a:t>
            </a:r>
          </a:p>
        </p:txBody>
      </p:sp>
      <p:sp>
        <p:nvSpPr>
          <p:cNvPr id="36" name="Rectangle 35">
            <a:extLst>
              <a:ext uri="{FF2B5EF4-FFF2-40B4-BE49-F238E27FC236}">
                <a16:creationId xmlns:a16="http://schemas.microsoft.com/office/drawing/2014/main" id="{D5F656CD-EDE8-4AA8-8D7D-BB661E85B648}"/>
              </a:ext>
            </a:extLst>
          </p:cNvPr>
          <p:cNvSpPr>
            <a:spLocks noGrp="1"/>
          </p:cNvSpPr>
          <p:nvPr/>
        </p:nvSpPr>
        <p:spPr>
          <a:xfrm>
            <a:off x="9544050" y="7219950"/>
            <a:ext cx="8020050" cy="228600"/>
          </a:xfrm>
          <a:prstGeom prst="rect">
            <a:avLst/>
          </a:prstGeom>
        </p:spPr>
        <p:txBody>
          <a:bodyPr lIns="0" tIns="0" rIns="0" bIns="0"/>
          <a:lstStyle/>
          <a:p>
            <a:pPr>
              <a:defRPr sz="1500" b="0" i="0">
                <a:solidFill>
                  <a:srgbClr val="5D6D76"/>
                </a:solidFill>
              </a:defRPr>
            </a:pPr>
            <a:r>
              <a:rPr sz="1500" b="0" i="0">
                <a:solidFill>
                  <a:srgbClr val="5D6D76"/>
                </a:solidFill>
              </a:rPr>
              <a:t>latest bus anomaly rows</a:t>
            </a:r>
          </a:p>
        </p:txBody>
      </p:sp>
      <p:sp>
        <p:nvSpPr>
          <p:cNvPr id="37" name="source">
            <a:extLst>
              <a:ext uri="{FF2B5EF4-FFF2-40B4-BE49-F238E27FC236}">
                <a16:creationId xmlns:a16="http://schemas.microsoft.com/office/drawing/2014/main" id="{E421E843-B5F0-4829-844F-26730491E6F5}"/>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1284555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40" name="bg">
            <a:extLst>
              <a:ext uri="{FF2B5EF4-FFF2-40B4-BE49-F238E27FC236}">
                <a16:creationId xmlns:a16="http://schemas.microsoft.com/office/drawing/2014/main" id="{EEF81114-D4BA-4AC1-920D-36C7ABAE149D}"/>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BDDB60D6-653A-42ED-9747-36C332C69F17}"/>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B7F80382-9D6C-4E8D-80FC-39F143E52ACD}"/>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64F453DE-3A46-49FA-AAD0-5C0F66E40EA9}"/>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End-to-end architecture</a:t>
            </a:r>
          </a:p>
        </p:txBody>
      </p:sp>
      <p:sp>
        <p:nvSpPr>
          <p:cNvPr id="5" name="slide-subtitle">
            <a:extLst>
              <a:ext uri="{FF2B5EF4-FFF2-40B4-BE49-F238E27FC236}">
                <a16:creationId xmlns:a16="http://schemas.microsoft.com/office/drawing/2014/main" id="{A7827FC2-8A3C-4AE4-B123-FE4BDA9ACAC9}"/>
              </a:ext>
            </a:extLst>
          </p:cNvPr>
          <p:cNvSpPr>
            <a:spLocks noGrp="1"/>
          </p:cNvSpPr>
          <p:nvPr/>
        </p:nvSpPr>
        <p:spPr>
          <a:xfrm>
            <a:off x="1123950" y="1657350"/>
            <a:ext cx="12001500" cy="571500"/>
          </a:xfrm>
          <a:prstGeom prst="rect">
            <a:avLst/>
          </a:prstGeom>
        </p:spPr>
        <p:txBody>
          <a:bodyPr lIns="0" tIns="0" rIns="0" bIns="0"/>
          <a:lstStyle/>
          <a:p>
            <a:pPr>
              <a:defRPr sz="1875" b="0" i="0">
                <a:solidFill>
                  <a:srgbClr val="5D6D76"/>
                </a:solidFill>
              </a:defRPr>
            </a:pPr>
            <a:r>
              <a:rPr sz="1875" b="0" i="0">
                <a:solidFill>
                  <a:srgbClr val="5D6D76"/>
                </a:solidFill>
              </a:rPr>
              <a:t>The system is modular: ingestion stores raw data, feature engineering creates model windows, models save outputs, and the dashboard reads from APIs.</a:t>
            </a:r>
          </a:p>
        </p:txBody>
      </p:sp>
      <p:sp>
        <p:nvSpPr>
          <p:cNvPr id="6" name="Rectangle: Rounded Corners 5">
            <a:extLst>
              <a:ext uri="{FF2B5EF4-FFF2-40B4-BE49-F238E27FC236}">
                <a16:creationId xmlns:a16="http://schemas.microsoft.com/office/drawing/2014/main" id="{D869A445-3680-4E55-87AF-5D6DF7C554A1}"/>
              </a:ext>
            </a:extLst>
          </p:cNvPr>
          <p:cNvSpPr>
            <a:spLocks noGrp="1"/>
          </p:cNvSpPr>
          <p:nvPr/>
        </p:nvSpPr>
        <p:spPr>
          <a:xfrm>
            <a:off x="1123950" y="31432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7" name="Rectangle 6">
            <a:extLst>
              <a:ext uri="{FF2B5EF4-FFF2-40B4-BE49-F238E27FC236}">
                <a16:creationId xmlns:a16="http://schemas.microsoft.com/office/drawing/2014/main" id="{F7A69F4C-8A25-4F4E-986B-272E1C9796B2}"/>
              </a:ext>
            </a:extLst>
          </p:cNvPr>
          <p:cNvSpPr>
            <a:spLocks noGrp="1"/>
          </p:cNvSpPr>
          <p:nvPr/>
        </p:nvSpPr>
        <p:spPr>
          <a:xfrm>
            <a:off x="1333500" y="3314700"/>
            <a:ext cx="4248150" cy="285750"/>
          </a:xfrm>
          <a:prstGeom prst="rect">
            <a:avLst/>
          </a:prstGeom>
        </p:spPr>
        <p:txBody>
          <a:bodyPr lIns="0" tIns="0" rIns="0" bIns="0"/>
          <a:lstStyle/>
          <a:p>
            <a:pPr>
              <a:defRPr sz="1875" b="1" i="0">
                <a:solidFill>
                  <a:srgbClr val="1E5A64"/>
                </a:solidFill>
              </a:defRPr>
            </a:pPr>
            <a:r>
              <a:rPr sz="1875" b="1" i="0">
                <a:solidFill>
                  <a:srgbClr val="1E5A64"/>
                </a:solidFill>
              </a:rPr>
              <a:t>Static GTFS</a:t>
            </a:r>
          </a:p>
        </p:txBody>
      </p:sp>
      <p:sp>
        <p:nvSpPr>
          <p:cNvPr id="8" name="Rectangle 7">
            <a:extLst>
              <a:ext uri="{FF2B5EF4-FFF2-40B4-BE49-F238E27FC236}">
                <a16:creationId xmlns:a16="http://schemas.microsoft.com/office/drawing/2014/main" id="{1A4DDBB7-3CCC-4059-AC60-17BB6888667D}"/>
              </a:ext>
            </a:extLst>
          </p:cNvPr>
          <p:cNvSpPr>
            <a:spLocks noGrp="1"/>
          </p:cNvSpPr>
          <p:nvPr/>
        </p:nvSpPr>
        <p:spPr>
          <a:xfrm>
            <a:off x="1333500" y="3657600"/>
            <a:ext cx="4248150" cy="209550"/>
          </a:xfrm>
          <a:prstGeom prst="rect">
            <a:avLst/>
          </a:prstGeom>
        </p:spPr>
        <p:txBody>
          <a:bodyPr lIns="0" tIns="0" rIns="0" bIns="0"/>
          <a:lstStyle/>
          <a:p>
            <a:pPr>
              <a:defRPr sz="1350" b="0" i="0">
                <a:solidFill>
                  <a:srgbClr val="5D6D76"/>
                </a:solidFill>
              </a:defRPr>
            </a:pPr>
            <a:r>
              <a:rPr sz="1350" b="0" i="0">
                <a:solidFill>
                  <a:srgbClr val="5D6D76"/>
                </a:solidFill>
              </a:rPr>
              <a:t>routes, trips, stops, shapes</a:t>
            </a:r>
          </a:p>
        </p:txBody>
      </p:sp>
      <p:sp>
        <p:nvSpPr>
          <p:cNvPr id="9" name="Rectangle 8">
            <a:extLst>
              <a:ext uri="{FF2B5EF4-FFF2-40B4-BE49-F238E27FC236}">
                <a16:creationId xmlns:a16="http://schemas.microsoft.com/office/drawing/2014/main" id="{799D7368-ADCE-42E6-B5E7-9A4C7AFD2463}"/>
              </a:ext>
            </a:extLst>
          </p:cNvPr>
          <p:cNvSpPr>
            <a:spLocks noGrp="1"/>
          </p:cNvSpPr>
          <p:nvPr/>
        </p:nvSpPr>
        <p:spPr>
          <a:xfrm>
            <a:off x="5886450" y="3333750"/>
            <a:ext cx="1028700" cy="495300"/>
          </a:xfrm>
          <a:prstGeom prst="rect">
            <a:avLst/>
          </a:prstGeom>
        </p:spPr>
        <p:txBody>
          <a:bodyPr lIns="0" tIns="0" rIns="0" bIns="0"/>
          <a:lstStyle/>
          <a:p>
            <a:pPr>
              <a:defRPr sz="3150" b="1" i="0">
                <a:solidFill>
                  <a:srgbClr val="48B8C7"/>
                </a:solidFill>
              </a:defRPr>
            </a:pPr>
            <a:r>
              <a:rPr sz="3150" b="1" i="0">
                <a:solidFill>
                  <a:srgbClr val="48B8C7"/>
                </a:solidFill>
              </a:rPr>
              <a:t>→</a:t>
            </a:r>
          </a:p>
        </p:txBody>
      </p:sp>
      <p:sp>
        <p:nvSpPr>
          <p:cNvPr id="10" name="Rectangle: Rounded Corners 9">
            <a:extLst>
              <a:ext uri="{FF2B5EF4-FFF2-40B4-BE49-F238E27FC236}">
                <a16:creationId xmlns:a16="http://schemas.microsoft.com/office/drawing/2014/main" id="{777101FC-B9B1-497A-90D6-A5775F8CCFA5}"/>
              </a:ext>
            </a:extLst>
          </p:cNvPr>
          <p:cNvSpPr>
            <a:spLocks noGrp="1"/>
          </p:cNvSpPr>
          <p:nvPr/>
        </p:nvSpPr>
        <p:spPr>
          <a:xfrm>
            <a:off x="7003090" y="31432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11" name="Rectangle 10">
            <a:extLst>
              <a:ext uri="{FF2B5EF4-FFF2-40B4-BE49-F238E27FC236}">
                <a16:creationId xmlns:a16="http://schemas.microsoft.com/office/drawing/2014/main" id="{04719EED-6A68-465F-90FD-4BA68D42863C}"/>
              </a:ext>
            </a:extLst>
          </p:cNvPr>
          <p:cNvSpPr>
            <a:spLocks noGrp="1"/>
          </p:cNvSpPr>
          <p:nvPr/>
        </p:nvSpPr>
        <p:spPr>
          <a:xfrm>
            <a:off x="7219950" y="3314700"/>
            <a:ext cx="4248150" cy="285750"/>
          </a:xfrm>
          <a:prstGeom prst="rect">
            <a:avLst/>
          </a:prstGeom>
        </p:spPr>
        <p:txBody>
          <a:bodyPr lIns="0" tIns="0" rIns="0" bIns="0"/>
          <a:lstStyle/>
          <a:p>
            <a:pPr>
              <a:defRPr sz="1875" b="1" i="0">
                <a:solidFill>
                  <a:srgbClr val="1E5A64"/>
                </a:solidFill>
              </a:defRPr>
            </a:pPr>
            <a:r>
              <a:rPr sz="1875" b="1" i="0">
                <a:solidFill>
                  <a:srgbClr val="1E5A64"/>
                </a:solidFill>
              </a:rPr>
              <a:t>PostgreSQL + PostGIS</a:t>
            </a:r>
          </a:p>
        </p:txBody>
      </p:sp>
      <p:sp>
        <p:nvSpPr>
          <p:cNvPr id="12" name="Rectangle 11">
            <a:extLst>
              <a:ext uri="{FF2B5EF4-FFF2-40B4-BE49-F238E27FC236}">
                <a16:creationId xmlns:a16="http://schemas.microsoft.com/office/drawing/2014/main" id="{36C90A90-5326-4146-A351-25A04FAC228C}"/>
              </a:ext>
            </a:extLst>
          </p:cNvPr>
          <p:cNvSpPr>
            <a:spLocks noGrp="1"/>
          </p:cNvSpPr>
          <p:nvPr/>
        </p:nvSpPr>
        <p:spPr>
          <a:xfrm>
            <a:off x="7219950" y="3657600"/>
            <a:ext cx="4248150" cy="209550"/>
          </a:xfrm>
          <a:prstGeom prst="rect">
            <a:avLst/>
          </a:prstGeom>
        </p:spPr>
        <p:txBody>
          <a:bodyPr lIns="0" tIns="0" rIns="0" bIns="0"/>
          <a:lstStyle/>
          <a:p>
            <a:pPr>
              <a:defRPr sz="1350" b="0" i="0">
                <a:solidFill>
                  <a:srgbClr val="5D6D76"/>
                </a:solidFill>
              </a:defRPr>
            </a:pPr>
            <a:r>
              <a:rPr sz="1350" b="0" i="0">
                <a:solidFill>
                  <a:srgbClr val="5D6D76"/>
                </a:solidFill>
              </a:rPr>
              <a:t>relational + spatial storage</a:t>
            </a:r>
          </a:p>
        </p:txBody>
      </p:sp>
      <p:sp>
        <p:nvSpPr>
          <p:cNvPr id="13" name="Rectangle 12">
            <a:extLst>
              <a:ext uri="{FF2B5EF4-FFF2-40B4-BE49-F238E27FC236}">
                <a16:creationId xmlns:a16="http://schemas.microsoft.com/office/drawing/2014/main" id="{BB805D02-0109-4709-8EA2-1734E609CA33}"/>
              </a:ext>
            </a:extLst>
          </p:cNvPr>
          <p:cNvSpPr>
            <a:spLocks noGrp="1"/>
          </p:cNvSpPr>
          <p:nvPr/>
        </p:nvSpPr>
        <p:spPr>
          <a:xfrm>
            <a:off x="11753850" y="3333750"/>
            <a:ext cx="1028700" cy="495300"/>
          </a:xfrm>
          <a:prstGeom prst="rect">
            <a:avLst/>
          </a:prstGeom>
        </p:spPr>
        <p:txBody>
          <a:bodyPr lIns="0" tIns="0" rIns="0" bIns="0"/>
          <a:lstStyle/>
          <a:p>
            <a:pPr>
              <a:defRPr sz="3150" b="1" i="0">
                <a:solidFill>
                  <a:srgbClr val="48B8C7"/>
                </a:solidFill>
              </a:defRPr>
            </a:pPr>
            <a:r>
              <a:rPr sz="3150" b="1" i="0">
                <a:solidFill>
                  <a:srgbClr val="48B8C7"/>
                </a:solidFill>
              </a:rPr>
              <a:t>→</a:t>
            </a:r>
          </a:p>
        </p:txBody>
      </p:sp>
      <p:sp>
        <p:nvSpPr>
          <p:cNvPr id="14" name="Rectangle: Rounded Corners 13">
            <a:extLst>
              <a:ext uri="{FF2B5EF4-FFF2-40B4-BE49-F238E27FC236}">
                <a16:creationId xmlns:a16="http://schemas.microsoft.com/office/drawing/2014/main" id="{C3C4A428-7A17-4044-9F26-7019DB36B007}"/>
              </a:ext>
            </a:extLst>
          </p:cNvPr>
          <p:cNvSpPr>
            <a:spLocks noGrp="1"/>
          </p:cNvSpPr>
          <p:nvPr/>
        </p:nvSpPr>
        <p:spPr>
          <a:xfrm>
            <a:off x="12882230" y="31432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15" name="Rectangle 14">
            <a:extLst>
              <a:ext uri="{FF2B5EF4-FFF2-40B4-BE49-F238E27FC236}">
                <a16:creationId xmlns:a16="http://schemas.microsoft.com/office/drawing/2014/main" id="{4667C9FF-EDA7-4DD3-9CFF-4392729E8030}"/>
              </a:ext>
            </a:extLst>
          </p:cNvPr>
          <p:cNvSpPr>
            <a:spLocks noGrp="1"/>
          </p:cNvSpPr>
          <p:nvPr/>
        </p:nvSpPr>
        <p:spPr>
          <a:xfrm>
            <a:off x="13087350" y="3314700"/>
            <a:ext cx="4248150" cy="285750"/>
          </a:xfrm>
          <a:prstGeom prst="rect">
            <a:avLst/>
          </a:prstGeom>
        </p:spPr>
        <p:txBody>
          <a:bodyPr lIns="0" tIns="0" rIns="0" bIns="0"/>
          <a:lstStyle/>
          <a:p>
            <a:pPr>
              <a:defRPr sz="1875" b="1" i="0">
                <a:solidFill>
                  <a:srgbClr val="1E5A64"/>
                </a:solidFill>
              </a:defRPr>
            </a:pPr>
            <a:r>
              <a:rPr sz="1875" b="1" i="0">
                <a:solidFill>
                  <a:srgbClr val="1E5A64"/>
                </a:solidFill>
              </a:rPr>
              <a:t>Feature windows</a:t>
            </a:r>
          </a:p>
        </p:txBody>
      </p:sp>
      <p:sp>
        <p:nvSpPr>
          <p:cNvPr id="16" name="Rectangle 15">
            <a:extLst>
              <a:ext uri="{FF2B5EF4-FFF2-40B4-BE49-F238E27FC236}">
                <a16:creationId xmlns:a16="http://schemas.microsoft.com/office/drawing/2014/main" id="{ADE70B71-B7E3-42C7-A724-EE4C5C4B8045}"/>
              </a:ext>
            </a:extLst>
          </p:cNvPr>
          <p:cNvSpPr>
            <a:spLocks noGrp="1"/>
          </p:cNvSpPr>
          <p:nvPr/>
        </p:nvSpPr>
        <p:spPr>
          <a:xfrm>
            <a:off x="13087350" y="3657600"/>
            <a:ext cx="4248150" cy="209550"/>
          </a:xfrm>
          <a:prstGeom prst="rect">
            <a:avLst/>
          </a:prstGeom>
        </p:spPr>
        <p:txBody>
          <a:bodyPr lIns="0" tIns="0" rIns="0" bIns="0"/>
          <a:lstStyle/>
          <a:p>
            <a:pPr>
              <a:defRPr sz="1350" b="0" i="0">
                <a:solidFill>
                  <a:srgbClr val="5D6D76"/>
                </a:solidFill>
              </a:defRPr>
            </a:pPr>
            <a:r>
              <a:rPr sz="1350" b="0" i="0">
                <a:solidFill>
                  <a:srgbClr val="5D6D76"/>
                </a:solidFill>
              </a:rPr>
              <a:t>route-stop-hour reliability rows</a:t>
            </a:r>
          </a:p>
        </p:txBody>
      </p:sp>
      <p:sp>
        <p:nvSpPr>
          <p:cNvPr id="17" name="Rectangle: Rounded Corners 16">
            <a:extLst>
              <a:ext uri="{FF2B5EF4-FFF2-40B4-BE49-F238E27FC236}">
                <a16:creationId xmlns:a16="http://schemas.microsoft.com/office/drawing/2014/main" id="{FDA58378-9F8F-415B-93B4-CB9357924DAD}"/>
              </a:ext>
            </a:extLst>
          </p:cNvPr>
          <p:cNvSpPr>
            <a:spLocks noGrp="1"/>
          </p:cNvSpPr>
          <p:nvPr/>
        </p:nvSpPr>
        <p:spPr>
          <a:xfrm>
            <a:off x="1123950" y="55435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18" name="Rectangle 17">
            <a:extLst>
              <a:ext uri="{FF2B5EF4-FFF2-40B4-BE49-F238E27FC236}">
                <a16:creationId xmlns:a16="http://schemas.microsoft.com/office/drawing/2014/main" id="{4F4571D1-03B9-4D3A-9E88-620F7ACB6835}"/>
              </a:ext>
            </a:extLst>
          </p:cNvPr>
          <p:cNvSpPr>
            <a:spLocks noGrp="1"/>
          </p:cNvSpPr>
          <p:nvPr/>
        </p:nvSpPr>
        <p:spPr>
          <a:xfrm>
            <a:off x="1333500" y="5715000"/>
            <a:ext cx="4248150" cy="285750"/>
          </a:xfrm>
          <a:prstGeom prst="rect">
            <a:avLst/>
          </a:prstGeom>
        </p:spPr>
        <p:txBody>
          <a:bodyPr lIns="0" tIns="0" rIns="0" bIns="0"/>
          <a:lstStyle/>
          <a:p>
            <a:pPr>
              <a:defRPr sz="1875" b="1" i="0">
                <a:solidFill>
                  <a:srgbClr val="F39A1E"/>
                </a:solidFill>
              </a:defRPr>
            </a:pPr>
            <a:r>
              <a:rPr sz="1875" b="1" i="0">
                <a:solidFill>
                  <a:srgbClr val="F39A1E"/>
                </a:solidFill>
              </a:rPr>
              <a:t>GTFS-RT</a:t>
            </a:r>
          </a:p>
        </p:txBody>
      </p:sp>
      <p:sp>
        <p:nvSpPr>
          <p:cNvPr id="19" name="Rectangle 18">
            <a:extLst>
              <a:ext uri="{FF2B5EF4-FFF2-40B4-BE49-F238E27FC236}">
                <a16:creationId xmlns:a16="http://schemas.microsoft.com/office/drawing/2014/main" id="{590CB325-F24C-427F-9289-04FEF7F97413}"/>
              </a:ext>
            </a:extLst>
          </p:cNvPr>
          <p:cNvSpPr>
            <a:spLocks noGrp="1"/>
          </p:cNvSpPr>
          <p:nvPr/>
        </p:nvSpPr>
        <p:spPr>
          <a:xfrm>
            <a:off x="1333500" y="6057900"/>
            <a:ext cx="4248150" cy="209550"/>
          </a:xfrm>
          <a:prstGeom prst="rect">
            <a:avLst/>
          </a:prstGeom>
        </p:spPr>
        <p:txBody>
          <a:bodyPr lIns="0" tIns="0" rIns="0" bIns="0"/>
          <a:lstStyle/>
          <a:p>
            <a:pPr>
              <a:defRPr sz="1350" b="0" i="0">
                <a:solidFill>
                  <a:srgbClr val="5D6D76"/>
                </a:solidFill>
              </a:defRPr>
            </a:pPr>
            <a:r>
              <a:rPr sz="1350" b="0" i="0">
                <a:solidFill>
                  <a:srgbClr val="5D6D76"/>
                </a:solidFill>
              </a:rPr>
              <a:t>vehicles + trip updates</a:t>
            </a:r>
          </a:p>
        </p:txBody>
      </p:sp>
      <p:sp>
        <p:nvSpPr>
          <p:cNvPr id="20" name="Rectangle 19">
            <a:extLst>
              <a:ext uri="{FF2B5EF4-FFF2-40B4-BE49-F238E27FC236}">
                <a16:creationId xmlns:a16="http://schemas.microsoft.com/office/drawing/2014/main" id="{FE880A4E-CAEC-4BD8-8D2A-3AA36BDB71F5}"/>
              </a:ext>
            </a:extLst>
          </p:cNvPr>
          <p:cNvSpPr>
            <a:spLocks noGrp="1"/>
          </p:cNvSpPr>
          <p:nvPr/>
        </p:nvSpPr>
        <p:spPr>
          <a:xfrm>
            <a:off x="5886450" y="5734050"/>
            <a:ext cx="1028700" cy="495300"/>
          </a:xfrm>
          <a:prstGeom prst="rect">
            <a:avLst/>
          </a:prstGeom>
        </p:spPr>
        <p:txBody>
          <a:bodyPr lIns="0" tIns="0" rIns="0" bIns="0"/>
          <a:lstStyle/>
          <a:p>
            <a:pPr>
              <a:defRPr sz="3150" b="1" i="0">
                <a:solidFill>
                  <a:srgbClr val="F39A1E"/>
                </a:solidFill>
              </a:defRPr>
            </a:pPr>
            <a:r>
              <a:rPr sz="3150" b="1" i="0">
                <a:solidFill>
                  <a:srgbClr val="F39A1E"/>
                </a:solidFill>
              </a:rPr>
              <a:t>→</a:t>
            </a:r>
          </a:p>
        </p:txBody>
      </p:sp>
      <p:sp>
        <p:nvSpPr>
          <p:cNvPr id="21" name="Rectangle: Rounded Corners 20">
            <a:extLst>
              <a:ext uri="{FF2B5EF4-FFF2-40B4-BE49-F238E27FC236}">
                <a16:creationId xmlns:a16="http://schemas.microsoft.com/office/drawing/2014/main" id="{D45231CF-1369-4F96-913A-1BD54CE2B49A}"/>
              </a:ext>
            </a:extLst>
          </p:cNvPr>
          <p:cNvSpPr>
            <a:spLocks noGrp="1"/>
          </p:cNvSpPr>
          <p:nvPr/>
        </p:nvSpPr>
        <p:spPr>
          <a:xfrm>
            <a:off x="7003090" y="55435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22" name="Rectangle 21">
            <a:extLst>
              <a:ext uri="{FF2B5EF4-FFF2-40B4-BE49-F238E27FC236}">
                <a16:creationId xmlns:a16="http://schemas.microsoft.com/office/drawing/2014/main" id="{6AD4062B-FAE9-4614-9C3E-121134B7DA3E}"/>
              </a:ext>
            </a:extLst>
          </p:cNvPr>
          <p:cNvSpPr>
            <a:spLocks noGrp="1"/>
          </p:cNvSpPr>
          <p:nvPr/>
        </p:nvSpPr>
        <p:spPr>
          <a:xfrm>
            <a:off x="7219950" y="5715000"/>
            <a:ext cx="4248150" cy="285750"/>
          </a:xfrm>
          <a:prstGeom prst="rect">
            <a:avLst/>
          </a:prstGeom>
        </p:spPr>
        <p:txBody>
          <a:bodyPr lIns="0" tIns="0" rIns="0" bIns="0"/>
          <a:lstStyle/>
          <a:p>
            <a:pPr>
              <a:defRPr sz="1875" b="1" i="0">
                <a:solidFill>
                  <a:srgbClr val="F39A1E"/>
                </a:solidFill>
              </a:defRPr>
            </a:pPr>
            <a:r>
              <a:rPr sz="1875" b="1" i="0">
                <a:solidFill>
                  <a:srgbClr val="F39A1E"/>
                </a:solidFill>
              </a:rPr>
              <a:t>Timescale history</a:t>
            </a:r>
          </a:p>
        </p:txBody>
      </p:sp>
      <p:sp>
        <p:nvSpPr>
          <p:cNvPr id="23" name="Rectangle 22">
            <a:extLst>
              <a:ext uri="{FF2B5EF4-FFF2-40B4-BE49-F238E27FC236}">
                <a16:creationId xmlns:a16="http://schemas.microsoft.com/office/drawing/2014/main" id="{C561E8D5-D310-494F-949D-6A69AF1533FA}"/>
              </a:ext>
            </a:extLst>
          </p:cNvPr>
          <p:cNvSpPr>
            <a:spLocks noGrp="1"/>
          </p:cNvSpPr>
          <p:nvPr/>
        </p:nvSpPr>
        <p:spPr>
          <a:xfrm>
            <a:off x="7219950" y="6057900"/>
            <a:ext cx="4248150" cy="209550"/>
          </a:xfrm>
          <a:prstGeom prst="rect">
            <a:avLst/>
          </a:prstGeom>
        </p:spPr>
        <p:txBody>
          <a:bodyPr lIns="0" tIns="0" rIns="0" bIns="0"/>
          <a:lstStyle/>
          <a:p>
            <a:pPr>
              <a:defRPr sz="1350" b="0" i="0">
                <a:solidFill>
                  <a:srgbClr val="5D6D76"/>
                </a:solidFill>
              </a:defRPr>
            </a:pPr>
            <a:r>
              <a:rPr sz="1350" b="0" i="0">
                <a:solidFill>
                  <a:srgbClr val="5D6D76"/>
                </a:solidFill>
              </a:rPr>
              <a:t>high-volume realtime snapshots</a:t>
            </a:r>
          </a:p>
        </p:txBody>
      </p:sp>
      <p:sp>
        <p:nvSpPr>
          <p:cNvPr id="24" name="Rectangle 23">
            <a:extLst>
              <a:ext uri="{FF2B5EF4-FFF2-40B4-BE49-F238E27FC236}">
                <a16:creationId xmlns:a16="http://schemas.microsoft.com/office/drawing/2014/main" id="{86EED767-0478-4720-B637-2CE0D4DAC40C}"/>
              </a:ext>
            </a:extLst>
          </p:cNvPr>
          <p:cNvSpPr>
            <a:spLocks noGrp="1"/>
          </p:cNvSpPr>
          <p:nvPr/>
        </p:nvSpPr>
        <p:spPr>
          <a:xfrm>
            <a:off x="11753850" y="5734050"/>
            <a:ext cx="1028700" cy="495300"/>
          </a:xfrm>
          <a:prstGeom prst="rect">
            <a:avLst/>
          </a:prstGeom>
        </p:spPr>
        <p:txBody>
          <a:bodyPr lIns="0" tIns="0" rIns="0" bIns="0"/>
          <a:lstStyle/>
          <a:p>
            <a:pPr>
              <a:defRPr sz="3150" b="1" i="0">
                <a:solidFill>
                  <a:srgbClr val="F39A1E"/>
                </a:solidFill>
              </a:defRPr>
            </a:pPr>
            <a:r>
              <a:rPr sz="3150" b="1" i="0">
                <a:solidFill>
                  <a:srgbClr val="F39A1E"/>
                </a:solidFill>
              </a:rPr>
              <a:t>→</a:t>
            </a:r>
          </a:p>
        </p:txBody>
      </p:sp>
      <p:sp>
        <p:nvSpPr>
          <p:cNvPr id="25" name="Rectangle: Rounded Corners 24">
            <a:extLst>
              <a:ext uri="{FF2B5EF4-FFF2-40B4-BE49-F238E27FC236}">
                <a16:creationId xmlns:a16="http://schemas.microsoft.com/office/drawing/2014/main" id="{C41882B5-8D33-4485-B333-09B8D613F8FF}"/>
              </a:ext>
            </a:extLst>
          </p:cNvPr>
          <p:cNvSpPr>
            <a:spLocks noGrp="1"/>
          </p:cNvSpPr>
          <p:nvPr/>
        </p:nvSpPr>
        <p:spPr>
          <a:xfrm>
            <a:off x="12882230" y="55435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26" name="Rectangle 25">
            <a:extLst>
              <a:ext uri="{FF2B5EF4-FFF2-40B4-BE49-F238E27FC236}">
                <a16:creationId xmlns:a16="http://schemas.microsoft.com/office/drawing/2014/main" id="{59158AF3-063E-4560-86C2-E461BD6A7321}"/>
              </a:ext>
            </a:extLst>
          </p:cNvPr>
          <p:cNvSpPr>
            <a:spLocks noGrp="1"/>
          </p:cNvSpPr>
          <p:nvPr/>
        </p:nvSpPr>
        <p:spPr>
          <a:xfrm>
            <a:off x="13087350" y="5715000"/>
            <a:ext cx="4248150" cy="285750"/>
          </a:xfrm>
          <a:prstGeom prst="rect">
            <a:avLst/>
          </a:prstGeom>
        </p:spPr>
        <p:txBody>
          <a:bodyPr lIns="0" tIns="0" rIns="0" bIns="0"/>
          <a:lstStyle/>
          <a:p>
            <a:pPr>
              <a:defRPr sz="1875" b="1" i="0">
                <a:solidFill>
                  <a:srgbClr val="F39A1E"/>
                </a:solidFill>
              </a:defRPr>
            </a:pPr>
            <a:r>
              <a:rPr sz="1875" b="1" i="0">
                <a:solidFill>
                  <a:srgbClr val="F39A1E"/>
                </a:solidFill>
              </a:rPr>
              <a:t>Models</a:t>
            </a:r>
          </a:p>
        </p:txBody>
      </p:sp>
      <p:sp>
        <p:nvSpPr>
          <p:cNvPr id="27" name="Rectangle 26">
            <a:extLst>
              <a:ext uri="{FF2B5EF4-FFF2-40B4-BE49-F238E27FC236}">
                <a16:creationId xmlns:a16="http://schemas.microsoft.com/office/drawing/2014/main" id="{BCF5C2EB-D19E-4A51-B582-F04D07D0B5C4}"/>
              </a:ext>
            </a:extLst>
          </p:cNvPr>
          <p:cNvSpPr>
            <a:spLocks noGrp="1"/>
          </p:cNvSpPr>
          <p:nvPr/>
        </p:nvSpPr>
        <p:spPr>
          <a:xfrm>
            <a:off x="13087350" y="6057900"/>
            <a:ext cx="4248150" cy="209550"/>
          </a:xfrm>
          <a:prstGeom prst="rect">
            <a:avLst/>
          </a:prstGeom>
        </p:spPr>
        <p:txBody>
          <a:bodyPr lIns="0" tIns="0" rIns="0" bIns="0"/>
          <a:lstStyle/>
          <a:p>
            <a:pPr>
              <a:defRPr sz="1350" b="0" i="0">
                <a:solidFill>
                  <a:srgbClr val="5D6D76"/>
                </a:solidFill>
              </a:defRPr>
            </a:pPr>
            <a:r>
              <a:rPr sz="1350" b="0" i="0">
                <a:solidFill>
                  <a:srgbClr val="5D6D76"/>
                </a:solidFill>
              </a:rPr>
              <a:t>KMeans, DBSCAN, IF, LOF</a:t>
            </a:r>
          </a:p>
        </p:txBody>
      </p:sp>
      <p:sp>
        <p:nvSpPr>
          <p:cNvPr id="28" name="Rectangle: Rounded Corners 27">
            <a:extLst>
              <a:ext uri="{FF2B5EF4-FFF2-40B4-BE49-F238E27FC236}">
                <a16:creationId xmlns:a16="http://schemas.microsoft.com/office/drawing/2014/main" id="{DDCCBD79-B02C-419C-B430-56CA31610771}"/>
              </a:ext>
            </a:extLst>
          </p:cNvPr>
          <p:cNvSpPr>
            <a:spLocks noGrp="1"/>
          </p:cNvSpPr>
          <p:nvPr/>
        </p:nvSpPr>
        <p:spPr>
          <a:xfrm>
            <a:off x="1123950" y="79438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29" name="Rectangle 28">
            <a:extLst>
              <a:ext uri="{FF2B5EF4-FFF2-40B4-BE49-F238E27FC236}">
                <a16:creationId xmlns:a16="http://schemas.microsoft.com/office/drawing/2014/main" id="{E67620A1-BB96-4CE2-A8A9-6EEFCC5F2528}"/>
              </a:ext>
            </a:extLst>
          </p:cNvPr>
          <p:cNvSpPr>
            <a:spLocks noGrp="1"/>
          </p:cNvSpPr>
          <p:nvPr/>
        </p:nvSpPr>
        <p:spPr>
          <a:xfrm>
            <a:off x="1333500" y="8115300"/>
            <a:ext cx="4248150" cy="285750"/>
          </a:xfrm>
          <a:prstGeom prst="rect">
            <a:avLst/>
          </a:prstGeom>
        </p:spPr>
        <p:txBody>
          <a:bodyPr lIns="0" tIns="0" rIns="0" bIns="0"/>
          <a:lstStyle/>
          <a:p>
            <a:pPr>
              <a:defRPr sz="1875" b="1" i="0">
                <a:solidFill>
                  <a:srgbClr val="326DFF"/>
                </a:solidFill>
              </a:defRPr>
            </a:pPr>
            <a:r>
              <a:rPr sz="1875" b="1" i="0">
                <a:solidFill>
                  <a:srgbClr val="326DFF"/>
                </a:solidFill>
              </a:rPr>
              <a:t>FastAPI</a:t>
            </a:r>
          </a:p>
        </p:txBody>
      </p:sp>
      <p:sp>
        <p:nvSpPr>
          <p:cNvPr id="30" name="Rectangle 29">
            <a:extLst>
              <a:ext uri="{FF2B5EF4-FFF2-40B4-BE49-F238E27FC236}">
                <a16:creationId xmlns:a16="http://schemas.microsoft.com/office/drawing/2014/main" id="{5F49405D-8150-41D9-BADE-EA5AE22E94A4}"/>
              </a:ext>
            </a:extLst>
          </p:cNvPr>
          <p:cNvSpPr>
            <a:spLocks noGrp="1"/>
          </p:cNvSpPr>
          <p:nvPr/>
        </p:nvSpPr>
        <p:spPr>
          <a:xfrm>
            <a:off x="1333500" y="8458200"/>
            <a:ext cx="4248150" cy="209550"/>
          </a:xfrm>
          <a:prstGeom prst="rect">
            <a:avLst/>
          </a:prstGeom>
        </p:spPr>
        <p:txBody>
          <a:bodyPr lIns="0" tIns="0" rIns="0" bIns="0"/>
          <a:lstStyle/>
          <a:p>
            <a:pPr>
              <a:defRPr sz="1350" b="0" i="0">
                <a:solidFill>
                  <a:srgbClr val="5D6D76"/>
                </a:solidFill>
              </a:defRPr>
            </a:pPr>
            <a:r>
              <a:rPr sz="1350" b="0" i="0">
                <a:solidFill>
                  <a:srgbClr val="5D6D76"/>
                </a:solidFill>
              </a:rPr>
              <a:t>filtered bus-only API</a:t>
            </a:r>
          </a:p>
        </p:txBody>
      </p:sp>
      <p:sp>
        <p:nvSpPr>
          <p:cNvPr id="31" name="Rectangle 30">
            <a:extLst>
              <a:ext uri="{FF2B5EF4-FFF2-40B4-BE49-F238E27FC236}">
                <a16:creationId xmlns:a16="http://schemas.microsoft.com/office/drawing/2014/main" id="{F187CFED-3C61-4600-AB1C-72341F100E98}"/>
              </a:ext>
            </a:extLst>
          </p:cNvPr>
          <p:cNvSpPr>
            <a:spLocks noGrp="1"/>
          </p:cNvSpPr>
          <p:nvPr/>
        </p:nvSpPr>
        <p:spPr>
          <a:xfrm>
            <a:off x="5886450" y="8134350"/>
            <a:ext cx="1028700" cy="495300"/>
          </a:xfrm>
          <a:prstGeom prst="rect">
            <a:avLst/>
          </a:prstGeom>
        </p:spPr>
        <p:txBody>
          <a:bodyPr lIns="0" tIns="0" rIns="0" bIns="0"/>
          <a:lstStyle/>
          <a:p>
            <a:pPr>
              <a:defRPr sz="3150" b="1" i="0">
                <a:solidFill>
                  <a:srgbClr val="326DFF"/>
                </a:solidFill>
              </a:defRPr>
            </a:pPr>
            <a:r>
              <a:rPr sz="3150" b="1" i="0">
                <a:solidFill>
                  <a:srgbClr val="326DFF"/>
                </a:solidFill>
              </a:rPr>
              <a:t>→</a:t>
            </a:r>
          </a:p>
        </p:txBody>
      </p:sp>
      <p:sp>
        <p:nvSpPr>
          <p:cNvPr id="32" name="Rectangle: Rounded Corners 31">
            <a:extLst>
              <a:ext uri="{FF2B5EF4-FFF2-40B4-BE49-F238E27FC236}">
                <a16:creationId xmlns:a16="http://schemas.microsoft.com/office/drawing/2014/main" id="{9EE1C477-C344-40EB-B14D-833E838557B0}"/>
              </a:ext>
            </a:extLst>
          </p:cNvPr>
          <p:cNvSpPr>
            <a:spLocks noGrp="1"/>
          </p:cNvSpPr>
          <p:nvPr/>
        </p:nvSpPr>
        <p:spPr>
          <a:xfrm>
            <a:off x="7003090" y="79438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33" name="Rectangle 32">
            <a:extLst>
              <a:ext uri="{FF2B5EF4-FFF2-40B4-BE49-F238E27FC236}">
                <a16:creationId xmlns:a16="http://schemas.microsoft.com/office/drawing/2014/main" id="{DE750BF0-A080-4055-B2CE-1F72A21AA8AF}"/>
              </a:ext>
            </a:extLst>
          </p:cNvPr>
          <p:cNvSpPr>
            <a:spLocks noGrp="1"/>
          </p:cNvSpPr>
          <p:nvPr/>
        </p:nvSpPr>
        <p:spPr>
          <a:xfrm>
            <a:off x="7219950" y="8115300"/>
            <a:ext cx="4248150" cy="285750"/>
          </a:xfrm>
          <a:prstGeom prst="rect">
            <a:avLst/>
          </a:prstGeom>
        </p:spPr>
        <p:txBody>
          <a:bodyPr lIns="0" tIns="0" rIns="0" bIns="0"/>
          <a:lstStyle/>
          <a:p>
            <a:pPr>
              <a:defRPr sz="1875" b="1" i="0">
                <a:solidFill>
                  <a:srgbClr val="326DFF"/>
                </a:solidFill>
              </a:defRPr>
            </a:pPr>
            <a:r>
              <a:rPr sz="1875" b="1" i="0">
                <a:solidFill>
                  <a:srgbClr val="326DFF"/>
                </a:solidFill>
              </a:rPr>
              <a:t>React + MapLibre</a:t>
            </a:r>
          </a:p>
        </p:txBody>
      </p:sp>
      <p:sp>
        <p:nvSpPr>
          <p:cNvPr id="34" name="Rectangle 33">
            <a:extLst>
              <a:ext uri="{FF2B5EF4-FFF2-40B4-BE49-F238E27FC236}">
                <a16:creationId xmlns:a16="http://schemas.microsoft.com/office/drawing/2014/main" id="{FFE6F329-8DEA-4EC4-8662-2B970CDA3DC3}"/>
              </a:ext>
            </a:extLst>
          </p:cNvPr>
          <p:cNvSpPr>
            <a:spLocks noGrp="1"/>
          </p:cNvSpPr>
          <p:nvPr/>
        </p:nvSpPr>
        <p:spPr>
          <a:xfrm>
            <a:off x="7219950" y="8458200"/>
            <a:ext cx="4248150" cy="209550"/>
          </a:xfrm>
          <a:prstGeom prst="rect">
            <a:avLst/>
          </a:prstGeom>
        </p:spPr>
        <p:txBody>
          <a:bodyPr lIns="0" tIns="0" rIns="0" bIns="0"/>
          <a:lstStyle/>
          <a:p>
            <a:pPr>
              <a:defRPr sz="1350" b="0" i="0">
                <a:solidFill>
                  <a:srgbClr val="5D6D76"/>
                </a:solidFill>
              </a:defRPr>
            </a:pPr>
            <a:r>
              <a:rPr sz="1350" b="0" i="0">
                <a:solidFill>
                  <a:srgbClr val="5D6D76"/>
                </a:solidFill>
              </a:rPr>
              <a:t>live dashboard and analytics</a:t>
            </a:r>
          </a:p>
        </p:txBody>
      </p:sp>
      <p:sp>
        <p:nvSpPr>
          <p:cNvPr id="35" name="Rectangle 34">
            <a:extLst>
              <a:ext uri="{FF2B5EF4-FFF2-40B4-BE49-F238E27FC236}">
                <a16:creationId xmlns:a16="http://schemas.microsoft.com/office/drawing/2014/main" id="{4138FD5C-DF87-48D3-AB4D-667BCCFC2F39}"/>
              </a:ext>
            </a:extLst>
          </p:cNvPr>
          <p:cNvSpPr>
            <a:spLocks noGrp="1"/>
          </p:cNvSpPr>
          <p:nvPr/>
        </p:nvSpPr>
        <p:spPr>
          <a:xfrm>
            <a:off x="11753850" y="8134350"/>
            <a:ext cx="1028700" cy="495300"/>
          </a:xfrm>
          <a:prstGeom prst="rect">
            <a:avLst/>
          </a:prstGeom>
        </p:spPr>
        <p:txBody>
          <a:bodyPr lIns="0" tIns="0" rIns="0" bIns="0"/>
          <a:lstStyle/>
          <a:p>
            <a:pPr>
              <a:defRPr sz="3150" b="1" i="0">
                <a:solidFill>
                  <a:srgbClr val="326DFF"/>
                </a:solidFill>
              </a:defRPr>
            </a:pPr>
            <a:r>
              <a:rPr sz="3150" b="1" i="0">
                <a:solidFill>
                  <a:srgbClr val="326DFF"/>
                </a:solidFill>
              </a:rPr>
              <a:t>→</a:t>
            </a:r>
          </a:p>
        </p:txBody>
      </p:sp>
      <p:sp>
        <p:nvSpPr>
          <p:cNvPr id="36" name="Rectangle: Rounded Corners 35">
            <a:extLst>
              <a:ext uri="{FF2B5EF4-FFF2-40B4-BE49-F238E27FC236}">
                <a16:creationId xmlns:a16="http://schemas.microsoft.com/office/drawing/2014/main" id="{3317CF53-8447-4879-A903-EF8C5066E68B}"/>
              </a:ext>
            </a:extLst>
          </p:cNvPr>
          <p:cNvSpPr>
            <a:spLocks noGrp="1"/>
          </p:cNvSpPr>
          <p:nvPr/>
        </p:nvSpPr>
        <p:spPr>
          <a:xfrm>
            <a:off x="12882230" y="7943850"/>
            <a:ext cx="4662820" cy="876300"/>
          </a:xfrm>
          <a:prstGeom prst="roundRect">
            <a:avLst>
              <a:gd name="adj" fmla="val 26087"/>
            </a:avLst>
          </a:prstGeom>
          <a:solidFill>
            <a:srgbClr val="FFFFFF"/>
          </a:solidFill>
          <a:ln w="9525">
            <a:solidFill>
              <a:srgbClr val="D9E0DD"/>
            </a:solidFill>
            <a:prstDash val="solid"/>
          </a:ln>
        </p:spPr>
        <p:txBody>
          <a:bodyPr/>
          <a:lstStyle/>
          <a:p>
            <a:endParaRPr lang="en-US"/>
          </a:p>
        </p:txBody>
      </p:sp>
      <p:sp>
        <p:nvSpPr>
          <p:cNvPr id="37" name="Rectangle 36">
            <a:extLst>
              <a:ext uri="{FF2B5EF4-FFF2-40B4-BE49-F238E27FC236}">
                <a16:creationId xmlns:a16="http://schemas.microsoft.com/office/drawing/2014/main" id="{370A6633-2F24-4566-B741-5209A4798D00}"/>
              </a:ext>
            </a:extLst>
          </p:cNvPr>
          <p:cNvSpPr>
            <a:spLocks noGrp="1"/>
          </p:cNvSpPr>
          <p:nvPr/>
        </p:nvSpPr>
        <p:spPr>
          <a:xfrm>
            <a:off x="13087350" y="8115300"/>
            <a:ext cx="4248150" cy="285750"/>
          </a:xfrm>
          <a:prstGeom prst="rect">
            <a:avLst/>
          </a:prstGeom>
        </p:spPr>
        <p:txBody>
          <a:bodyPr lIns="0" tIns="0" rIns="0" bIns="0"/>
          <a:lstStyle/>
          <a:p>
            <a:pPr>
              <a:defRPr sz="1875" b="1" i="0">
                <a:solidFill>
                  <a:srgbClr val="24B96F"/>
                </a:solidFill>
              </a:defRPr>
            </a:pPr>
            <a:r>
              <a:rPr sz="1875" b="1" i="0">
                <a:solidFill>
                  <a:srgbClr val="24B96F"/>
                </a:solidFill>
              </a:rPr>
              <a:t>Planning insight</a:t>
            </a:r>
          </a:p>
        </p:txBody>
      </p:sp>
      <p:sp>
        <p:nvSpPr>
          <p:cNvPr id="38" name="Rectangle 37">
            <a:extLst>
              <a:ext uri="{FF2B5EF4-FFF2-40B4-BE49-F238E27FC236}">
                <a16:creationId xmlns:a16="http://schemas.microsoft.com/office/drawing/2014/main" id="{9D99AFDE-826A-4951-A5A1-EA35986DF18D}"/>
              </a:ext>
            </a:extLst>
          </p:cNvPr>
          <p:cNvSpPr>
            <a:spLocks noGrp="1"/>
          </p:cNvSpPr>
          <p:nvPr/>
        </p:nvSpPr>
        <p:spPr>
          <a:xfrm>
            <a:off x="13087350" y="8458200"/>
            <a:ext cx="4248150" cy="209550"/>
          </a:xfrm>
          <a:prstGeom prst="rect">
            <a:avLst/>
          </a:prstGeom>
        </p:spPr>
        <p:txBody>
          <a:bodyPr lIns="0" tIns="0" rIns="0" bIns="0"/>
          <a:lstStyle/>
          <a:p>
            <a:pPr>
              <a:defRPr sz="1350" b="0" i="0">
                <a:solidFill>
                  <a:srgbClr val="5D6D76"/>
                </a:solidFill>
              </a:defRPr>
            </a:pPr>
            <a:r>
              <a:rPr sz="1350" b="0" i="0">
                <a:solidFill>
                  <a:srgbClr val="5D6D76"/>
                </a:solidFill>
              </a:rPr>
              <a:t>routes, hotspots, anomalies</a:t>
            </a:r>
          </a:p>
        </p:txBody>
      </p:sp>
      <p:sp>
        <p:nvSpPr>
          <p:cNvPr id="39" name="source">
            <a:extLst>
              <a:ext uri="{FF2B5EF4-FFF2-40B4-BE49-F238E27FC236}">
                <a16:creationId xmlns:a16="http://schemas.microsoft.com/office/drawing/2014/main" id="{8CFB07DE-BBC9-40AD-B455-219874D2FDDC}"/>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695546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22" name="bg">
            <a:extLst>
              <a:ext uri="{FF2B5EF4-FFF2-40B4-BE49-F238E27FC236}">
                <a16:creationId xmlns:a16="http://schemas.microsoft.com/office/drawing/2014/main" id="{AA035CB3-F694-4F24-9FC3-591A9CC40217}"/>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D42A8A03-B7E6-4EA0-9CE6-6A74F6724B87}"/>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DFC8382B-4110-45E9-BD67-EB19E811C74A}"/>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4F9C7258-519D-4ADB-A634-11D9C4610406}"/>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Preprocessing and feature engineering</a:t>
            </a:r>
          </a:p>
        </p:txBody>
      </p:sp>
      <p:sp>
        <p:nvSpPr>
          <p:cNvPr id="5" name="slide-subtitle">
            <a:extLst>
              <a:ext uri="{FF2B5EF4-FFF2-40B4-BE49-F238E27FC236}">
                <a16:creationId xmlns:a16="http://schemas.microsoft.com/office/drawing/2014/main" id="{C0EB1D1D-32F1-45C8-9ED6-A2A66AA010DC}"/>
              </a:ext>
            </a:extLst>
          </p:cNvPr>
          <p:cNvSpPr>
            <a:spLocks noGrp="1"/>
          </p:cNvSpPr>
          <p:nvPr/>
        </p:nvSpPr>
        <p:spPr>
          <a:xfrm>
            <a:off x="1123950" y="1657350"/>
            <a:ext cx="10210800" cy="285750"/>
          </a:xfrm>
          <a:prstGeom prst="rect">
            <a:avLst/>
          </a:prstGeom>
        </p:spPr>
        <p:txBody>
          <a:bodyPr lIns="0" tIns="0" rIns="0" bIns="0"/>
          <a:lstStyle/>
          <a:p>
            <a:pPr>
              <a:defRPr sz="1875" b="0" i="0">
                <a:solidFill>
                  <a:srgbClr val="5D6D76"/>
                </a:solidFill>
              </a:defRPr>
            </a:pPr>
            <a:r>
              <a:rPr sz="1875" b="0" i="0">
                <a:solidFill>
                  <a:srgbClr val="5D6D76"/>
                </a:solidFill>
              </a:rPr>
              <a:t>Raw GTFS/GTFS-RT data is transformed into route-stop-hour feature windows that models can learn from.</a:t>
            </a:r>
          </a:p>
        </p:txBody>
      </p:sp>
      <p:sp>
        <p:nvSpPr>
          <p:cNvPr id="6" name="Rectangle: Rounded Corners 5">
            <a:extLst>
              <a:ext uri="{FF2B5EF4-FFF2-40B4-BE49-F238E27FC236}">
                <a16:creationId xmlns:a16="http://schemas.microsoft.com/office/drawing/2014/main" id="{3C075045-02EA-41CD-A600-ACBA4D8CA95E}"/>
              </a:ext>
            </a:extLst>
          </p:cNvPr>
          <p:cNvSpPr>
            <a:spLocks noGrp="1"/>
          </p:cNvSpPr>
          <p:nvPr/>
        </p:nvSpPr>
        <p:spPr>
          <a:xfrm>
            <a:off x="1143000" y="2209800"/>
            <a:ext cx="171450" cy="171450"/>
          </a:xfrm>
          <a:prstGeom prst="roundRect">
            <a:avLst>
              <a:gd name="adj" fmla="val 50000"/>
            </a:avLst>
          </a:prstGeom>
          <a:solidFill>
            <a:srgbClr val="1E5A64"/>
          </a:solidFill>
        </p:spPr>
        <p:txBody>
          <a:bodyPr/>
          <a:lstStyle/>
          <a:p>
            <a:endParaRPr lang="en-US"/>
          </a:p>
        </p:txBody>
      </p:sp>
      <p:sp>
        <p:nvSpPr>
          <p:cNvPr id="7" name="Rectangle 6">
            <a:extLst>
              <a:ext uri="{FF2B5EF4-FFF2-40B4-BE49-F238E27FC236}">
                <a16:creationId xmlns:a16="http://schemas.microsoft.com/office/drawing/2014/main" id="{B257088A-7A48-4FFB-B93B-58C27E2F6BE6}"/>
              </a:ext>
            </a:extLst>
          </p:cNvPr>
          <p:cNvSpPr>
            <a:spLocks noGrp="1"/>
          </p:cNvSpPr>
          <p:nvPr/>
        </p:nvSpPr>
        <p:spPr>
          <a:xfrm>
            <a:off x="1447800" y="2209800"/>
            <a:ext cx="7696200" cy="323850"/>
          </a:xfrm>
          <a:prstGeom prst="rect">
            <a:avLst/>
          </a:prstGeom>
        </p:spPr>
        <p:txBody>
          <a:bodyPr lIns="0" tIns="0" rIns="0" bIns="0"/>
          <a:lstStyle/>
          <a:p>
            <a:pPr>
              <a:defRPr sz="2100" b="1" i="0">
                <a:solidFill>
                  <a:srgbClr val="071419"/>
                </a:solidFill>
              </a:defRPr>
            </a:pPr>
            <a:r>
              <a:rPr sz="2100" b="1" i="0">
                <a:solidFill>
                  <a:srgbClr val="071419"/>
                </a:solidFill>
              </a:rPr>
              <a:t>Filtering and cleaning</a:t>
            </a:r>
          </a:p>
        </p:txBody>
      </p:sp>
      <p:sp>
        <p:nvSpPr>
          <p:cNvPr id="8" name="Rectangle 7">
            <a:extLst>
              <a:ext uri="{FF2B5EF4-FFF2-40B4-BE49-F238E27FC236}">
                <a16:creationId xmlns:a16="http://schemas.microsoft.com/office/drawing/2014/main" id="{5EE441AF-30AB-418E-867E-4AD9693AEC41}"/>
              </a:ext>
            </a:extLst>
          </p:cNvPr>
          <p:cNvSpPr>
            <a:spLocks noGrp="1"/>
          </p:cNvSpPr>
          <p:nvPr/>
        </p:nvSpPr>
        <p:spPr>
          <a:xfrm>
            <a:off x="1447800" y="2552700"/>
            <a:ext cx="6553200" cy="514350"/>
          </a:xfrm>
          <a:prstGeom prst="rect">
            <a:avLst/>
          </a:prstGeom>
        </p:spPr>
        <p:txBody>
          <a:bodyPr lIns="0" tIns="0" rIns="0" bIns="0"/>
          <a:lstStyle/>
          <a:p>
            <a:pPr>
              <a:defRPr sz="1650" b="0" i="0">
                <a:solidFill>
                  <a:srgbClr val="5D6D76"/>
                </a:solidFill>
              </a:defRPr>
            </a:pPr>
            <a:r>
              <a:rPr sz="1650" b="0" i="0">
                <a:solidFill>
                  <a:srgbClr val="5D6D76"/>
                </a:solidFill>
              </a:rPr>
              <a:t>Kept buses only, removed unusable vehicle records, handled missing realtime predictions, and preserved raw history for reproducibility.</a:t>
            </a:r>
          </a:p>
        </p:txBody>
      </p:sp>
      <p:sp>
        <p:nvSpPr>
          <p:cNvPr id="9" name="Rectangle: Rounded Corners 8">
            <a:extLst>
              <a:ext uri="{FF2B5EF4-FFF2-40B4-BE49-F238E27FC236}">
                <a16:creationId xmlns:a16="http://schemas.microsoft.com/office/drawing/2014/main" id="{3AA38B87-7FA5-489B-A2F1-B3B5511B6512}"/>
              </a:ext>
            </a:extLst>
          </p:cNvPr>
          <p:cNvSpPr>
            <a:spLocks noGrp="1"/>
          </p:cNvSpPr>
          <p:nvPr/>
        </p:nvSpPr>
        <p:spPr>
          <a:xfrm>
            <a:off x="1143000" y="3238500"/>
            <a:ext cx="171450" cy="171450"/>
          </a:xfrm>
          <a:prstGeom prst="roundRect">
            <a:avLst>
              <a:gd name="adj" fmla="val 50000"/>
            </a:avLst>
          </a:prstGeom>
          <a:solidFill>
            <a:srgbClr val="48B8C7"/>
          </a:solidFill>
        </p:spPr>
        <p:txBody>
          <a:bodyPr/>
          <a:lstStyle/>
          <a:p>
            <a:endParaRPr lang="en-US"/>
          </a:p>
        </p:txBody>
      </p:sp>
      <p:sp>
        <p:nvSpPr>
          <p:cNvPr id="10" name="Rectangle 9">
            <a:extLst>
              <a:ext uri="{FF2B5EF4-FFF2-40B4-BE49-F238E27FC236}">
                <a16:creationId xmlns:a16="http://schemas.microsoft.com/office/drawing/2014/main" id="{5A51408D-ACDC-4CB6-B0A7-D309ED388614}"/>
              </a:ext>
            </a:extLst>
          </p:cNvPr>
          <p:cNvSpPr>
            <a:spLocks noGrp="1"/>
          </p:cNvSpPr>
          <p:nvPr/>
        </p:nvSpPr>
        <p:spPr>
          <a:xfrm>
            <a:off x="1447800" y="3238500"/>
            <a:ext cx="7696200" cy="323850"/>
          </a:xfrm>
          <a:prstGeom prst="rect">
            <a:avLst/>
          </a:prstGeom>
        </p:spPr>
        <p:txBody>
          <a:bodyPr lIns="0" tIns="0" rIns="0" bIns="0"/>
          <a:lstStyle/>
          <a:p>
            <a:pPr>
              <a:defRPr sz="2100" b="1" i="0">
                <a:solidFill>
                  <a:srgbClr val="071419"/>
                </a:solidFill>
              </a:defRPr>
            </a:pPr>
            <a:r>
              <a:rPr sz="2100" b="1" i="0">
                <a:solidFill>
                  <a:srgbClr val="071419"/>
                </a:solidFill>
              </a:rPr>
              <a:t>Time features</a:t>
            </a:r>
          </a:p>
        </p:txBody>
      </p:sp>
      <p:sp>
        <p:nvSpPr>
          <p:cNvPr id="11" name="Rectangle 10">
            <a:extLst>
              <a:ext uri="{FF2B5EF4-FFF2-40B4-BE49-F238E27FC236}">
                <a16:creationId xmlns:a16="http://schemas.microsoft.com/office/drawing/2014/main" id="{B7BA798F-299D-4AD4-8462-D86054473AA9}"/>
              </a:ext>
            </a:extLst>
          </p:cNvPr>
          <p:cNvSpPr>
            <a:spLocks noGrp="1"/>
          </p:cNvSpPr>
          <p:nvPr/>
        </p:nvSpPr>
        <p:spPr>
          <a:xfrm>
            <a:off x="1447800" y="3600450"/>
            <a:ext cx="6686550" cy="514350"/>
          </a:xfrm>
          <a:prstGeom prst="rect">
            <a:avLst/>
          </a:prstGeom>
        </p:spPr>
        <p:txBody>
          <a:bodyPr lIns="0" tIns="0" rIns="0" bIns="0"/>
          <a:lstStyle/>
          <a:p>
            <a:pPr>
              <a:defRPr sz="1650" b="0" i="0">
                <a:solidFill>
                  <a:srgbClr val="5D6D76"/>
                </a:solidFill>
              </a:defRPr>
            </a:pPr>
            <a:r>
              <a:rPr sz="1650" b="0" i="0">
                <a:solidFill>
                  <a:srgbClr val="5D6D76"/>
                </a:solidFill>
              </a:rPr>
              <a:t>Converted timestamps into hour, weekday, weekend flag, and freshness/age so reliability can be studied over operating periods.</a:t>
            </a:r>
          </a:p>
        </p:txBody>
      </p:sp>
      <p:sp>
        <p:nvSpPr>
          <p:cNvPr id="12" name="Rectangle: Rounded Corners 11">
            <a:extLst>
              <a:ext uri="{FF2B5EF4-FFF2-40B4-BE49-F238E27FC236}">
                <a16:creationId xmlns:a16="http://schemas.microsoft.com/office/drawing/2014/main" id="{C8926D24-6B44-436A-AAD6-E5CCA24D0370}"/>
              </a:ext>
            </a:extLst>
          </p:cNvPr>
          <p:cNvSpPr>
            <a:spLocks noGrp="1"/>
          </p:cNvSpPr>
          <p:nvPr/>
        </p:nvSpPr>
        <p:spPr>
          <a:xfrm>
            <a:off x="1143000" y="4267200"/>
            <a:ext cx="171450" cy="171450"/>
          </a:xfrm>
          <a:prstGeom prst="roundRect">
            <a:avLst>
              <a:gd name="adj" fmla="val 50000"/>
            </a:avLst>
          </a:prstGeom>
          <a:solidFill>
            <a:srgbClr val="1E5A64"/>
          </a:solidFill>
        </p:spPr>
        <p:txBody>
          <a:bodyPr/>
          <a:lstStyle/>
          <a:p>
            <a:endParaRPr lang="en-US"/>
          </a:p>
        </p:txBody>
      </p:sp>
      <p:sp>
        <p:nvSpPr>
          <p:cNvPr id="13" name="Rectangle 12">
            <a:extLst>
              <a:ext uri="{FF2B5EF4-FFF2-40B4-BE49-F238E27FC236}">
                <a16:creationId xmlns:a16="http://schemas.microsoft.com/office/drawing/2014/main" id="{8547C551-2DA6-4B78-B71E-180EFAC32857}"/>
              </a:ext>
            </a:extLst>
          </p:cNvPr>
          <p:cNvSpPr>
            <a:spLocks noGrp="1"/>
          </p:cNvSpPr>
          <p:nvPr/>
        </p:nvSpPr>
        <p:spPr>
          <a:xfrm>
            <a:off x="1447800" y="4267200"/>
            <a:ext cx="7696200" cy="323850"/>
          </a:xfrm>
          <a:prstGeom prst="rect">
            <a:avLst/>
          </a:prstGeom>
        </p:spPr>
        <p:txBody>
          <a:bodyPr lIns="0" tIns="0" rIns="0" bIns="0"/>
          <a:lstStyle/>
          <a:p>
            <a:pPr>
              <a:defRPr sz="2100" b="1" i="0">
                <a:solidFill>
                  <a:srgbClr val="071419"/>
                </a:solidFill>
              </a:defRPr>
            </a:pPr>
            <a:r>
              <a:rPr sz="2100" b="1" i="0">
                <a:solidFill>
                  <a:srgbClr val="071419"/>
                </a:solidFill>
              </a:rPr>
              <a:t>Reliability features</a:t>
            </a:r>
          </a:p>
        </p:txBody>
      </p:sp>
      <p:sp>
        <p:nvSpPr>
          <p:cNvPr id="14" name="Rectangle 13">
            <a:extLst>
              <a:ext uri="{FF2B5EF4-FFF2-40B4-BE49-F238E27FC236}">
                <a16:creationId xmlns:a16="http://schemas.microsoft.com/office/drawing/2014/main" id="{6166DFAE-F545-4D4F-9A8A-CE4EF591630F}"/>
              </a:ext>
            </a:extLst>
          </p:cNvPr>
          <p:cNvSpPr>
            <a:spLocks noGrp="1"/>
          </p:cNvSpPr>
          <p:nvPr/>
        </p:nvSpPr>
        <p:spPr>
          <a:xfrm>
            <a:off x="1447800" y="4629150"/>
            <a:ext cx="6724650" cy="514350"/>
          </a:xfrm>
          <a:prstGeom prst="rect">
            <a:avLst/>
          </a:prstGeom>
        </p:spPr>
        <p:txBody>
          <a:bodyPr lIns="0" tIns="0" rIns="0" bIns="0"/>
          <a:lstStyle/>
          <a:p>
            <a:pPr>
              <a:defRPr sz="1650" b="0" i="0">
                <a:solidFill>
                  <a:srgbClr val="5D6D76"/>
                </a:solidFill>
              </a:defRPr>
            </a:pPr>
            <a:r>
              <a:rPr sz="1650" b="0" i="0">
                <a:solidFill>
                  <a:srgbClr val="5D6D76"/>
                </a:solidFill>
              </a:rPr>
              <a:t>Created mean delay, median delay, p95 absolute delay, delay variation, on-time ratio, late ratio, early ratio, and prediction coverage.</a:t>
            </a:r>
          </a:p>
        </p:txBody>
      </p:sp>
      <p:sp>
        <p:nvSpPr>
          <p:cNvPr id="15" name="Rectangle 14">
            <a:extLst>
              <a:ext uri="{FF2B5EF4-FFF2-40B4-BE49-F238E27FC236}">
                <a16:creationId xmlns:a16="http://schemas.microsoft.com/office/drawing/2014/main" id="{761E4E64-D032-4D9E-B200-76B861C5AD91}"/>
              </a:ext>
            </a:extLst>
          </p:cNvPr>
          <p:cNvSpPr>
            <a:spLocks noGrp="1"/>
          </p:cNvSpPr>
          <p:nvPr/>
        </p:nvSpPr>
        <p:spPr>
          <a:xfrm>
            <a:off x="9544050" y="4267200"/>
            <a:ext cx="8020050" cy="628650"/>
          </a:xfrm>
          <a:prstGeom prst="rect">
            <a:avLst/>
          </a:prstGeom>
        </p:spPr>
        <p:txBody>
          <a:bodyPr lIns="0" tIns="0" rIns="0" bIns="0"/>
          <a:lstStyle/>
          <a:p>
            <a:pPr>
              <a:defRPr sz="4050" b="1" i="0">
                <a:solidFill>
                  <a:srgbClr val="1E5A64"/>
                </a:solidFill>
              </a:defRPr>
            </a:pPr>
            <a:r>
              <a:rPr sz="4050" b="1" i="0">
                <a:solidFill>
                  <a:srgbClr val="1E5A64"/>
                </a:solidFill>
              </a:rPr>
              <a:t>route + stop + hour</a:t>
            </a:r>
          </a:p>
        </p:txBody>
      </p:sp>
      <p:sp>
        <p:nvSpPr>
          <p:cNvPr id="16" name="Rectangle 15">
            <a:extLst>
              <a:ext uri="{FF2B5EF4-FFF2-40B4-BE49-F238E27FC236}">
                <a16:creationId xmlns:a16="http://schemas.microsoft.com/office/drawing/2014/main" id="{44076DF7-B26A-46FC-AB51-60F676DB5404}"/>
              </a:ext>
            </a:extLst>
          </p:cNvPr>
          <p:cNvSpPr>
            <a:spLocks noGrp="1"/>
          </p:cNvSpPr>
          <p:nvPr/>
        </p:nvSpPr>
        <p:spPr>
          <a:xfrm>
            <a:off x="9544050" y="4953000"/>
            <a:ext cx="8020050" cy="228600"/>
          </a:xfrm>
          <a:prstGeom prst="rect">
            <a:avLst/>
          </a:prstGeom>
        </p:spPr>
        <p:txBody>
          <a:bodyPr lIns="0" tIns="0" rIns="0" bIns="0"/>
          <a:lstStyle/>
          <a:p>
            <a:pPr>
              <a:defRPr sz="1500" b="0" i="0">
                <a:solidFill>
                  <a:srgbClr val="5D6D76"/>
                </a:solidFill>
              </a:defRPr>
            </a:pPr>
            <a:r>
              <a:rPr sz="1500" b="0" i="0">
                <a:solidFill>
                  <a:srgbClr val="5D6D76"/>
                </a:solidFill>
              </a:rPr>
              <a:t>one model feature window</a:t>
            </a:r>
          </a:p>
        </p:txBody>
      </p:sp>
      <p:sp>
        <p:nvSpPr>
          <p:cNvPr id="17" name="Rectangle 16">
            <a:extLst>
              <a:ext uri="{FF2B5EF4-FFF2-40B4-BE49-F238E27FC236}">
                <a16:creationId xmlns:a16="http://schemas.microsoft.com/office/drawing/2014/main" id="{9DB4B2C3-95DD-45EA-BD27-E491BEFD5C0F}"/>
              </a:ext>
            </a:extLst>
          </p:cNvPr>
          <p:cNvSpPr>
            <a:spLocks noGrp="1"/>
          </p:cNvSpPr>
          <p:nvPr/>
        </p:nvSpPr>
        <p:spPr>
          <a:xfrm>
            <a:off x="9544050" y="5391150"/>
            <a:ext cx="8020050" cy="628650"/>
          </a:xfrm>
          <a:prstGeom prst="rect">
            <a:avLst/>
          </a:prstGeom>
        </p:spPr>
        <p:txBody>
          <a:bodyPr lIns="0" tIns="0" rIns="0" bIns="0"/>
          <a:lstStyle/>
          <a:p>
            <a:pPr>
              <a:defRPr sz="4050" b="1" i="0">
                <a:solidFill>
                  <a:srgbClr val="24B96F"/>
                </a:solidFill>
              </a:defRPr>
            </a:pPr>
            <a:r>
              <a:rPr sz="4050" b="1" i="0">
                <a:solidFill>
                  <a:srgbClr val="24B96F"/>
                </a:solidFill>
              </a:rPr>
              <a:t>97.1%</a:t>
            </a:r>
          </a:p>
        </p:txBody>
      </p:sp>
      <p:sp>
        <p:nvSpPr>
          <p:cNvPr id="18" name="Rectangle 17">
            <a:extLst>
              <a:ext uri="{FF2B5EF4-FFF2-40B4-BE49-F238E27FC236}">
                <a16:creationId xmlns:a16="http://schemas.microsoft.com/office/drawing/2014/main" id="{6FE7A922-4D53-4955-92BF-86905A8622D8}"/>
              </a:ext>
            </a:extLst>
          </p:cNvPr>
          <p:cNvSpPr>
            <a:spLocks noGrp="1"/>
          </p:cNvSpPr>
          <p:nvPr/>
        </p:nvSpPr>
        <p:spPr>
          <a:xfrm>
            <a:off x="9544050" y="6057900"/>
            <a:ext cx="8020050" cy="228600"/>
          </a:xfrm>
          <a:prstGeom prst="rect">
            <a:avLst/>
          </a:prstGeom>
        </p:spPr>
        <p:txBody>
          <a:bodyPr lIns="0" tIns="0" rIns="0" bIns="0"/>
          <a:lstStyle/>
          <a:p>
            <a:pPr>
              <a:defRPr sz="1500" b="0" i="0">
                <a:solidFill>
                  <a:srgbClr val="5D6D76"/>
                </a:solidFill>
              </a:defRPr>
            </a:pPr>
            <a:r>
              <a:rPr sz="1500" b="0" i="0">
                <a:solidFill>
                  <a:srgbClr val="5D6D76"/>
                </a:solidFill>
              </a:rPr>
              <a:t>average prediction coverage in latest Part 4 snapshot</a:t>
            </a:r>
          </a:p>
        </p:txBody>
      </p:sp>
      <p:sp>
        <p:nvSpPr>
          <p:cNvPr id="19" name="Rectangle 18">
            <a:extLst>
              <a:ext uri="{FF2B5EF4-FFF2-40B4-BE49-F238E27FC236}">
                <a16:creationId xmlns:a16="http://schemas.microsoft.com/office/drawing/2014/main" id="{36048137-0EB4-4DE6-9C6D-16FC888FBB5B}"/>
              </a:ext>
            </a:extLst>
          </p:cNvPr>
          <p:cNvSpPr>
            <a:spLocks noGrp="1"/>
          </p:cNvSpPr>
          <p:nvPr/>
        </p:nvSpPr>
        <p:spPr>
          <a:xfrm>
            <a:off x="9544050" y="6496050"/>
            <a:ext cx="8020050" cy="628650"/>
          </a:xfrm>
          <a:prstGeom prst="rect">
            <a:avLst/>
          </a:prstGeom>
        </p:spPr>
        <p:txBody>
          <a:bodyPr lIns="0" tIns="0" rIns="0" bIns="0"/>
          <a:lstStyle/>
          <a:p>
            <a:pPr>
              <a:defRPr sz="4050" b="1" i="0">
                <a:solidFill>
                  <a:srgbClr val="F39A1E"/>
                </a:solidFill>
              </a:defRPr>
            </a:pPr>
            <a:r>
              <a:rPr sz="4050" b="1" i="0">
                <a:solidFill>
                  <a:srgbClr val="F39A1E"/>
                </a:solidFill>
              </a:rPr>
              <a:t>14:00 UTC</a:t>
            </a:r>
          </a:p>
        </p:txBody>
      </p:sp>
      <p:sp>
        <p:nvSpPr>
          <p:cNvPr id="20" name="Rectangle 19">
            <a:extLst>
              <a:ext uri="{FF2B5EF4-FFF2-40B4-BE49-F238E27FC236}">
                <a16:creationId xmlns:a16="http://schemas.microsoft.com/office/drawing/2014/main" id="{F623C9F1-FA73-46F3-8F7F-9912902677C4}"/>
              </a:ext>
            </a:extLst>
          </p:cNvPr>
          <p:cNvSpPr>
            <a:spLocks noGrp="1"/>
          </p:cNvSpPr>
          <p:nvPr/>
        </p:nvSpPr>
        <p:spPr>
          <a:xfrm>
            <a:off x="9544050" y="7162800"/>
            <a:ext cx="8020050" cy="228600"/>
          </a:xfrm>
          <a:prstGeom prst="rect">
            <a:avLst/>
          </a:prstGeom>
        </p:spPr>
        <p:txBody>
          <a:bodyPr lIns="0" tIns="0" rIns="0" bIns="0"/>
          <a:lstStyle/>
          <a:p>
            <a:pPr>
              <a:defRPr sz="1500" b="0" i="0">
                <a:solidFill>
                  <a:srgbClr val="5D6D76"/>
                </a:solidFill>
              </a:defRPr>
            </a:pPr>
            <a:r>
              <a:rPr sz="1500" b="0" i="0">
                <a:solidFill>
                  <a:srgbClr val="5D6D76"/>
                </a:solidFill>
              </a:rPr>
              <a:t>latest feature/anomaly bucket in executed notebook</a:t>
            </a:r>
          </a:p>
        </p:txBody>
      </p:sp>
      <p:sp>
        <p:nvSpPr>
          <p:cNvPr id="21" name="source">
            <a:extLst>
              <a:ext uri="{FF2B5EF4-FFF2-40B4-BE49-F238E27FC236}">
                <a16:creationId xmlns:a16="http://schemas.microsoft.com/office/drawing/2014/main" id="{223D779C-C6F8-44AD-9AA4-F00B213B0389}"/>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1615062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22" name="bg">
            <a:extLst>
              <a:ext uri="{FF2B5EF4-FFF2-40B4-BE49-F238E27FC236}">
                <a16:creationId xmlns:a16="http://schemas.microsoft.com/office/drawing/2014/main" id="{5E6D34D4-221C-4EB2-9F4A-EF05B5935757}"/>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358575E5-49FB-4675-96F9-453BE80FF505}"/>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D0F907CB-60F4-4A0C-ABB7-B7B15DC286D7}"/>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A23A5A91-510D-483A-A656-0B3C14B96F96}"/>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Core metric: schedule adherence</a:t>
            </a:r>
          </a:p>
        </p:txBody>
      </p:sp>
      <p:sp>
        <p:nvSpPr>
          <p:cNvPr id="5" name="slide-subtitle">
            <a:extLst>
              <a:ext uri="{FF2B5EF4-FFF2-40B4-BE49-F238E27FC236}">
                <a16:creationId xmlns:a16="http://schemas.microsoft.com/office/drawing/2014/main" id="{3DE76FEC-8894-49DB-9B59-6341CA94950D}"/>
              </a:ext>
            </a:extLst>
          </p:cNvPr>
          <p:cNvSpPr>
            <a:spLocks noGrp="1"/>
          </p:cNvSpPr>
          <p:nvPr/>
        </p:nvSpPr>
        <p:spPr>
          <a:xfrm>
            <a:off x="1123950" y="1657350"/>
            <a:ext cx="9715500" cy="571500"/>
          </a:xfrm>
          <a:prstGeom prst="rect">
            <a:avLst/>
          </a:prstGeom>
        </p:spPr>
        <p:txBody>
          <a:bodyPr lIns="0" tIns="0" rIns="0" bIns="0"/>
          <a:lstStyle/>
          <a:p>
            <a:pPr>
              <a:defRPr sz="1875" b="0" i="0">
                <a:solidFill>
                  <a:srgbClr val="5D6D76"/>
                </a:solidFill>
              </a:defRPr>
            </a:pPr>
            <a:r>
              <a:rPr sz="1875" b="0" i="0">
                <a:solidFill>
                  <a:srgbClr val="5D6D76"/>
                </a:solidFill>
              </a:rPr>
              <a:t>A bus stop observation is treated as on time when it falls between 1 minute early and 5 minutes late.</a:t>
            </a:r>
          </a:p>
        </p:txBody>
      </p:sp>
      <p:sp>
        <p:nvSpPr>
          <p:cNvPr id="6" name="Rectangle 5">
            <a:extLst>
              <a:ext uri="{FF2B5EF4-FFF2-40B4-BE49-F238E27FC236}">
                <a16:creationId xmlns:a16="http://schemas.microsoft.com/office/drawing/2014/main" id="{E28AFA2C-E987-4BF8-A4A7-72D15CA82DE8}"/>
              </a:ext>
            </a:extLst>
          </p:cNvPr>
          <p:cNvSpPr>
            <a:spLocks noGrp="1"/>
          </p:cNvSpPr>
          <p:nvPr/>
        </p:nvSpPr>
        <p:spPr>
          <a:xfrm>
            <a:off x="1123950" y="4267200"/>
            <a:ext cx="8705850" cy="381000"/>
          </a:xfrm>
          <a:prstGeom prst="rect">
            <a:avLst/>
          </a:prstGeom>
        </p:spPr>
        <p:txBody>
          <a:bodyPr lIns="0" tIns="0" rIns="0" bIns="0"/>
          <a:lstStyle/>
          <a:p>
            <a:pPr>
              <a:defRPr sz="2400" b="1" i="0">
                <a:solidFill>
                  <a:srgbClr val="326DFF"/>
                </a:solidFill>
              </a:defRPr>
            </a:pPr>
            <a:r>
              <a:rPr sz="2400" b="1" i="0">
                <a:solidFill>
                  <a:srgbClr val="326DFF"/>
                </a:solidFill>
              </a:rPr>
              <a:t>Early</a:t>
            </a:r>
          </a:p>
        </p:txBody>
      </p:sp>
      <p:sp>
        <p:nvSpPr>
          <p:cNvPr id="7" name="Rectangle: Rounded Corners 6">
            <a:extLst>
              <a:ext uri="{FF2B5EF4-FFF2-40B4-BE49-F238E27FC236}">
                <a16:creationId xmlns:a16="http://schemas.microsoft.com/office/drawing/2014/main" id="{3D0C576C-C920-4362-B20B-95A99D37FEE1}"/>
              </a:ext>
            </a:extLst>
          </p:cNvPr>
          <p:cNvSpPr>
            <a:spLocks noGrp="1"/>
          </p:cNvSpPr>
          <p:nvPr/>
        </p:nvSpPr>
        <p:spPr>
          <a:xfrm>
            <a:off x="1143000" y="4953000"/>
            <a:ext cx="8686800" cy="152400"/>
          </a:xfrm>
          <a:prstGeom prst="roundRect">
            <a:avLst>
              <a:gd name="adj" fmla="val 50000"/>
            </a:avLst>
          </a:prstGeom>
          <a:solidFill>
            <a:srgbClr val="326DFF"/>
          </a:solidFill>
        </p:spPr>
        <p:txBody>
          <a:bodyPr/>
          <a:lstStyle/>
          <a:p>
            <a:endParaRPr lang="en-US"/>
          </a:p>
        </p:txBody>
      </p:sp>
      <p:sp>
        <p:nvSpPr>
          <p:cNvPr id="8" name="Rectangle 7">
            <a:extLst>
              <a:ext uri="{FF2B5EF4-FFF2-40B4-BE49-F238E27FC236}">
                <a16:creationId xmlns:a16="http://schemas.microsoft.com/office/drawing/2014/main" id="{3FBE41F4-2201-43BA-9438-AF3B62BF1DD6}"/>
              </a:ext>
            </a:extLst>
          </p:cNvPr>
          <p:cNvSpPr>
            <a:spLocks noGrp="1"/>
          </p:cNvSpPr>
          <p:nvPr/>
        </p:nvSpPr>
        <p:spPr>
          <a:xfrm>
            <a:off x="1123950" y="5429250"/>
            <a:ext cx="8705850" cy="514350"/>
          </a:xfrm>
          <a:prstGeom prst="rect">
            <a:avLst/>
          </a:prstGeom>
        </p:spPr>
        <p:txBody>
          <a:bodyPr lIns="0" tIns="0" rIns="0" bIns="0"/>
          <a:lstStyle/>
          <a:p>
            <a:pPr>
              <a:defRPr sz="3300" b="1" i="0">
                <a:solidFill>
                  <a:srgbClr val="24B96F"/>
                </a:solidFill>
              </a:defRPr>
            </a:pPr>
            <a:r>
              <a:rPr sz="3300" b="1" i="0">
                <a:solidFill>
                  <a:srgbClr val="24B96F"/>
                </a:solidFill>
              </a:rPr>
              <a:t>On time window: -1 to +5 minutes</a:t>
            </a:r>
          </a:p>
        </p:txBody>
      </p:sp>
      <p:sp>
        <p:nvSpPr>
          <p:cNvPr id="9" name="Rectangle: Rounded Corners 8">
            <a:extLst>
              <a:ext uri="{FF2B5EF4-FFF2-40B4-BE49-F238E27FC236}">
                <a16:creationId xmlns:a16="http://schemas.microsoft.com/office/drawing/2014/main" id="{128D1254-3F6F-41C6-8103-CDFC99684F85}"/>
              </a:ext>
            </a:extLst>
          </p:cNvPr>
          <p:cNvSpPr>
            <a:spLocks noGrp="1"/>
          </p:cNvSpPr>
          <p:nvPr/>
        </p:nvSpPr>
        <p:spPr>
          <a:xfrm>
            <a:off x="1143000" y="6248400"/>
            <a:ext cx="8686800" cy="266700"/>
          </a:xfrm>
          <a:prstGeom prst="roundRect">
            <a:avLst>
              <a:gd name="adj" fmla="val 50000"/>
            </a:avLst>
          </a:prstGeom>
          <a:solidFill>
            <a:srgbClr val="24B96F"/>
          </a:solidFill>
        </p:spPr>
        <p:txBody>
          <a:bodyPr/>
          <a:lstStyle/>
          <a:p>
            <a:endParaRPr lang="en-US"/>
          </a:p>
        </p:txBody>
      </p:sp>
      <p:sp>
        <p:nvSpPr>
          <p:cNvPr id="10" name="Rectangle 9">
            <a:extLst>
              <a:ext uri="{FF2B5EF4-FFF2-40B4-BE49-F238E27FC236}">
                <a16:creationId xmlns:a16="http://schemas.microsoft.com/office/drawing/2014/main" id="{5F60533E-7199-4B7D-9F9E-C8030329E1DC}"/>
              </a:ext>
            </a:extLst>
          </p:cNvPr>
          <p:cNvSpPr>
            <a:spLocks noGrp="1"/>
          </p:cNvSpPr>
          <p:nvPr/>
        </p:nvSpPr>
        <p:spPr>
          <a:xfrm>
            <a:off x="1123950" y="6858000"/>
            <a:ext cx="8705850" cy="381000"/>
          </a:xfrm>
          <a:prstGeom prst="rect">
            <a:avLst/>
          </a:prstGeom>
        </p:spPr>
        <p:txBody>
          <a:bodyPr lIns="0" tIns="0" rIns="0" bIns="0"/>
          <a:lstStyle/>
          <a:p>
            <a:pPr>
              <a:defRPr sz="2400" b="1" i="0">
                <a:solidFill>
                  <a:srgbClr val="D83B3E"/>
                </a:solidFill>
              </a:defRPr>
            </a:pPr>
            <a:r>
              <a:rPr sz="2400" b="1" i="0">
                <a:solidFill>
                  <a:srgbClr val="D83B3E"/>
                </a:solidFill>
              </a:rPr>
              <a:t>Late</a:t>
            </a:r>
          </a:p>
        </p:txBody>
      </p:sp>
      <p:sp>
        <p:nvSpPr>
          <p:cNvPr id="11" name="Rectangle: Rounded Corners 10">
            <a:extLst>
              <a:ext uri="{FF2B5EF4-FFF2-40B4-BE49-F238E27FC236}">
                <a16:creationId xmlns:a16="http://schemas.microsoft.com/office/drawing/2014/main" id="{4D19B0B9-AD6B-4011-BBBA-342418F5684F}"/>
              </a:ext>
            </a:extLst>
          </p:cNvPr>
          <p:cNvSpPr>
            <a:spLocks noGrp="1"/>
          </p:cNvSpPr>
          <p:nvPr/>
        </p:nvSpPr>
        <p:spPr>
          <a:xfrm>
            <a:off x="1143000" y="7543800"/>
            <a:ext cx="8686800" cy="152400"/>
          </a:xfrm>
          <a:prstGeom prst="roundRect">
            <a:avLst>
              <a:gd name="adj" fmla="val 50000"/>
            </a:avLst>
          </a:prstGeom>
          <a:solidFill>
            <a:srgbClr val="D83B3E"/>
          </a:solidFill>
        </p:spPr>
        <p:txBody>
          <a:bodyPr/>
          <a:lstStyle/>
          <a:p>
            <a:endParaRPr lang="en-US"/>
          </a:p>
        </p:txBody>
      </p:sp>
      <p:sp>
        <p:nvSpPr>
          <p:cNvPr id="12" name="Rectangle: Rounded Corners 11">
            <a:extLst>
              <a:ext uri="{FF2B5EF4-FFF2-40B4-BE49-F238E27FC236}">
                <a16:creationId xmlns:a16="http://schemas.microsoft.com/office/drawing/2014/main" id="{09442170-8BAF-434F-83A6-2651EB6CBEB7}"/>
              </a:ext>
            </a:extLst>
          </p:cNvPr>
          <p:cNvSpPr>
            <a:spLocks noGrp="1"/>
          </p:cNvSpPr>
          <p:nvPr/>
        </p:nvSpPr>
        <p:spPr>
          <a:xfrm>
            <a:off x="10287000" y="4533900"/>
            <a:ext cx="171450" cy="171450"/>
          </a:xfrm>
          <a:prstGeom prst="roundRect">
            <a:avLst>
              <a:gd name="adj" fmla="val 50000"/>
            </a:avLst>
          </a:prstGeom>
          <a:solidFill>
            <a:srgbClr val="1E5A64"/>
          </a:solidFill>
        </p:spPr>
        <p:txBody>
          <a:bodyPr/>
          <a:lstStyle/>
          <a:p>
            <a:endParaRPr lang="en-US"/>
          </a:p>
        </p:txBody>
      </p:sp>
      <p:sp>
        <p:nvSpPr>
          <p:cNvPr id="13" name="Rectangle 12">
            <a:extLst>
              <a:ext uri="{FF2B5EF4-FFF2-40B4-BE49-F238E27FC236}">
                <a16:creationId xmlns:a16="http://schemas.microsoft.com/office/drawing/2014/main" id="{2DC6ADE5-AAEF-4607-A36C-1EBA331F3D38}"/>
              </a:ext>
            </a:extLst>
          </p:cNvPr>
          <p:cNvSpPr>
            <a:spLocks noGrp="1"/>
          </p:cNvSpPr>
          <p:nvPr/>
        </p:nvSpPr>
        <p:spPr>
          <a:xfrm>
            <a:off x="10610850" y="4514850"/>
            <a:ext cx="6934200" cy="323850"/>
          </a:xfrm>
          <a:prstGeom prst="rect">
            <a:avLst/>
          </a:prstGeom>
        </p:spPr>
        <p:txBody>
          <a:bodyPr lIns="0" tIns="0" rIns="0" bIns="0"/>
          <a:lstStyle/>
          <a:p>
            <a:pPr>
              <a:defRPr sz="2100" b="1" i="0">
                <a:solidFill>
                  <a:srgbClr val="071419"/>
                </a:solidFill>
              </a:defRPr>
            </a:pPr>
            <a:r>
              <a:rPr sz="2100" b="1" i="0">
                <a:solidFill>
                  <a:srgbClr val="071419"/>
                </a:solidFill>
              </a:rPr>
              <a:t>OTP</a:t>
            </a:r>
          </a:p>
        </p:txBody>
      </p:sp>
      <p:sp>
        <p:nvSpPr>
          <p:cNvPr id="14" name="Rectangle 13">
            <a:extLst>
              <a:ext uri="{FF2B5EF4-FFF2-40B4-BE49-F238E27FC236}">
                <a16:creationId xmlns:a16="http://schemas.microsoft.com/office/drawing/2014/main" id="{F0A5A363-F7D7-4AE1-9761-7F747FB20FC2}"/>
              </a:ext>
            </a:extLst>
          </p:cNvPr>
          <p:cNvSpPr>
            <a:spLocks noGrp="1"/>
          </p:cNvSpPr>
          <p:nvPr/>
        </p:nvSpPr>
        <p:spPr>
          <a:xfrm>
            <a:off x="10610850" y="4876800"/>
            <a:ext cx="6648450" cy="514350"/>
          </a:xfrm>
          <a:prstGeom prst="rect">
            <a:avLst/>
          </a:prstGeom>
        </p:spPr>
        <p:txBody>
          <a:bodyPr lIns="0" tIns="0" rIns="0" bIns="0"/>
          <a:lstStyle/>
          <a:p>
            <a:pPr>
              <a:defRPr sz="1650" b="0" i="0">
                <a:solidFill>
                  <a:srgbClr val="5D6D76"/>
                </a:solidFill>
              </a:defRPr>
            </a:pPr>
            <a:r>
              <a:rPr sz="1650" b="0" i="0">
                <a:solidFill>
                  <a:srgbClr val="5D6D76"/>
                </a:solidFill>
              </a:rPr>
              <a:t>Percentage of evaluated stop windows that are inside the schedule-adherence tolerance.</a:t>
            </a:r>
          </a:p>
        </p:txBody>
      </p:sp>
      <p:sp>
        <p:nvSpPr>
          <p:cNvPr id="15" name="Rectangle: Rounded Corners 14">
            <a:extLst>
              <a:ext uri="{FF2B5EF4-FFF2-40B4-BE49-F238E27FC236}">
                <a16:creationId xmlns:a16="http://schemas.microsoft.com/office/drawing/2014/main" id="{9C9E7D27-681C-4B8A-A978-03F25B4BCBD9}"/>
              </a:ext>
            </a:extLst>
          </p:cNvPr>
          <p:cNvSpPr>
            <a:spLocks noGrp="1"/>
          </p:cNvSpPr>
          <p:nvPr/>
        </p:nvSpPr>
        <p:spPr>
          <a:xfrm>
            <a:off x="10287000" y="5562600"/>
            <a:ext cx="171450" cy="171450"/>
          </a:xfrm>
          <a:prstGeom prst="roundRect">
            <a:avLst>
              <a:gd name="adj" fmla="val 50000"/>
            </a:avLst>
          </a:prstGeom>
          <a:solidFill>
            <a:srgbClr val="48B8C7"/>
          </a:solidFill>
        </p:spPr>
        <p:txBody>
          <a:bodyPr/>
          <a:lstStyle/>
          <a:p>
            <a:endParaRPr lang="en-US"/>
          </a:p>
        </p:txBody>
      </p:sp>
      <p:sp>
        <p:nvSpPr>
          <p:cNvPr id="16" name="Rectangle 15">
            <a:extLst>
              <a:ext uri="{FF2B5EF4-FFF2-40B4-BE49-F238E27FC236}">
                <a16:creationId xmlns:a16="http://schemas.microsoft.com/office/drawing/2014/main" id="{6876B681-5214-4C5E-A244-D2E3F90AFE01}"/>
              </a:ext>
            </a:extLst>
          </p:cNvPr>
          <p:cNvSpPr>
            <a:spLocks noGrp="1"/>
          </p:cNvSpPr>
          <p:nvPr/>
        </p:nvSpPr>
        <p:spPr>
          <a:xfrm>
            <a:off x="10610850" y="5543550"/>
            <a:ext cx="6934200" cy="323850"/>
          </a:xfrm>
          <a:prstGeom prst="rect">
            <a:avLst/>
          </a:prstGeom>
        </p:spPr>
        <p:txBody>
          <a:bodyPr lIns="0" tIns="0" rIns="0" bIns="0"/>
          <a:lstStyle/>
          <a:p>
            <a:pPr>
              <a:defRPr sz="2100" b="1" i="0">
                <a:solidFill>
                  <a:srgbClr val="071419"/>
                </a:solidFill>
              </a:defRPr>
            </a:pPr>
            <a:r>
              <a:rPr sz="2100" b="1" i="0">
                <a:solidFill>
                  <a:srgbClr val="071419"/>
                </a:solidFill>
              </a:rPr>
              <a:t>Delay</a:t>
            </a:r>
          </a:p>
        </p:txBody>
      </p:sp>
      <p:sp>
        <p:nvSpPr>
          <p:cNvPr id="17" name="Rectangle 16">
            <a:extLst>
              <a:ext uri="{FF2B5EF4-FFF2-40B4-BE49-F238E27FC236}">
                <a16:creationId xmlns:a16="http://schemas.microsoft.com/office/drawing/2014/main" id="{2F6E6DCD-E778-4CE1-B060-1DD27DB76A19}"/>
              </a:ext>
            </a:extLst>
          </p:cNvPr>
          <p:cNvSpPr>
            <a:spLocks noGrp="1"/>
          </p:cNvSpPr>
          <p:nvPr/>
        </p:nvSpPr>
        <p:spPr>
          <a:xfrm>
            <a:off x="10610850" y="5905500"/>
            <a:ext cx="6648450" cy="514350"/>
          </a:xfrm>
          <a:prstGeom prst="rect">
            <a:avLst/>
          </a:prstGeom>
        </p:spPr>
        <p:txBody>
          <a:bodyPr lIns="0" tIns="0" rIns="0" bIns="0"/>
          <a:lstStyle/>
          <a:p>
            <a:pPr>
              <a:defRPr sz="1650" b="0" i="0">
                <a:solidFill>
                  <a:srgbClr val="5D6D76"/>
                </a:solidFill>
              </a:defRPr>
            </a:pPr>
            <a:r>
              <a:rPr sz="1650" b="0" i="0">
                <a:solidFill>
                  <a:srgbClr val="5D6D76"/>
                </a:solidFill>
              </a:rPr>
              <a:t>Positive delay means later than scheduled; negative delay means early relative to schedule.</a:t>
            </a:r>
          </a:p>
        </p:txBody>
      </p:sp>
      <p:sp>
        <p:nvSpPr>
          <p:cNvPr id="18" name="Rectangle: Rounded Corners 17">
            <a:extLst>
              <a:ext uri="{FF2B5EF4-FFF2-40B4-BE49-F238E27FC236}">
                <a16:creationId xmlns:a16="http://schemas.microsoft.com/office/drawing/2014/main" id="{D80424D5-7CA8-4BED-B79F-F18A69AD3F31}"/>
              </a:ext>
            </a:extLst>
          </p:cNvPr>
          <p:cNvSpPr>
            <a:spLocks noGrp="1"/>
          </p:cNvSpPr>
          <p:nvPr/>
        </p:nvSpPr>
        <p:spPr>
          <a:xfrm>
            <a:off x="10287000" y="6591300"/>
            <a:ext cx="171450" cy="171450"/>
          </a:xfrm>
          <a:prstGeom prst="roundRect">
            <a:avLst>
              <a:gd name="adj" fmla="val 50000"/>
            </a:avLst>
          </a:prstGeom>
          <a:solidFill>
            <a:srgbClr val="1E5A64"/>
          </a:solidFill>
        </p:spPr>
        <p:txBody>
          <a:bodyPr/>
          <a:lstStyle/>
          <a:p>
            <a:endParaRPr lang="en-US"/>
          </a:p>
        </p:txBody>
      </p:sp>
      <p:sp>
        <p:nvSpPr>
          <p:cNvPr id="19" name="Rectangle 18">
            <a:extLst>
              <a:ext uri="{FF2B5EF4-FFF2-40B4-BE49-F238E27FC236}">
                <a16:creationId xmlns:a16="http://schemas.microsoft.com/office/drawing/2014/main" id="{59A727AA-9DF3-4EC7-920E-95E147B2EE2D}"/>
              </a:ext>
            </a:extLst>
          </p:cNvPr>
          <p:cNvSpPr>
            <a:spLocks noGrp="1"/>
          </p:cNvSpPr>
          <p:nvPr/>
        </p:nvSpPr>
        <p:spPr>
          <a:xfrm>
            <a:off x="10610850" y="6572250"/>
            <a:ext cx="6934200" cy="323850"/>
          </a:xfrm>
          <a:prstGeom prst="rect">
            <a:avLst/>
          </a:prstGeom>
        </p:spPr>
        <p:txBody>
          <a:bodyPr lIns="0" tIns="0" rIns="0" bIns="0"/>
          <a:lstStyle/>
          <a:p>
            <a:pPr>
              <a:defRPr sz="2100" b="1" i="0">
                <a:solidFill>
                  <a:srgbClr val="071419"/>
                </a:solidFill>
              </a:defRPr>
            </a:pPr>
            <a:r>
              <a:rPr sz="2100" b="1" i="0">
                <a:solidFill>
                  <a:srgbClr val="071419"/>
                </a:solidFill>
              </a:rPr>
              <a:t>Coverage</a:t>
            </a:r>
          </a:p>
        </p:txBody>
      </p:sp>
      <p:sp>
        <p:nvSpPr>
          <p:cNvPr id="20" name="Rectangle 19">
            <a:extLst>
              <a:ext uri="{FF2B5EF4-FFF2-40B4-BE49-F238E27FC236}">
                <a16:creationId xmlns:a16="http://schemas.microsoft.com/office/drawing/2014/main" id="{1A932021-A7BD-41DA-8CB0-BA33308E288C}"/>
              </a:ext>
            </a:extLst>
          </p:cNvPr>
          <p:cNvSpPr>
            <a:spLocks noGrp="1"/>
          </p:cNvSpPr>
          <p:nvPr/>
        </p:nvSpPr>
        <p:spPr>
          <a:xfrm>
            <a:off x="10610850" y="6934200"/>
            <a:ext cx="6324600" cy="514350"/>
          </a:xfrm>
          <a:prstGeom prst="rect">
            <a:avLst/>
          </a:prstGeom>
        </p:spPr>
        <p:txBody>
          <a:bodyPr lIns="0" tIns="0" rIns="0" bIns="0"/>
          <a:lstStyle/>
          <a:p>
            <a:pPr>
              <a:defRPr sz="1650" b="0" i="0">
                <a:solidFill>
                  <a:srgbClr val="5D6D76"/>
                </a:solidFill>
              </a:defRPr>
            </a:pPr>
            <a:r>
              <a:rPr sz="1650" b="0" i="0">
                <a:solidFill>
                  <a:srgbClr val="5D6D76"/>
                </a:solidFill>
              </a:rPr>
              <a:t>How much realtime prediction evidence is available for the scheduled stop windows.</a:t>
            </a:r>
          </a:p>
        </p:txBody>
      </p:sp>
      <p:sp>
        <p:nvSpPr>
          <p:cNvPr id="21" name="source">
            <a:extLst>
              <a:ext uri="{FF2B5EF4-FFF2-40B4-BE49-F238E27FC236}">
                <a16:creationId xmlns:a16="http://schemas.microsoft.com/office/drawing/2014/main" id="{EBC18682-F6D0-49D6-BCCC-EC1F346A2321}"/>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120867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47" name="bg">
            <a:extLst>
              <a:ext uri="{FF2B5EF4-FFF2-40B4-BE49-F238E27FC236}">
                <a16:creationId xmlns:a16="http://schemas.microsoft.com/office/drawing/2014/main" id="{0BC2D4F6-ED56-40E1-97DD-923BEE4E6BA3}"/>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9CC99EE2-7567-48FF-B57A-BC0269D6E451}"/>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3FCDB368-EA69-4405-A95E-27643BFE22C3}"/>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670398EF-7628-450A-BA07-261C021C1DBD}"/>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Data mining techniques and model development</a:t>
            </a:r>
          </a:p>
        </p:txBody>
      </p:sp>
      <p:sp>
        <p:nvSpPr>
          <p:cNvPr id="5" name="slide-subtitle">
            <a:extLst>
              <a:ext uri="{FF2B5EF4-FFF2-40B4-BE49-F238E27FC236}">
                <a16:creationId xmlns:a16="http://schemas.microsoft.com/office/drawing/2014/main" id="{D1EDA630-369B-4731-90E0-065FF44A6646}"/>
              </a:ext>
            </a:extLst>
          </p:cNvPr>
          <p:cNvSpPr>
            <a:spLocks noGrp="1"/>
          </p:cNvSpPr>
          <p:nvPr/>
        </p:nvSpPr>
        <p:spPr>
          <a:xfrm>
            <a:off x="1123950" y="1657350"/>
            <a:ext cx="9582150" cy="571500"/>
          </a:xfrm>
          <a:prstGeom prst="rect">
            <a:avLst/>
          </a:prstGeom>
        </p:spPr>
        <p:txBody>
          <a:bodyPr lIns="0" tIns="0" rIns="0" bIns="0"/>
          <a:lstStyle/>
          <a:p>
            <a:pPr>
              <a:defRPr sz="1875" b="0" i="0">
                <a:solidFill>
                  <a:srgbClr val="5D6D76"/>
                </a:solidFill>
              </a:defRPr>
            </a:pPr>
            <a:r>
              <a:rPr sz="1875" b="0" i="0">
                <a:solidFill>
                  <a:srgbClr val="5D6D76"/>
                </a:solidFill>
              </a:rPr>
              <a:t>Part 3 used two required data-mining families: clustering/pattern discovery and anomaly detection.</a:t>
            </a:r>
          </a:p>
        </p:txBody>
      </p:sp>
      <p:sp>
        <p:nvSpPr>
          <p:cNvPr id="6" name="Rectangle 5">
            <a:extLst>
              <a:ext uri="{FF2B5EF4-FFF2-40B4-BE49-F238E27FC236}">
                <a16:creationId xmlns:a16="http://schemas.microsoft.com/office/drawing/2014/main" id="{D3B57CE3-A31E-485C-8810-3B1C02012834}"/>
              </a:ext>
            </a:extLst>
          </p:cNvPr>
          <p:cNvSpPr>
            <a:spLocks noGrp="1"/>
          </p:cNvSpPr>
          <p:nvPr/>
        </p:nvSpPr>
        <p:spPr>
          <a:xfrm>
            <a:off x="1123950" y="2487930"/>
            <a:ext cx="2897841" cy="434340"/>
          </a:xfrm>
          <a:prstGeom prst="rect">
            <a:avLst/>
          </a:prstGeom>
          <a:solidFill>
            <a:srgbClr val="1E5A64"/>
          </a:solidFill>
        </p:spPr>
        <p:txBody>
          <a:bodyPr/>
          <a:lstStyle/>
          <a:p>
            <a:endParaRPr lang="en-US"/>
          </a:p>
        </p:txBody>
      </p:sp>
      <p:sp>
        <p:nvSpPr>
          <p:cNvPr id="7" name="Rectangle 6">
            <a:extLst>
              <a:ext uri="{FF2B5EF4-FFF2-40B4-BE49-F238E27FC236}">
                <a16:creationId xmlns:a16="http://schemas.microsoft.com/office/drawing/2014/main" id="{5D3AEE4E-6402-4E2A-882B-C922CBB8F616}"/>
              </a:ext>
            </a:extLst>
          </p:cNvPr>
          <p:cNvSpPr>
            <a:spLocks noGrp="1"/>
          </p:cNvSpPr>
          <p:nvPr/>
        </p:nvSpPr>
        <p:spPr>
          <a:xfrm>
            <a:off x="1276350" y="2609850"/>
            <a:ext cx="2590800" cy="209550"/>
          </a:xfrm>
          <a:prstGeom prst="rect">
            <a:avLst/>
          </a:prstGeom>
        </p:spPr>
        <p:txBody>
          <a:bodyPr lIns="0" tIns="0" rIns="0" bIns="0"/>
          <a:lstStyle/>
          <a:p>
            <a:pPr>
              <a:defRPr sz="1350" b="1" i="0">
                <a:solidFill>
                  <a:srgbClr val="FFFFFF"/>
                </a:solidFill>
              </a:defRPr>
            </a:pPr>
            <a:r>
              <a:rPr sz="1350" b="1" i="0">
                <a:solidFill>
                  <a:srgbClr val="FFFFFF"/>
                </a:solidFill>
              </a:rPr>
              <a:t>Technique</a:t>
            </a:r>
          </a:p>
        </p:txBody>
      </p:sp>
      <p:sp>
        <p:nvSpPr>
          <p:cNvPr id="8" name="Rectangle 7">
            <a:extLst>
              <a:ext uri="{FF2B5EF4-FFF2-40B4-BE49-F238E27FC236}">
                <a16:creationId xmlns:a16="http://schemas.microsoft.com/office/drawing/2014/main" id="{8A6C4188-2402-4E5C-B9D8-18FF196B19C2}"/>
              </a:ext>
            </a:extLst>
          </p:cNvPr>
          <p:cNvSpPr>
            <a:spLocks noGrp="1"/>
          </p:cNvSpPr>
          <p:nvPr/>
        </p:nvSpPr>
        <p:spPr>
          <a:xfrm>
            <a:off x="4021791" y="2487930"/>
            <a:ext cx="3219824" cy="434340"/>
          </a:xfrm>
          <a:prstGeom prst="rect">
            <a:avLst/>
          </a:prstGeom>
          <a:solidFill>
            <a:srgbClr val="1E5A64"/>
          </a:solidFill>
        </p:spPr>
        <p:txBody>
          <a:bodyPr/>
          <a:lstStyle/>
          <a:p>
            <a:endParaRPr lang="en-US"/>
          </a:p>
        </p:txBody>
      </p:sp>
      <p:sp>
        <p:nvSpPr>
          <p:cNvPr id="9" name="Rectangle 8">
            <a:extLst>
              <a:ext uri="{FF2B5EF4-FFF2-40B4-BE49-F238E27FC236}">
                <a16:creationId xmlns:a16="http://schemas.microsoft.com/office/drawing/2014/main" id="{67BEC122-209F-4690-87D2-55343EF3B243}"/>
              </a:ext>
            </a:extLst>
          </p:cNvPr>
          <p:cNvSpPr>
            <a:spLocks noGrp="1"/>
          </p:cNvSpPr>
          <p:nvPr/>
        </p:nvSpPr>
        <p:spPr>
          <a:xfrm>
            <a:off x="4171950" y="2609850"/>
            <a:ext cx="2914650" cy="209550"/>
          </a:xfrm>
          <a:prstGeom prst="rect">
            <a:avLst/>
          </a:prstGeom>
        </p:spPr>
        <p:txBody>
          <a:bodyPr lIns="0" tIns="0" rIns="0" bIns="0"/>
          <a:lstStyle/>
          <a:p>
            <a:pPr>
              <a:defRPr sz="1350" b="1" i="0">
                <a:solidFill>
                  <a:srgbClr val="FFFFFF"/>
                </a:solidFill>
              </a:defRPr>
            </a:pPr>
            <a:r>
              <a:rPr sz="1350" b="1" i="0">
                <a:solidFill>
                  <a:srgbClr val="FFFFFF"/>
                </a:solidFill>
              </a:rPr>
              <a:t>Category</a:t>
            </a:r>
          </a:p>
        </p:txBody>
      </p:sp>
      <p:sp>
        <p:nvSpPr>
          <p:cNvPr id="10" name="Rectangle 9">
            <a:extLst>
              <a:ext uri="{FF2B5EF4-FFF2-40B4-BE49-F238E27FC236}">
                <a16:creationId xmlns:a16="http://schemas.microsoft.com/office/drawing/2014/main" id="{206224F6-2BE8-4D0A-B243-50D0B6A900A2}"/>
              </a:ext>
            </a:extLst>
          </p:cNvPr>
          <p:cNvSpPr>
            <a:spLocks noGrp="1"/>
          </p:cNvSpPr>
          <p:nvPr/>
        </p:nvSpPr>
        <p:spPr>
          <a:xfrm>
            <a:off x="7241615" y="2487930"/>
            <a:ext cx="5312709" cy="434340"/>
          </a:xfrm>
          <a:prstGeom prst="rect">
            <a:avLst/>
          </a:prstGeom>
          <a:solidFill>
            <a:srgbClr val="1E5A64"/>
          </a:solidFill>
        </p:spPr>
        <p:txBody>
          <a:bodyPr/>
          <a:lstStyle/>
          <a:p>
            <a:endParaRPr lang="en-US"/>
          </a:p>
        </p:txBody>
      </p:sp>
      <p:sp>
        <p:nvSpPr>
          <p:cNvPr id="11" name="Rectangle 10">
            <a:extLst>
              <a:ext uri="{FF2B5EF4-FFF2-40B4-BE49-F238E27FC236}">
                <a16:creationId xmlns:a16="http://schemas.microsoft.com/office/drawing/2014/main" id="{44DC2E3D-7794-4D0D-AA6B-4976A68AC2AE}"/>
              </a:ext>
            </a:extLst>
          </p:cNvPr>
          <p:cNvSpPr>
            <a:spLocks noGrp="1"/>
          </p:cNvSpPr>
          <p:nvPr/>
        </p:nvSpPr>
        <p:spPr>
          <a:xfrm>
            <a:off x="7391400" y="2609850"/>
            <a:ext cx="5010150" cy="209550"/>
          </a:xfrm>
          <a:prstGeom prst="rect">
            <a:avLst/>
          </a:prstGeom>
        </p:spPr>
        <p:txBody>
          <a:bodyPr lIns="0" tIns="0" rIns="0" bIns="0"/>
          <a:lstStyle/>
          <a:p>
            <a:pPr>
              <a:defRPr sz="1350" b="1" i="0">
                <a:solidFill>
                  <a:srgbClr val="FFFFFF"/>
                </a:solidFill>
              </a:defRPr>
            </a:pPr>
            <a:r>
              <a:rPr sz="1350" b="1" i="0">
                <a:solidFill>
                  <a:srgbClr val="FFFFFF"/>
                </a:solidFill>
              </a:rPr>
              <a:t>Question answered</a:t>
            </a:r>
          </a:p>
        </p:txBody>
      </p:sp>
      <p:sp>
        <p:nvSpPr>
          <p:cNvPr id="12" name="Rectangle 11">
            <a:extLst>
              <a:ext uri="{FF2B5EF4-FFF2-40B4-BE49-F238E27FC236}">
                <a16:creationId xmlns:a16="http://schemas.microsoft.com/office/drawing/2014/main" id="{B6B5851E-92F4-48C1-B9D0-278E7C48889F}"/>
              </a:ext>
            </a:extLst>
          </p:cNvPr>
          <p:cNvSpPr>
            <a:spLocks noGrp="1"/>
          </p:cNvSpPr>
          <p:nvPr/>
        </p:nvSpPr>
        <p:spPr>
          <a:xfrm>
            <a:off x="12554324" y="2487930"/>
            <a:ext cx="4990726" cy="434340"/>
          </a:xfrm>
          <a:prstGeom prst="rect">
            <a:avLst/>
          </a:prstGeom>
          <a:solidFill>
            <a:srgbClr val="1E5A64"/>
          </a:solidFill>
        </p:spPr>
        <p:txBody>
          <a:bodyPr/>
          <a:lstStyle/>
          <a:p>
            <a:endParaRPr lang="en-US"/>
          </a:p>
        </p:txBody>
      </p:sp>
      <p:sp>
        <p:nvSpPr>
          <p:cNvPr id="13" name="Rectangle 12">
            <a:extLst>
              <a:ext uri="{FF2B5EF4-FFF2-40B4-BE49-F238E27FC236}">
                <a16:creationId xmlns:a16="http://schemas.microsoft.com/office/drawing/2014/main" id="{F6D69DFB-B11F-4434-B2D6-0DE415F88A68}"/>
              </a:ext>
            </a:extLst>
          </p:cNvPr>
          <p:cNvSpPr>
            <a:spLocks noGrp="1"/>
          </p:cNvSpPr>
          <p:nvPr/>
        </p:nvSpPr>
        <p:spPr>
          <a:xfrm>
            <a:off x="12706350" y="2609850"/>
            <a:ext cx="4686300" cy="209550"/>
          </a:xfrm>
          <a:prstGeom prst="rect">
            <a:avLst/>
          </a:prstGeom>
        </p:spPr>
        <p:txBody>
          <a:bodyPr lIns="0" tIns="0" rIns="0" bIns="0"/>
          <a:lstStyle/>
          <a:p>
            <a:pPr>
              <a:defRPr sz="1350" b="1" i="0">
                <a:solidFill>
                  <a:srgbClr val="FFFFFF"/>
                </a:solidFill>
              </a:defRPr>
            </a:pPr>
            <a:r>
              <a:rPr sz="1350" b="1" i="0">
                <a:solidFill>
                  <a:srgbClr val="FFFFFF"/>
                </a:solidFill>
              </a:rPr>
              <a:t>Why appropriate</a:t>
            </a:r>
          </a:p>
        </p:txBody>
      </p:sp>
      <p:sp>
        <p:nvSpPr>
          <p:cNvPr id="14" name="Rectangle 13">
            <a:extLst>
              <a:ext uri="{FF2B5EF4-FFF2-40B4-BE49-F238E27FC236}">
                <a16:creationId xmlns:a16="http://schemas.microsoft.com/office/drawing/2014/main" id="{1C99252C-2448-42FA-A66C-D343CAFD3560}"/>
              </a:ext>
            </a:extLst>
          </p:cNvPr>
          <p:cNvSpPr>
            <a:spLocks noGrp="1"/>
          </p:cNvSpPr>
          <p:nvPr/>
        </p:nvSpPr>
        <p:spPr>
          <a:xfrm>
            <a:off x="1123950" y="2922270"/>
            <a:ext cx="2897841" cy="422910"/>
          </a:xfrm>
          <a:prstGeom prst="rect">
            <a:avLst/>
          </a:prstGeom>
          <a:solidFill>
            <a:srgbClr val="FFFFFF"/>
          </a:solidFill>
          <a:ln w="9525">
            <a:solidFill>
              <a:srgbClr val="E0E7E4"/>
            </a:solidFill>
            <a:prstDash val="solid"/>
          </a:ln>
        </p:spPr>
        <p:txBody>
          <a:bodyPr/>
          <a:lstStyle/>
          <a:p>
            <a:endParaRPr lang="en-US"/>
          </a:p>
        </p:txBody>
      </p:sp>
      <p:sp>
        <p:nvSpPr>
          <p:cNvPr id="15" name="Rectangle 14">
            <a:extLst>
              <a:ext uri="{FF2B5EF4-FFF2-40B4-BE49-F238E27FC236}">
                <a16:creationId xmlns:a16="http://schemas.microsoft.com/office/drawing/2014/main" id="{34AEDE75-23B1-4B60-9D55-5CFF0D560D50}"/>
              </a:ext>
            </a:extLst>
          </p:cNvPr>
          <p:cNvSpPr>
            <a:spLocks noGrp="1"/>
          </p:cNvSpPr>
          <p:nvPr/>
        </p:nvSpPr>
        <p:spPr>
          <a:xfrm>
            <a:off x="1276350" y="3028950"/>
            <a:ext cx="2590800" cy="209550"/>
          </a:xfrm>
          <a:prstGeom prst="rect">
            <a:avLst/>
          </a:prstGeom>
        </p:spPr>
        <p:txBody>
          <a:bodyPr lIns="0" tIns="0" rIns="0" bIns="0"/>
          <a:lstStyle/>
          <a:p>
            <a:pPr>
              <a:defRPr sz="1275" b="0" i="0">
                <a:solidFill>
                  <a:srgbClr val="10242E"/>
                </a:solidFill>
              </a:defRPr>
            </a:pPr>
            <a:r>
              <a:rPr sz="1275" b="0" i="0">
                <a:solidFill>
                  <a:srgbClr val="10242E"/>
                </a:solidFill>
              </a:rPr>
              <a:t>KMeans</a:t>
            </a:r>
          </a:p>
        </p:txBody>
      </p:sp>
      <p:sp>
        <p:nvSpPr>
          <p:cNvPr id="16" name="Rectangle 15">
            <a:extLst>
              <a:ext uri="{FF2B5EF4-FFF2-40B4-BE49-F238E27FC236}">
                <a16:creationId xmlns:a16="http://schemas.microsoft.com/office/drawing/2014/main" id="{AF9BFA6F-36EE-4668-96A2-C36BE4DF4E42}"/>
              </a:ext>
            </a:extLst>
          </p:cNvPr>
          <p:cNvSpPr>
            <a:spLocks noGrp="1"/>
          </p:cNvSpPr>
          <p:nvPr/>
        </p:nvSpPr>
        <p:spPr>
          <a:xfrm>
            <a:off x="4021791" y="2922270"/>
            <a:ext cx="3219824" cy="422910"/>
          </a:xfrm>
          <a:prstGeom prst="rect">
            <a:avLst/>
          </a:prstGeom>
          <a:solidFill>
            <a:srgbClr val="FFFFFF"/>
          </a:solidFill>
          <a:ln w="9525">
            <a:solidFill>
              <a:srgbClr val="E0E7E4"/>
            </a:solidFill>
            <a:prstDash val="solid"/>
          </a:ln>
        </p:spPr>
        <p:txBody>
          <a:bodyPr/>
          <a:lstStyle/>
          <a:p>
            <a:endParaRPr lang="en-US"/>
          </a:p>
        </p:txBody>
      </p:sp>
      <p:sp>
        <p:nvSpPr>
          <p:cNvPr id="17" name="Rectangle 16">
            <a:extLst>
              <a:ext uri="{FF2B5EF4-FFF2-40B4-BE49-F238E27FC236}">
                <a16:creationId xmlns:a16="http://schemas.microsoft.com/office/drawing/2014/main" id="{DC3DC3F2-AC52-41AE-AC73-169EF4CB8ED5}"/>
              </a:ext>
            </a:extLst>
          </p:cNvPr>
          <p:cNvSpPr>
            <a:spLocks noGrp="1"/>
          </p:cNvSpPr>
          <p:nvPr/>
        </p:nvSpPr>
        <p:spPr>
          <a:xfrm>
            <a:off x="4171950" y="3028950"/>
            <a:ext cx="2914650" cy="209550"/>
          </a:xfrm>
          <a:prstGeom prst="rect">
            <a:avLst/>
          </a:prstGeom>
        </p:spPr>
        <p:txBody>
          <a:bodyPr lIns="0" tIns="0" rIns="0" bIns="0"/>
          <a:lstStyle/>
          <a:p>
            <a:pPr>
              <a:defRPr sz="1275" b="0" i="0">
                <a:solidFill>
                  <a:srgbClr val="10242E"/>
                </a:solidFill>
              </a:defRPr>
            </a:pPr>
            <a:r>
              <a:rPr sz="1275" b="0" i="0">
                <a:solidFill>
                  <a:srgbClr val="10242E"/>
                </a:solidFill>
              </a:rPr>
              <a:t>Clustering</a:t>
            </a:r>
          </a:p>
        </p:txBody>
      </p:sp>
      <p:sp>
        <p:nvSpPr>
          <p:cNvPr id="18" name="Rectangle 17">
            <a:extLst>
              <a:ext uri="{FF2B5EF4-FFF2-40B4-BE49-F238E27FC236}">
                <a16:creationId xmlns:a16="http://schemas.microsoft.com/office/drawing/2014/main" id="{F04B9AA2-15EA-4F9C-A03C-3FFAA7CF7E02}"/>
              </a:ext>
            </a:extLst>
          </p:cNvPr>
          <p:cNvSpPr>
            <a:spLocks noGrp="1"/>
          </p:cNvSpPr>
          <p:nvPr/>
        </p:nvSpPr>
        <p:spPr>
          <a:xfrm>
            <a:off x="7241615" y="2922270"/>
            <a:ext cx="5312709" cy="422910"/>
          </a:xfrm>
          <a:prstGeom prst="rect">
            <a:avLst/>
          </a:prstGeom>
          <a:solidFill>
            <a:srgbClr val="FFFFFF"/>
          </a:solidFill>
          <a:ln w="9525">
            <a:solidFill>
              <a:srgbClr val="E0E7E4"/>
            </a:solidFill>
            <a:prstDash val="solid"/>
          </a:ln>
        </p:spPr>
        <p:txBody>
          <a:bodyPr/>
          <a:lstStyle/>
          <a:p>
            <a:endParaRPr lang="en-US"/>
          </a:p>
        </p:txBody>
      </p:sp>
      <p:sp>
        <p:nvSpPr>
          <p:cNvPr id="19" name="Rectangle 18">
            <a:extLst>
              <a:ext uri="{FF2B5EF4-FFF2-40B4-BE49-F238E27FC236}">
                <a16:creationId xmlns:a16="http://schemas.microsoft.com/office/drawing/2014/main" id="{8DB7C874-E40D-406E-A589-6B76AA2ED7A4}"/>
              </a:ext>
            </a:extLst>
          </p:cNvPr>
          <p:cNvSpPr>
            <a:spLocks noGrp="1"/>
          </p:cNvSpPr>
          <p:nvPr/>
        </p:nvSpPr>
        <p:spPr>
          <a:xfrm>
            <a:off x="7391400" y="3028950"/>
            <a:ext cx="5010150" cy="209550"/>
          </a:xfrm>
          <a:prstGeom prst="rect">
            <a:avLst/>
          </a:prstGeom>
        </p:spPr>
        <p:txBody>
          <a:bodyPr lIns="0" tIns="0" rIns="0" bIns="0"/>
          <a:lstStyle/>
          <a:p>
            <a:pPr>
              <a:defRPr sz="1275" b="0" i="0">
                <a:solidFill>
                  <a:srgbClr val="10242E"/>
                </a:solidFill>
              </a:defRPr>
            </a:pPr>
            <a:r>
              <a:rPr sz="1275" b="0" i="0">
                <a:solidFill>
                  <a:srgbClr val="10242E"/>
                </a:solidFill>
              </a:rPr>
              <a:t>Which route-stop-hour windows behave similarly?</a:t>
            </a:r>
          </a:p>
        </p:txBody>
      </p:sp>
      <p:sp>
        <p:nvSpPr>
          <p:cNvPr id="20" name="Rectangle 19">
            <a:extLst>
              <a:ext uri="{FF2B5EF4-FFF2-40B4-BE49-F238E27FC236}">
                <a16:creationId xmlns:a16="http://schemas.microsoft.com/office/drawing/2014/main" id="{3082B11B-4B54-452F-B2DE-3DFA6DCD70E6}"/>
              </a:ext>
            </a:extLst>
          </p:cNvPr>
          <p:cNvSpPr>
            <a:spLocks noGrp="1"/>
          </p:cNvSpPr>
          <p:nvPr/>
        </p:nvSpPr>
        <p:spPr>
          <a:xfrm>
            <a:off x="12554324" y="2922270"/>
            <a:ext cx="4990726" cy="422910"/>
          </a:xfrm>
          <a:prstGeom prst="rect">
            <a:avLst/>
          </a:prstGeom>
          <a:solidFill>
            <a:srgbClr val="FFFFFF"/>
          </a:solidFill>
          <a:ln w="9525">
            <a:solidFill>
              <a:srgbClr val="E0E7E4"/>
            </a:solidFill>
            <a:prstDash val="solid"/>
          </a:ln>
        </p:spPr>
        <p:txBody>
          <a:bodyPr/>
          <a:lstStyle/>
          <a:p>
            <a:endParaRPr lang="en-US"/>
          </a:p>
        </p:txBody>
      </p:sp>
      <p:sp>
        <p:nvSpPr>
          <p:cNvPr id="21" name="Rectangle 20">
            <a:extLst>
              <a:ext uri="{FF2B5EF4-FFF2-40B4-BE49-F238E27FC236}">
                <a16:creationId xmlns:a16="http://schemas.microsoft.com/office/drawing/2014/main" id="{2E8E2479-186F-432A-A95A-CD476938612C}"/>
              </a:ext>
            </a:extLst>
          </p:cNvPr>
          <p:cNvSpPr>
            <a:spLocks noGrp="1"/>
          </p:cNvSpPr>
          <p:nvPr/>
        </p:nvSpPr>
        <p:spPr>
          <a:xfrm>
            <a:off x="12706350" y="3028950"/>
            <a:ext cx="4686300" cy="209550"/>
          </a:xfrm>
          <a:prstGeom prst="rect">
            <a:avLst/>
          </a:prstGeom>
        </p:spPr>
        <p:txBody>
          <a:bodyPr lIns="0" tIns="0" rIns="0" bIns="0"/>
          <a:lstStyle/>
          <a:p>
            <a:pPr>
              <a:defRPr sz="1275" b="0" i="0">
                <a:solidFill>
                  <a:srgbClr val="10242E"/>
                </a:solidFill>
              </a:defRPr>
            </a:pPr>
            <a:r>
              <a:rPr sz="1275" b="0" i="0">
                <a:solidFill>
                  <a:srgbClr val="10242E"/>
                </a:solidFill>
              </a:rPr>
              <a:t>Simple, interpretable reliability groups.</a:t>
            </a:r>
          </a:p>
        </p:txBody>
      </p:sp>
      <p:sp>
        <p:nvSpPr>
          <p:cNvPr id="22" name="Rectangle 21">
            <a:extLst>
              <a:ext uri="{FF2B5EF4-FFF2-40B4-BE49-F238E27FC236}">
                <a16:creationId xmlns:a16="http://schemas.microsoft.com/office/drawing/2014/main" id="{C2B9C849-36AC-4120-9664-8634EE219977}"/>
              </a:ext>
            </a:extLst>
          </p:cNvPr>
          <p:cNvSpPr>
            <a:spLocks noGrp="1"/>
          </p:cNvSpPr>
          <p:nvPr/>
        </p:nvSpPr>
        <p:spPr>
          <a:xfrm>
            <a:off x="1123950" y="3345180"/>
            <a:ext cx="2897841" cy="422910"/>
          </a:xfrm>
          <a:prstGeom prst="rect">
            <a:avLst/>
          </a:prstGeom>
          <a:solidFill>
            <a:srgbClr val="F0F4F2"/>
          </a:solidFill>
          <a:ln w="9525">
            <a:solidFill>
              <a:srgbClr val="E0E7E4"/>
            </a:solidFill>
            <a:prstDash val="solid"/>
          </a:ln>
        </p:spPr>
        <p:txBody>
          <a:bodyPr/>
          <a:lstStyle/>
          <a:p>
            <a:endParaRPr lang="en-US"/>
          </a:p>
        </p:txBody>
      </p:sp>
      <p:sp>
        <p:nvSpPr>
          <p:cNvPr id="23" name="Rectangle 22">
            <a:extLst>
              <a:ext uri="{FF2B5EF4-FFF2-40B4-BE49-F238E27FC236}">
                <a16:creationId xmlns:a16="http://schemas.microsoft.com/office/drawing/2014/main" id="{3207C4AE-63EB-4646-9283-BCAB0609C093}"/>
              </a:ext>
            </a:extLst>
          </p:cNvPr>
          <p:cNvSpPr>
            <a:spLocks noGrp="1"/>
          </p:cNvSpPr>
          <p:nvPr/>
        </p:nvSpPr>
        <p:spPr>
          <a:xfrm>
            <a:off x="1276350" y="3467100"/>
            <a:ext cx="2590800" cy="209550"/>
          </a:xfrm>
          <a:prstGeom prst="rect">
            <a:avLst/>
          </a:prstGeom>
        </p:spPr>
        <p:txBody>
          <a:bodyPr lIns="0" tIns="0" rIns="0" bIns="0"/>
          <a:lstStyle/>
          <a:p>
            <a:pPr>
              <a:defRPr sz="1275" b="0" i="0">
                <a:solidFill>
                  <a:srgbClr val="10242E"/>
                </a:solidFill>
              </a:defRPr>
            </a:pPr>
            <a:r>
              <a:rPr sz="1275" b="0" i="0">
                <a:solidFill>
                  <a:srgbClr val="10242E"/>
                </a:solidFill>
              </a:rPr>
              <a:t>DBSCAN</a:t>
            </a:r>
          </a:p>
        </p:txBody>
      </p:sp>
      <p:sp>
        <p:nvSpPr>
          <p:cNvPr id="24" name="Rectangle 23">
            <a:extLst>
              <a:ext uri="{FF2B5EF4-FFF2-40B4-BE49-F238E27FC236}">
                <a16:creationId xmlns:a16="http://schemas.microsoft.com/office/drawing/2014/main" id="{E5E5CF9B-065E-4907-BAB7-E15847463C97}"/>
              </a:ext>
            </a:extLst>
          </p:cNvPr>
          <p:cNvSpPr>
            <a:spLocks noGrp="1"/>
          </p:cNvSpPr>
          <p:nvPr/>
        </p:nvSpPr>
        <p:spPr>
          <a:xfrm>
            <a:off x="4021791" y="3345180"/>
            <a:ext cx="3219824" cy="422910"/>
          </a:xfrm>
          <a:prstGeom prst="rect">
            <a:avLst/>
          </a:prstGeom>
          <a:solidFill>
            <a:srgbClr val="F0F4F2"/>
          </a:solidFill>
          <a:ln w="9525">
            <a:solidFill>
              <a:srgbClr val="E0E7E4"/>
            </a:solidFill>
            <a:prstDash val="solid"/>
          </a:ln>
        </p:spPr>
        <p:txBody>
          <a:bodyPr/>
          <a:lstStyle/>
          <a:p>
            <a:endParaRPr lang="en-US"/>
          </a:p>
        </p:txBody>
      </p:sp>
      <p:sp>
        <p:nvSpPr>
          <p:cNvPr id="25" name="Rectangle 24">
            <a:extLst>
              <a:ext uri="{FF2B5EF4-FFF2-40B4-BE49-F238E27FC236}">
                <a16:creationId xmlns:a16="http://schemas.microsoft.com/office/drawing/2014/main" id="{D7D56E44-B13D-4884-8E8F-4B2E42734198}"/>
              </a:ext>
            </a:extLst>
          </p:cNvPr>
          <p:cNvSpPr>
            <a:spLocks noGrp="1"/>
          </p:cNvSpPr>
          <p:nvPr/>
        </p:nvSpPr>
        <p:spPr>
          <a:xfrm>
            <a:off x="4171950" y="3467100"/>
            <a:ext cx="2914650" cy="209550"/>
          </a:xfrm>
          <a:prstGeom prst="rect">
            <a:avLst/>
          </a:prstGeom>
        </p:spPr>
        <p:txBody>
          <a:bodyPr lIns="0" tIns="0" rIns="0" bIns="0"/>
          <a:lstStyle/>
          <a:p>
            <a:pPr>
              <a:defRPr sz="1275" b="0" i="0">
                <a:solidFill>
                  <a:srgbClr val="10242E"/>
                </a:solidFill>
              </a:defRPr>
            </a:pPr>
            <a:r>
              <a:rPr sz="1275" b="0" i="0">
                <a:solidFill>
                  <a:srgbClr val="10242E"/>
                </a:solidFill>
              </a:rPr>
              <a:t>Pattern discovery</a:t>
            </a:r>
          </a:p>
        </p:txBody>
      </p:sp>
      <p:sp>
        <p:nvSpPr>
          <p:cNvPr id="26" name="Rectangle 25">
            <a:extLst>
              <a:ext uri="{FF2B5EF4-FFF2-40B4-BE49-F238E27FC236}">
                <a16:creationId xmlns:a16="http://schemas.microsoft.com/office/drawing/2014/main" id="{CFE4C3B0-C862-4151-8AB5-722550E1C702}"/>
              </a:ext>
            </a:extLst>
          </p:cNvPr>
          <p:cNvSpPr>
            <a:spLocks noGrp="1"/>
          </p:cNvSpPr>
          <p:nvPr/>
        </p:nvSpPr>
        <p:spPr>
          <a:xfrm>
            <a:off x="7241615" y="3345180"/>
            <a:ext cx="5312709" cy="422910"/>
          </a:xfrm>
          <a:prstGeom prst="rect">
            <a:avLst/>
          </a:prstGeom>
          <a:solidFill>
            <a:srgbClr val="F0F4F2"/>
          </a:solidFill>
          <a:ln w="9525">
            <a:solidFill>
              <a:srgbClr val="E0E7E4"/>
            </a:solidFill>
            <a:prstDash val="solid"/>
          </a:ln>
        </p:spPr>
        <p:txBody>
          <a:bodyPr/>
          <a:lstStyle/>
          <a:p>
            <a:endParaRPr lang="en-US"/>
          </a:p>
        </p:txBody>
      </p:sp>
      <p:sp>
        <p:nvSpPr>
          <p:cNvPr id="27" name="Rectangle 26">
            <a:extLst>
              <a:ext uri="{FF2B5EF4-FFF2-40B4-BE49-F238E27FC236}">
                <a16:creationId xmlns:a16="http://schemas.microsoft.com/office/drawing/2014/main" id="{A8755C7E-ED97-43F5-BB3B-8ED63DEEB37E}"/>
              </a:ext>
            </a:extLst>
          </p:cNvPr>
          <p:cNvSpPr>
            <a:spLocks noGrp="1"/>
          </p:cNvSpPr>
          <p:nvPr/>
        </p:nvSpPr>
        <p:spPr>
          <a:xfrm>
            <a:off x="7391400" y="3467100"/>
            <a:ext cx="5010150" cy="209550"/>
          </a:xfrm>
          <a:prstGeom prst="rect">
            <a:avLst/>
          </a:prstGeom>
        </p:spPr>
        <p:txBody>
          <a:bodyPr lIns="0" tIns="0" rIns="0" bIns="0"/>
          <a:lstStyle/>
          <a:p>
            <a:pPr>
              <a:defRPr sz="1275" b="0" i="0">
                <a:solidFill>
                  <a:srgbClr val="10242E"/>
                </a:solidFill>
              </a:defRPr>
            </a:pPr>
            <a:r>
              <a:rPr sz="1275" b="0" i="0">
                <a:solidFill>
                  <a:srgbClr val="10242E"/>
                </a:solidFill>
              </a:rPr>
              <a:t>Where are dense hotspot patterns?</a:t>
            </a:r>
          </a:p>
        </p:txBody>
      </p:sp>
      <p:sp>
        <p:nvSpPr>
          <p:cNvPr id="28" name="Rectangle 27">
            <a:extLst>
              <a:ext uri="{FF2B5EF4-FFF2-40B4-BE49-F238E27FC236}">
                <a16:creationId xmlns:a16="http://schemas.microsoft.com/office/drawing/2014/main" id="{34F635A1-058D-40F8-B586-505D56FA4B2A}"/>
              </a:ext>
            </a:extLst>
          </p:cNvPr>
          <p:cNvSpPr>
            <a:spLocks noGrp="1"/>
          </p:cNvSpPr>
          <p:nvPr/>
        </p:nvSpPr>
        <p:spPr>
          <a:xfrm>
            <a:off x="12554324" y="3345180"/>
            <a:ext cx="4990726" cy="422910"/>
          </a:xfrm>
          <a:prstGeom prst="rect">
            <a:avLst/>
          </a:prstGeom>
          <a:solidFill>
            <a:srgbClr val="F0F4F2"/>
          </a:solidFill>
          <a:ln w="9525">
            <a:solidFill>
              <a:srgbClr val="E0E7E4"/>
            </a:solidFill>
            <a:prstDash val="solid"/>
          </a:ln>
        </p:spPr>
        <p:txBody>
          <a:bodyPr/>
          <a:lstStyle/>
          <a:p>
            <a:endParaRPr lang="en-US"/>
          </a:p>
        </p:txBody>
      </p:sp>
      <p:sp>
        <p:nvSpPr>
          <p:cNvPr id="29" name="Rectangle 28">
            <a:extLst>
              <a:ext uri="{FF2B5EF4-FFF2-40B4-BE49-F238E27FC236}">
                <a16:creationId xmlns:a16="http://schemas.microsoft.com/office/drawing/2014/main" id="{F40A5CFB-50B2-4F6D-ADB3-F84523022AFC}"/>
              </a:ext>
            </a:extLst>
          </p:cNvPr>
          <p:cNvSpPr>
            <a:spLocks noGrp="1"/>
          </p:cNvSpPr>
          <p:nvPr/>
        </p:nvSpPr>
        <p:spPr>
          <a:xfrm>
            <a:off x="12706350" y="3467100"/>
            <a:ext cx="4686300" cy="209550"/>
          </a:xfrm>
          <a:prstGeom prst="rect">
            <a:avLst/>
          </a:prstGeom>
        </p:spPr>
        <p:txBody>
          <a:bodyPr lIns="0" tIns="0" rIns="0" bIns="0"/>
          <a:lstStyle/>
          <a:p>
            <a:pPr>
              <a:defRPr sz="1275" b="0" i="0">
                <a:solidFill>
                  <a:srgbClr val="10242E"/>
                </a:solidFill>
              </a:defRPr>
            </a:pPr>
            <a:r>
              <a:rPr sz="1275" b="0" i="0">
                <a:solidFill>
                  <a:srgbClr val="10242E"/>
                </a:solidFill>
              </a:rPr>
              <a:t>Finds spatial clusters and leaves noise outside.</a:t>
            </a:r>
          </a:p>
        </p:txBody>
      </p:sp>
      <p:sp>
        <p:nvSpPr>
          <p:cNvPr id="30" name="Rectangle 29">
            <a:extLst>
              <a:ext uri="{FF2B5EF4-FFF2-40B4-BE49-F238E27FC236}">
                <a16:creationId xmlns:a16="http://schemas.microsoft.com/office/drawing/2014/main" id="{FF481E34-26BC-4264-AFC9-6713B3166E20}"/>
              </a:ext>
            </a:extLst>
          </p:cNvPr>
          <p:cNvSpPr>
            <a:spLocks noGrp="1"/>
          </p:cNvSpPr>
          <p:nvPr/>
        </p:nvSpPr>
        <p:spPr>
          <a:xfrm>
            <a:off x="1123950" y="3768090"/>
            <a:ext cx="2897841" cy="422910"/>
          </a:xfrm>
          <a:prstGeom prst="rect">
            <a:avLst/>
          </a:prstGeom>
          <a:solidFill>
            <a:srgbClr val="FFFFFF"/>
          </a:solidFill>
          <a:ln w="9525">
            <a:solidFill>
              <a:srgbClr val="E0E7E4"/>
            </a:solidFill>
            <a:prstDash val="solid"/>
          </a:ln>
        </p:spPr>
        <p:txBody>
          <a:bodyPr/>
          <a:lstStyle/>
          <a:p>
            <a:endParaRPr lang="en-US"/>
          </a:p>
        </p:txBody>
      </p:sp>
      <p:sp>
        <p:nvSpPr>
          <p:cNvPr id="31" name="Rectangle 30">
            <a:extLst>
              <a:ext uri="{FF2B5EF4-FFF2-40B4-BE49-F238E27FC236}">
                <a16:creationId xmlns:a16="http://schemas.microsoft.com/office/drawing/2014/main" id="{E8FBE3D3-CCB4-4EE2-B156-972D3DF99CB9}"/>
              </a:ext>
            </a:extLst>
          </p:cNvPr>
          <p:cNvSpPr>
            <a:spLocks noGrp="1"/>
          </p:cNvSpPr>
          <p:nvPr/>
        </p:nvSpPr>
        <p:spPr>
          <a:xfrm>
            <a:off x="1276350" y="3886200"/>
            <a:ext cx="2590800" cy="209550"/>
          </a:xfrm>
          <a:prstGeom prst="rect">
            <a:avLst/>
          </a:prstGeom>
        </p:spPr>
        <p:txBody>
          <a:bodyPr lIns="0" tIns="0" rIns="0" bIns="0"/>
          <a:lstStyle/>
          <a:p>
            <a:pPr>
              <a:defRPr sz="1275" b="0" i="0">
                <a:solidFill>
                  <a:srgbClr val="10242E"/>
                </a:solidFill>
              </a:defRPr>
            </a:pPr>
            <a:r>
              <a:rPr sz="1275" b="0" i="0">
                <a:solidFill>
                  <a:srgbClr val="10242E"/>
                </a:solidFill>
              </a:rPr>
              <a:t>Isolation Forest</a:t>
            </a:r>
          </a:p>
        </p:txBody>
      </p:sp>
      <p:sp>
        <p:nvSpPr>
          <p:cNvPr id="32" name="Rectangle 31">
            <a:extLst>
              <a:ext uri="{FF2B5EF4-FFF2-40B4-BE49-F238E27FC236}">
                <a16:creationId xmlns:a16="http://schemas.microsoft.com/office/drawing/2014/main" id="{B6B1D469-103A-4B94-88A9-72F57C7AEC64}"/>
              </a:ext>
            </a:extLst>
          </p:cNvPr>
          <p:cNvSpPr>
            <a:spLocks noGrp="1"/>
          </p:cNvSpPr>
          <p:nvPr/>
        </p:nvSpPr>
        <p:spPr>
          <a:xfrm>
            <a:off x="4021791" y="3768090"/>
            <a:ext cx="3219824" cy="422910"/>
          </a:xfrm>
          <a:prstGeom prst="rect">
            <a:avLst/>
          </a:prstGeom>
          <a:solidFill>
            <a:srgbClr val="FFFFFF"/>
          </a:solidFill>
          <a:ln w="9525">
            <a:solidFill>
              <a:srgbClr val="E0E7E4"/>
            </a:solidFill>
            <a:prstDash val="solid"/>
          </a:ln>
        </p:spPr>
        <p:txBody>
          <a:bodyPr/>
          <a:lstStyle/>
          <a:p>
            <a:endParaRPr lang="en-US"/>
          </a:p>
        </p:txBody>
      </p:sp>
      <p:sp>
        <p:nvSpPr>
          <p:cNvPr id="33" name="Rectangle 32">
            <a:extLst>
              <a:ext uri="{FF2B5EF4-FFF2-40B4-BE49-F238E27FC236}">
                <a16:creationId xmlns:a16="http://schemas.microsoft.com/office/drawing/2014/main" id="{8DE5D21A-10A9-46EF-9759-BD2E39DEF097}"/>
              </a:ext>
            </a:extLst>
          </p:cNvPr>
          <p:cNvSpPr>
            <a:spLocks noGrp="1"/>
          </p:cNvSpPr>
          <p:nvPr/>
        </p:nvSpPr>
        <p:spPr>
          <a:xfrm>
            <a:off x="4171950" y="3886200"/>
            <a:ext cx="2914650" cy="209550"/>
          </a:xfrm>
          <a:prstGeom prst="rect">
            <a:avLst/>
          </a:prstGeom>
        </p:spPr>
        <p:txBody>
          <a:bodyPr lIns="0" tIns="0" rIns="0" bIns="0"/>
          <a:lstStyle/>
          <a:p>
            <a:pPr>
              <a:defRPr sz="1275" b="0" i="0">
                <a:solidFill>
                  <a:srgbClr val="10242E"/>
                </a:solidFill>
              </a:defRPr>
            </a:pPr>
            <a:r>
              <a:rPr sz="1275" b="0" i="0">
                <a:solidFill>
                  <a:srgbClr val="10242E"/>
                </a:solidFill>
              </a:rPr>
              <a:t>Anomaly detection</a:t>
            </a:r>
          </a:p>
        </p:txBody>
      </p:sp>
      <p:sp>
        <p:nvSpPr>
          <p:cNvPr id="34" name="Rectangle 33">
            <a:extLst>
              <a:ext uri="{FF2B5EF4-FFF2-40B4-BE49-F238E27FC236}">
                <a16:creationId xmlns:a16="http://schemas.microsoft.com/office/drawing/2014/main" id="{30D16B73-BF10-4C06-82E9-63F49B58E6EE}"/>
              </a:ext>
            </a:extLst>
          </p:cNvPr>
          <p:cNvSpPr>
            <a:spLocks noGrp="1"/>
          </p:cNvSpPr>
          <p:nvPr/>
        </p:nvSpPr>
        <p:spPr>
          <a:xfrm>
            <a:off x="7241615" y="3768090"/>
            <a:ext cx="5312709" cy="422910"/>
          </a:xfrm>
          <a:prstGeom prst="rect">
            <a:avLst/>
          </a:prstGeom>
          <a:solidFill>
            <a:srgbClr val="FFFFFF"/>
          </a:solidFill>
          <a:ln w="9525">
            <a:solidFill>
              <a:srgbClr val="E0E7E4"/>
            </a:solidFill>
            <a:prstDash val="solid"/>
          </a:ln>
        </p:spPr>
        <p:txBody>
          <a:bodyPr/>
          <a:lstStyle/>
          <a:p>
            <a:endParaRPr lang="en-US"/>
          </a:p>
        </p:txBody>
      </p:sp>
      <p:sp>
        <p:nvSpPr>
          <p:cNvPr id="35" name="Rectangle 34">
            <a:extLst>
              <a:ext uri="{FF2B5EF4-FFF2-40B4-BE49-F238E27FC236}">
                <a16:creationId xmlns:a16="http://schemas.microsoft.com/office/drawing/2014/main" id="{BE6E91F8-44DB-410D-A08A-D0F57A1CEF50}"/>
              </a:ext>
            </a:extLst>
          </p:cNvPr>
          <p:cNvSpPr>
            <a:spLocks noGrp="1"/>
          </p:cNvSpPr>
          <p:nvPr/>
        </p:nvSpPr>
        <p:spPr>
          <a:xfrm>
            <a:off x="7391400" y="3886200"/>
            <a:ext cx="5010150" cy="209550"/>
          </a:xfrm>
          <a:prstGeom prst="rect">
            <a:avLst/>
          </a:prstGeom>
        </p:spPr>
        <p:txBody>
          <a:bodyPr lIns="0" tIns="0" rIns="0" bIns="0"/>
          <a:lstStyle/>
          <a:p>
            <a:pPr>
              <a:defRPr sz="1275" b="0" i="0">
                <a:solidFill>
                  <a:srgbClr val="10242E"/>
                </a:solidFill>
              </a:defRPr>
            </a:pPr>
            <a:r>
              <a:rPr sz="1275" b="0" i="0">
                <a:solidFill>
                  <a:srgbClr val="10242E"/>
                </a:solidFill>
              </a:rPr>
              <a:t>Which windows are globally unusual?</a:t>
            </a:r>
          </a:p>
        </p:txBody>
      </p:sp>
      <p:sp>
        <p:nvSpPr>
          <p:cNvPr id="36" name="Rectangle 35">
            <a:extLst>
              <a:ext uri="{FF2B5EF4-FFF2-40B4-BE49-F238E27FC236}">
                <a16:creationId xmlns:a16="http://schemas.microsoft.com/office/drawing/2014/main" id="{20A3C555-7D4D-48A7-B4B8-A7DAB89F77CA}"/>
              </a:ext>
            </a:extLst>
          </p:cNvPr>
          <p:cNvSpPr>
            <a:spLocks noGrp="1"/>
          </p:cNvSpPr>
          <p:nvPr/>
        </p:nvSpPr>
        <p:spPr>
          <a:xfrm>
            <a:off x="12554324" y="3768090"/>
            <a:ext cx="4990726" cy="422910"/>
          </a:xfrm>
          <a:prstGeom prst="rect">
            <a:avLst/>
          </a:prstGeom>
          <a:solidFill>
            <a:srgbClr val="FFFFFF"/>
          </a:solidFill>
          <a:ln w="9525">
            <a:solidFill>
              <a:srgbClr val="E0E7E4"/>
            </a:solidFill>
            <a:prstDash val="solid"/>
          </a:ln>
        </p:spPr>
        <p:txBody>
          <a:bodyPr/>
          <a:lstStyle/>
          <a:p>
            <a:endParaRPr lang="en-US"/>
          </a:p>
        </p:txBody>
      </p:sp>
      <p:sp>
        <p:nvSpPr>
          <p:cNvPr id="37" name="Rectangle 36">
            <a:extLst>
              <a:ext uri="{FF2B5EF4-FFF2-40B4-BE49-F238E27FC236}">
                <a16:creationId xmlns:a16="http://schemas.microsoft.com/office/drawing/2014/main" id="{286DE475-2DE3-41FE-8A99-26417D3C00EF}"/>
              </a:ext>
            </a:extLst>
          </p:cNvPr>
          <p:cNvSpPr>
            <a:spLocks noGrp="1"/>
          </p:cNvSpPr>
          <p:nvPr/>
        </p:nvSpPr>
        <p:spPr>
          <a:xfrm>
            <a:off x="12706350" y="3886200"/>
            <a:ext cx="4686300" cy="209550"/>
          </a:xfrm>
          <a:prstGeom prst="rect">
            <a:avLst/>
          </a:prstGeom>
        </p:spPr>
        <p:txBody>
          <a:bodyPr lIns="0" tIns="0" rIns="0" bIns="0"/>
          <a:lstStyle/>
          <a:p>
            <a:pPr>
              <a:defRPr sz="1275" b="0" i="0">
                <a:solidFill>
                  <a:srgbClr val="10242E"/>
                </a:solidFill>
              </a:defRPr>
            </a:pPr>
            <a:r>
              <a:rPr sz="1275" b="0" i="0">
                <a:solidFill>
                  <a:srgbClr val="10242E"/>
                </a:solidFill>
              </a:rPr>
              <a:t>Works well for high-dimensional numerical features.</a:t>
            </a:r>
          </a:p>
        </p:txBody>
      </p:sp>
      <p:sp>
        <p:nvSpPr>
          <p:cNvPr id="38" name="Rectangle 37">
            <a:extLst>
              <a:ext uri="{FF2B5EF4-FFF2-40B4-BE49-F238E27FC236}">
                <a16:creationId xmlns:a16="http://schemas.microsoft.com/office/drawing/2014/main" id="{86C3364E-B45A-4E3A-892A-5F825CEAFB1D}"/>
              </a:ext>
            </a:extLst>
          </p:cNvPr>
          <p:cNvSpPr>
            <a:spLocks noGrp="1"/>
          </p:cNvSpPr>
          <p:nvPr/>
        </p:nvSpPr>
        <p:spPr>
          <a:xfrm>
            <a:off x="1123950" y="4191000"/>
            <a:ext cx="2897841" cy="422910"/>
          </a:xfrm>
          <a:prstGeom prst="rect">
            <a:avLst/>
          </a:prstGeom>
          <a:solidFill>
            <a:srgbClr val="F0F4F2"/>
          </a:solidFill>
          <a:ln w="9525">
            <a:solidFill>
              <a:srgbClr val="E0E7E4"/>
            </a:solidFill>
            <a:prstDash val="solid"/>
          </a:ln>
        </p:spPr>
        <p:txBody>
          <a:bodyPr/>
          <a:lstStyle/>
          <a:p>
            <a:endParaRPr lang="en-US"/>
          </a:p>
        </p:txBody>
      </p:sp>
      <p:sp>
        <p:nvSpPr>
          <p:cNvPr id="39" name="Rectangle 38">
            <a:extLst>
              <a:ext uri="{FF2B5EF4-FFF2-40B4-BE49-F238E27FC236}">
                <a16:creationId xmlns:a16="http://schemas.microsoft.com/office/drawing/2014/main" id="{E718605B-F07E-4495-88E2-80EB1444DCDD}"/>
              </a:ext>
            </a:extLst>
          </p:cNvPr>
          <p:cNvSpPr>
            <a:spLocks noGrp="1"/>
          </p:cNvSpPr>
          <p:nvPr/>
        </p:nvSpPr>
        <p:spPr>
          <a:xfrm>
            <a:off x="1276350" y="4305300"/>
            <a:ext cx="2590800" cy="209550"/>
          </a:xfrm>
          <a:prstGeom prst="rect">
            <a:avLst/>
          </a:prstGeom>
        </p:spPr>
        <p:txBody>
          <a:bodyPr lIns="0" tIns="0" rIns="0" bIns="0"/>
          <a:lstStyle/>
          <a:p>
            <a:pPr>
              <a:defRPr sz="1275" b="0" i="0">
                <a:solidFill>
                  <a:srgbClr val="10242E"/>
                </a:solidFill>
              </a:defRPr>
            </a:pPr>
            <a:r>
              <a:rPr sz="1275" b="0" i="0">
                <a:solidFill>
                  <a:srgbClr val="10242E"/>
                </a:solidFill>
              </a:rPr>
              <a:t>LOF</a:t>
            </a:r>
          </a:p>
        </p:txBody>
      </p:sp>
      <p:sp>
        <p:nvSpPr>
          <p:cNvPr id="40" name="Rectangle 39">
            <a:extLst>
              <a:ext uri="{FF2B5EF4-FFF2-40B4-BE49-F238E27FC236}">
                <a16:creationId xmlns:a16="http://schemas.microsoft.com/office/drawing/2014/main" id="{463DE141-123A-43F1-9E03-D0E8768463C5}"/>
              </a:ext>
            </a:extLst>
          </p:cNvPr>
          <p:cNvSpPr>
            <a:spLocks noGrp="1"/>
          </p:cNvSpPr>
          <p:nvPr/>
        </p:nvSpPr>
        <p:spPr>
          <a:xfrm>
            <a:off x="4021791" y="4191000"/>
            <a:ext cx="3219824" cy="422910"/>
          </a:xfrm>
          <a:prstGeom prst="rect">
            <a:avLst/>
          </a:prstGeom>
          <a:solidFill>
            <a:srgbClr val="F0F4F2"/>
          </a:solidFill>
          <a:ln w="9525">
            <a:solidFill>
              <a:srgbClr val="E0E7E4"/>
            </a:solidFill>
            <a:prstDash val="solid"/>
          </a:ln>
        </p:spPr>
        <p:txBody>
          <a:bodyPr/>
          <a:lstStyle/>
          <a:p>
            <a:endParaRPr lang="en-US"/>
          </a:p>
        </p:txBody>
      </p:sp>
      <p:sp>
        <p:nvSpPr>
          <p:cNvPr id="41" name="Rectangle 40">
            <a:extLst>
              <a:ext uri="{FF2B5EF4-FFF2-40B4-BE49-F238E27FC236}">
                <a16:creationId xmlns:a16="http://schemas.microsoft.com/office/drawing/2014/main" id="{20013107-A565-4785-AB31-205B6B9DEC40}"/>
              </a:ext>
            </a:extLst>
          </p:cNvPr>
          <p:cNvSpPr>
            <a:spLocks noGrp="1"/>
          </p:cNvSpPr>
          <p:nvPr/>
        </p:nvSpPr>
        <p:spPr>
          <a:xfrm>
            <a:off x="4171950" y="4305300"/>
            <a:ext cx="2914650" cy="209550"/>
          </a:xfrm>
          <a:prstGeom prst="rect">
            <a:avLst/>
          </a:prstGeom>
        </p:spPr>
        <p:txBody>
          <a:bodyPr lIns="0" tIns="0" rIns="0" bIns="0"/>
          <a:lstStyle/>
          <a:p>
            <a:pPr>
              <a:defRPr sz="1275" b="0" i="0">
                <a:solidFill>
                  <a:srgbClr val="10242E"/>
                </a:solidFill>
              </a:defRPr>
            </a:pPr>
            <a:r>
              <a:rPr sz="1275" b="0" i="0">
                <a:solidFill>
                  <a:srgbClr val="10242E"/>
                </a:solidFill>
              </a:rPr>
              <a:t>Anomaly detection</a:t>
            </a:r>
          </a:p>
        </p:txBody>
      </p:sp>
      <p:sp>
        <p:nvSpPr>
          <p:cNvPr id="42" name="Rectangle 41">
            <a:extLst>
              <a:ext uri="{FF2B5EF4-FFF2-40B4-BE49-F238E27FC236}">
                <a16:creationId xmlns:a16="http://schemas.microsoft.com/office/drawing/2014/main" id="{14699351-57AC-4788-85B3-756CCDD9413D}"/>
              </a:ext>
            </a:extLst>
          </p:cNvPr>
          <p:cNvSpPr>
            <a:spLocks noGrp="1"/>
          </p:cNvSpPr>
          <p:nvPr/>
        </p:nvSpPr>
        <p:spPr>
          <a:xfrm>
            <a:off x="7241615" y="4191000"/>
            <a:ext cx="5312709" cy="422910"/>
          </a:xfrm>
          <a:prstGeom prst="rect">
            <a:avLst/>
          </a:prstGeom>
          <a:solidFill>
            <a:srgbClr val="F0F4F2"/>
          </a:solidFill>
          <a:ln w="9525">
            <a:solidFill>
              <a:srgbClr val="E0E7E4"/>
            </a:solidFill>
            <a:prstDash val="solid"/>
          </a:ln>
        </p:spPr>
        <p:txBody>
          <a:bodyPr/>
          <a:lstStyle/>
          <a:p>
            <a:endParaRPr lang="en-US"/>
          </a:p>
        </p:txBody>
      </p:sp>
      <p:sp>
        <p:nvSpPr>
          <p:cNvPr id="43" name="Rectangle 42">
            <a:extLst>
              <a:ext uri="{FF2B5EF4-FFF2-40B4-BE49-F238E27FC236}">
                <a16:creationId xmlns:a16="http://schemas.microsoft.com/office/drawing/2014/main" id="{030923D2-46D4-4C00-9554-9900B039E12A}"/>
              </a:ext>
            </a:extLst>
          </p:cNvPr>
          <p:cNvSpPr>
            <a:spLocks noGrp="1"/>
          </p:cNvSpPr>
          <p:nvPr/>
        </p:nvSpPr>
        <p:spPr>
          <a:xfrm>
            <a:off x="7391400" y="4305300"/>
            <a:ext cx="5010150" cy="209550"/>
          </a:xfrm>
          <a:prstGeom prst="rect">
            <a:avLst/>
          </a:prstGeom>
        </p:spPr>
        <p:txBody>
          <a:bodyPr lIns="0" tIns="0" rIns="0" bIns="0"/>
          <a:lstStyle/>
          <a:p>
            <a:pPr>
              <a:defRPr sz="1275" b="0" i="0">
                <a:solidFill>
                  <a:srgbClr val="10242E"/>
                </a:solidFill>
              </a:defRPr>
            </a:pPr>
            <a:r>
              <a:rPr sz="1275" b="0" i="0">
                <a:solidFill>
                  <a:srgbClr val="10242E"/>
                </a:solidFill>
              </a:rPr>
              <a:t>Which windows are locally unusual?</a:t>
            </a:r>
          </a:p>
        </p:txBody>
      </p:sp>
      <p:sp>
        <p:nvSpPr>
          <p:cNvPr id="44" name="Rectangle 43">
            <a:extLst>
              <a:ext uri="{FF2B5EF4-FFF2-40B4-BE49-F238E27FC236}">
                <a16:creationId xmlns:a16="http://schemas.microsoft.com/office/drawing/2014/main" id="{82B1BD53-7C0F-4F80-B697-F9C3813409D0}"/>
              </a:ext>
            </a:extLst>
          </p:cNvPr>
          <p:cNvSpPr>
            <a:spLocks noGrp="1"/>
          </p:cNvSpPr>
          <p:nvPr/>
        </p:nvSpPr>
        <p:spPr>
          <a:xfrm>
            <a:off x="12554324" y="4191000"/>
            <a:ext cx="4990726" cy="422910"/>
          </a:xfrm>
          <a:prstGeom prst="rect">
            <a:avLst/>
          </a:prstGeom>
          <a:solidFill>
            <a:srgbClr val="F0F4F2"/>
          </a:solidFill>
          <a:ln w="9525">
            <a:solidFill>
              <a:srgbClr val="E0E7E4"/>
            </a:solidFill>
            <a:prstDash val="solid"/>
          </a:ln>
        </p:spPr>
        <p:txBody>
          <a:bodyPr/>
          <a:lstStyle/>
          <a:p>
            <a:endParaRPr lang="en-US"/>
          </a:p>
        </p:txBody>
      </p:sp>
      <p:sp>
        <p:nvSpPr>
          <p:cNvPr id="45" name="Rectangle 44">
            <a:extLst>
              <a:ext uri="{FF2B5EF4-FFF2-40B4-BE49-F238E27FC236}">
                <a16:creationId xmlns:a16="http://schemas.microsoft.com/office/drawing/2014/main" id="{01BF704F-488E-495C-A8A4-0B0278E1A6C3}"/>
              </a:ext>
            </a:extLst>
          </p:cNvPr>
          <p:cNvSpPr>
            <a:spLocks noGrp="1"/>
          </p:cNvSpPr>
          <p:nvPr/>
        </p:nvSpPr>
        <p:spPr>
          <a:xfrm>
            <a:off x="12706350" y="4305300"/>
            <a:ext cx="4686300" cy="209550"/>
          </a:xfrm>
          <a:prstGeom prst="rect">
            <a:avLst/>
          </a:prstGeom>
        </p:spPr>
        <p:txBody>
          <a:bodyPr lIns="0" tIns="0" rIns="0" bIns="0"/>
          <a:lstStyle/>
          <a:p>
            <a:pPr>
              <a:defRPr sz="1275" b="0" i="0">
                <a:solidFill>
                  <a:srgbClr val="10242E"/>
                </a:solidFill>
              </a:defRPr>
            </a:pPr>
            <a:r>
              <a:rPr sz="1275" b="0" i="0">
                <a:solidFill>
                  <a:srgbClr val="10242E"/>
                </a:solidFill>
              </a:rPr>
              <a:t>Compares a stop/route window with its local neighborhood.</a:t>
            </a:r>
          </a:p>
        </p:txBody>
      </p:sp>
      <p:sp>
        <p:nvSpPr>
          <p:cNvPr id="46" name="source">
            <a:extLst>
              <a:ext uri="{FF2B5EF4-FFF2-40B4-BE49-F238E27FC236}">
                <a16:creationId xmlns:a16="http://schemas.microsoft.com/office/drawing/2014/main" id="{1B5115FF-4BFD-45EA-8840-6C8BF5EF717C}"/>
              </a:ext>
            </a:extLst>
          </p:cNvPr>
          <p:cNvSpPr>
            <a:spLocks noGrp="1"/>
          </p:cNvSpPr>
          <p:nvPr/>
        </p:nvSpPr>
        <p:spPr>
          <a:xfrm>
            <a:off x="1123950" y="487680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106229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17" name="bg">
            <a:extLst>
              <a:ext uri="{FF2B5EF4-FFF2-40B4-BE49-F238E27FC236}">
                <a16:creationId xmlns:a16="http://schemas.microsoft.com/office/drawing/2014/main" id="{96809364-0E84-432E-86BF-C5313B4620A6}"/>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D6C37ADB-9CFB-4482-9531-38B4C81719F5}"/>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39454342-A9D3-4A48-9E12-893DF80989EC}"/>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D490B1E6-E192-4F7E-9CAA-88A37750128F}"/>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Clustering evaluation: KMeans and DBSCAN</a:t>
            </a:r>
          </a:p>
        </p:txBody>
      </p:sp>
      <p:sp>
        <p:nvSpPr>
          <p:cNvPr id="5" name="slide-subtitle">
            <a:extLst>
              <a:ext uri="{FF2B5EF4-FFF2-40B4-BE49-F238E27FC236}">
                <a16:creationId xmlns:a16="http://schemas.microsoft.com/office/drawing/2014/main" id="{100292A7-64C2-4563-9C62-8BA80E70735E}"/>
              </a:ext>
            </a:extLst>
          </p:cNvPr>
          <p:cNvSpPr>
            <a:spLocks noGrp="1"/>
          </p:cNvSpPr>
          <p:nvPr/>
        </p:nvSpPr>
        <p:spPr>
          <a:xfrm>
            <a:off x="1123950" y="1657350"/>
            <a:ext cx="10210800" cy="285750"/>
          </a:xfrm>
          <a:prstGeom prst="rect">
            <a:avLst/>
          </a:prstGeom>
        </p:spPr>
        <p:txBody>
          <a:bodyPr lIns="0" tIns="0" rIns="0" bIns="0"/>
          <a:lstStyle/>
          <a:p>
            <a:pPr>
              <a:defRPr sz="1875" b="0" i="0">
                <a:solidFill>
                  <a:srgbClr val="5D6D76"/>
                </a:solidFill>
              </a:defRPr>
            </a:pPr>
            <a:r>
              <a:rPr sz="1875" b="0" i="0">
                <a:solidFill>
                  <a:srgbClr val="5D6D76"/>
                </a:solidFill>
              </a:rPr>
              <a:t>Clusters were evaluated with internal metrics because there are no official labels for bus reliability groups.</a:t>
            </a:r>
          </a:p>
        </p:txBody>
      </p:sp>
      <p:graphicFrame>
        <p:nvGraphicFramePr>
          <p:cNvPr id="6" name="kmeans-silhouette-chart"/>
          <p:cNvGraphicFramePr/>
          <p:nvPr/>
        </p:nvGraphicFramePr>
        <p:xfrm>
          <a:off x="1123950" y="2202180"/>
          <a:ext cx="8010525"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7E64A46E-73A2-4FDE-8FE6-B5D5D0D00C0F}"/>
              </a:ext>
            </a:extLst>
          </p:cNvPr>
          <p:cNvSpPr>
            <a:spLocks noGrp="1"/>
          </p:cNvSpPr>
          <p:nvPr/>
        </p:nvSpPr>
        <p:spPr>
          <a:xfrm>
            <a:off x="1123950" y="6286500"/>
            <a:ext cx="8020050" cy="533400"/>
          </a:xfrm>
          <a:prstGeom prst="rect">
            <a:avLst/>
          </a:prstGeom>
        </p:spPr>
        <p:txBody>
          <a:bodyPr lIns="0" tIns="0" rIns="0" bIns="0"/>
          <a:lstStyle/>
          <a:p>
            <a:pPr>
              <a:defRPr sz="1725" b="0" i="0">
                <a:solidFill>
                  <a:srgbClr val="5D6D76"/>
                </a:solidFill>
              </a:defRPr>
            </a:pPr>
            <a:r>
              <a:rPr sz="1725" b="0" i="0">
                <a:solidFill>
                  <a:srgbClr val="5D6D76"/>
                </a:solidFill>
              </a:rPr>
              <a:t>Selected KMeans k=2 because it gave the strongest silhouette while staying easy to explain.</a:t>
            </a:r>
          </a:p>
        </p:txBody>
      </p:sp>
      <p:sp>
        <p:nvSpPr>
          <p:cNvPr id="8" name="Rectangle 7">
            <a:extLst>
              <a:ext uri="{FF2B5EF4-FFF2-40B4-BE49-F238E27FC236}">
                <a16:creationId xmlns:a16="http://schemas.microsoft.com/office/drawing/2014/main" id="{1EA68A06-8F8F-494A-953D-CB0C10D11838}"/>
              </a:ext>
            </a:extLst>
          </p:cNvPr>
          <p:cNvSpPr>
            <a:spLocks noGrp="1"/>
          </p:cNvSpPr>
          <p:nvPr/>
        </p:nvSpPr>
        <p:spPr>
          <a:xfrm>
            <a:off x="9544050" y="3714750"/>
            <a:ext cx="8020050" cy="628650"/>
          </a:xfrm>
          <a:prstGeom prst="rect">
            <a:avLst/>
          </a:prstGeom>
        </p:spPr>
        <p:txBody>
          <a:bodyPr lIns="0" tIns="0" rIns="0" bIns="0"/>
          <a:lstStyle/>
          <a:p>
            <a:pPr>
              <a:defRPr sz="4050" b="1" i="0">
                <a:solidFill>
                  <a:srgbClr val="24B96F"/>
                </a:solidFill>
              </a:defRPr>
            </a:pPr>
            <a:r>
              <a:rPr sz="4050" b="1" i="0">
                <a:solidFill>
                  <a:srgbClr val="24B96F"/>
                </a:solidFill>
              </a:rPr>
              <a:t>0.401</a:t>
            </a:r>
          </a:p>
        </p:txBody>
      </p:sp>
      <p:sp>
        <p:nvSpPr>
          <p:cNvPr id="9" name="Rectangle 8">
            <a:extLst>
              <a:ext uri="{FF2B5EF4-FFF2-40B4-BE49-F238E27FC236}">
                <a16:creationId xmlns:a16="http://schemas.microsoft.com/office/drawing/2014/main" id="{2AB7F6FD-ACA1-4275-9337-C5D8EAA720BE}"/>
              </a:ext>
            </a:extLst>
          </p:cNvPr>
          <p:cNvSpPr>
            <a:spLocks noGrp="1"/>
          </p:cNvSpPr>
          <p:nvPr/>
        </p:nvSpPr>
        <p:spPr>
          <a:xfrm>
            <a:off x="9544050" y="4400550"/>
            <a:ext cx="8020050" cy="228600"/>
          </a:xfrm>
          <a:prstGeom prst="rect">
            <a:avLst/>
          </a:prstGeom>
        </p:spPr>
        <p:txBody>
          <a:bodyPr lIns="0" tIns="0" rIns="0" bIns="0"/>
          <a:lstStyle/>
          <a:p>
            <a:pPr>
              <a:defRPr sz="1500" b="0" i="0">
                <a:solidFill>
                  <a:srgbClr val="5D6D76"/>
                </a:solidFill>
              </a:defRPr>
            </a:pPr>
            <a:r>
              <a:rPr sz="1500" b="0" i="0">
                <a:solidFill>
                  <a:srgbClr val="5D6D76"/>
                </a:solidFill>
              </a:rPr>
              <a:t>KMeans best silhouette, higher is better</a:t>
            </a:r>
          </a:p>
        </p:txBody>
      </p:sp>
      <p:sp>
        <p:nvSpPr>
          <p:cNvPr id="10" name="Rectangle 9">
            <a:extLst>
              <a:ext uri="{FF2B5EF4-FFF2-40B4-BE49-F238E27FC236}">
                <a16:creationId xmlns:a16="http://schemas.microsoft.com/office/drawing/2014/main" id="{8B38E796-D963-42C5-9F86-10D9DB778371}"/>
              </a:ext>
            </a:extLst>
          </p:cNvPr>
          <p:cNvSpPr>
            <a:spLocks noGrp="1"/>
          </p:cNvSpPr>
          <p:nvPr/>
        </p:nvSpPr>
        <p:spPr>
          <a:xfrm>
            <a:off x="9544050" y="4838700"/>
            <a:ext cx="8020050" cy="628650"/>
          </a:xfrm>
          <a:prstGeom prst="rect">
            <a:avLst/>
          </a:prstGeom>
        </p:spPr>
        <p:txBody>
          <a:bodyPr lIns="0" tIns="0" rIns="0" bIns="0"/>
          <a:lstStyle/>
          <a:p>
            <a:pPr>
              <a:defRPr sz="4050" b="1" i="0">
                <a:solidFill>
                  <a:srgbClr val="F39A1E"/>
                </a:solidFill>
              </a:defRPr>
            </a:pPr>
            <a:r>
              <a:rPr sz="4050" b="1" i="0">
                <a:solidFill>
                  <a:srgbClr val="F39A1E"/>
                </a:solidFill>
              </a:rPr>
              <a:t>1.175</a:t>
            </a:r>
          </a:p>
        </p:txBody>
      </p:sp>
      <p:sp>
        <p:nvSpPr>
          <p:cNvPr id="11" name="Rectangle 10">
            <a:extLst>
              <a:ext uri="{FF2B5EF4-FFF2-40B4-BE49-F238E27FC236}">
                <a16:creationId xmlns:a16="http://schemas.microsoft.com/office/drawing/2014/main" id="{DF1E4B6A-3A22-4735-BD48-621125B170DC}"/>
              </a:ext>
            </a:extLst>
          </p:cNvPr>
          <p:cNvSpPr>
            <a:spLocks noGrp="1"/>
          </p:cNvSpPr>
          <p:nvPr/>
        </p:nvSpPr>
        <p:spPr>
          <a:xfrm>
            <a:off x="9544050" y="5505450"/>
            <a:ext cx="8020050" cy="228600"/>
          </a:xfrm>
          <a:prstGeom prst="rect">
            <a:avLst/>
          </a:prstGeom>
        </p:spPr>
        <p:txBody>
          <a:bodyPr lIns="0" tIns="0" rIns="0" bIns="0"/>
          <a:lstStyle/>
          <a:p>
            <a:pPr>
              <a:defRPr sz="1500" b="0" i="0">
                <a:solidFill>
                  <a:srgbClr val="5D6D76"/>
                </a:solidFill>
              </a:defRPr>
            </a:pPr>
            <a:r>
              <a:rPr sz="1500" b="0" i="0">
                <a:solidFill>
                  <a:srgbClr val="5D6D76"/>
                </a:solidFill>
              </a:rPr>
              <a:t>KMeans Davies-Bouldin, lower is better</a:t>
            </a:r>
          </a:p>
        </p:txBody>
      </p:sp>
      <p:sp>
        <p:nvSpPr>
          <p:cNvPr id="12" name="Rectangle 11">
            <a:extLst>
              <a:ext uri="{FF2B5EF4-FFF2-40B4-BE49-F238E27FC236}">
                <a16:creationId xmlns:a16="http://schemas.microsoft.com/office/drawing/2014/main" id="{85DDCA5D-BAB5-46E7-B076-BC7CB7C65CD8}"/>
              </a:ext>
            </a:extLst>
          </p:cNvPr>
          <p:cNvSpPr>
            <a:spLocks noGrp="1"/>
          </p:cNvSpPr>
          <p:nvPr/>
        </p:nvSpPr>
        <p:spPr>
          <a:xfrm>
            <a:off x="9544050" y="5943600"/>
            <a:ext cx="8020050" cy="628650"/>
          </a:xfrm>
          <a:prstGeom prst="rect">
            <a:avLst/>
          </a:prstGeom>
        </p:spPr>
        <p:txBody>
          <a:bodyPr lIns="0" tIns="0" rIns="0" bIns="0"/>
          <a:lstStyle/>
          <a:p>
            <a:pPr>
              <a:defRPr sz="4050" b="1" i="0">
                <a:solidFill>
                  <a:srgbClr val="326DFF"/>
                </a:solidFill>
              </a:defRPr>
            </a:pPr>
            <a:r>
              <a:rPr sz="4050" b="1" i="0">
                <a:solidFill>
                  <a:srgbClr val="326DFF"/>
                </a:solidFill>
              </a:rPr>
              <a:t>0.554</a:t>
            </a:r>
          </a:p>
        </p:txBody>
      </p:sp>
      <p:sp>
        <p:nvSpPr>
          <p:cNvPr id="13" name="Rectangle 12">
            <a:extLst>
              <a:ext uri="{FF2B5EF4-FFF2-40B4-BE49-F238E27FC236}">
                <a16:creationId xmlns:a16="http://schemas.microsoft.com/office/drawing/2014/main" id="{3E598E79-2AE5-448A-9288-89FB482E0219}"/>
              </a:ext>
            </a:extLst>
          </p:cNvPr>
          <p:cNvSpPr>
            <a:spLocks noGrp="1"/>
          </p:cNvSpPr>
          <p:nvPr/>
        </p:nvSpPr>
        <p:spPr>
          <a:xfrm>
            <a:off x="9544050" y="6610350"/>
            <a:ext cx="8020050" cy="228600"/>
          </a:xfrm>
          <a:prstGeom prst="rect">
            <a:avLst/>
          </a:prstGeom>
        </p:spPr>
        <p:txBody>
          <a:bodyPr lIns="0" tIns="0" rIns="0" bIns="0"/>
          <a:lstStyle/>
          <a:p>
            <a:pPr>
              <a:defRPr sz="1500" b="0" i="0">
                <a:solidFill>
                  <a:srgbClr val="5D6D76"/>
                </a:solidFill>
              </a:defRPr>
            </a:pPr>
            <a:r>
              <a:rPr sz="1500" b="0" i="0">
                <a:solidFill>
                  <a:srgbClr val="5D6D76"/>
                </a:solidFill>
              </a:rPr>
              <a:t>DBSCAN best silhouette for eps=0.8, min_samples=20</a:t>
            </a:r>
          </a:p>
        </p:txBody>
      </p:sp>
      <p:sp>
        <p:nvSpPr>
          <p:cNvPr id="14" name="Rectangle 13">
            <a:extLst>
              <a:ext uri="{FF2B5EF4-FFF2-40B4-BE49-F238E27FC236}">
                <a16:creationId xmlns:a16="http://schemas.microsoft.com/office/drawing/2014/main" id="{BF00FF10-D7FC-4BF2-BE4F-8BDCC8465F21}"/>
              </a:ext>
            </a:extLst>
          </p:cNvPr>
          <p:cNvSpPr>
            <a:spLocks noGrp="1"/>
          </p:cNvSpPr>
          <p:nvPr/>
        </p:nvSpPr>
        <p:spPr>
          <a:xfrm>
            <a:off x="9544050" y="7048500"/>
            <a:ext cx="8020050" cy="628650"/>
          </a:xfrm>
          <a:prstGeom prst="rect">
            <a:avLst/>
          </a:prstGeom>
        </p:spPr>
        <p:txBody>
          <a:bodyPr lIns="0" tIns="0" rIns="0" bIns="0"/>
          <a:lstStyle/>
          <a:p>
            <a:pPr>
              <a:defRPr sz="4050" b="1" i="0">
                <a:solidFill>
                  <a:srgbClr val="D83B3E"/>
                </a:solidFill>
              </a:defRPr>
            </a:pPr>
            <a:r>
              <a:rPr sz="4050" b="1" i="0">
                <a:solidFill>
                  <a:srgbClr val="D83B3E"/>
                </a:solidFill>
              </a:rPr>
              <a:t>38.9%</a:t>
            </a:r>
          </a:p>
        </p:txBody>
      </p:sp>
      <p:sp>
        <p:nvSpPr>
          <p:cNvPr id="15" name="Rectangle 14">
            <a:extLst>
              <a:ext uri="{FF2B5EF4-FFF2-40B4-BE49-F238E27FC236}">
                <a16:creationId xmlns:a16="http://schemas.microsoft.com/office/drawing/2014/main" id="{189C99D2-05B9-4BA5-A727-D06A629B0869}"/>
              </a:ext>
            </a:extLst>
          </p:cNvPr>
          <p:cNvSpPr>
            <a:spLocks noGrp="1"/>
          </p:cNvSpPr>
          <p:nvPr/>
        </p:nvSpPr>
        <p:spPr>
          <a:xfrm>
            <a:off x="9544050" y="7734300"/>
            <a:ext cx="8020050" cy="228600"/>
          </a:xfrm>
          <a:prstGeom prst="rect">
            <a:avLst/>
          </a:prstGeom>
        </p:spPr>
        <p:txBody>
          <a:bodyPr lIns="0" tIns="0" rIns="0" bIns="0"/>
          <a:lstStyle/>
          <a:p>
            <a:pPr>
              <a:defRPr sz="1500" b="0" i="0">
                <a:solidFill>
                  <a:srgbClr val="5D6D76"/>
                </a:solidFill>
              </a:defRPr>
            </a:pPr>
            <a:r>
              <a:rPr sz="1500" b="0" i="0">
                <a:solidFill>
                  <a:srgbClr val="5D6D76"/>
                </a:solidFill>
              </a:rPr>
              <a:t>DBSCAN noise share for selected hotspot setting</a:t>
            </a:r>
          </a:p>
        </p:txBody>
      </p:sp>
      <p:sp>
        <p:nvSpPr>
          <p:cNvPr id="16" name="source">
            <a:extLst>
              <a:ext uri="{FF2B5EF4-FFF2-40B4-BE49-F238E27FC236}">
                <a16:creationId xmlns:a16="http://schemas.microsoft.com/office/drawing/2014/main" id="{EF6E286F-F7F4-4C69-93D4-953CD2A72A66}"/>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448841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46" name="bg">
            <a:extLst>
              <a:ext uri="{FF2B5EF4-FFF2-40B4-BE49-F238E27FC236}">
                <a16:creationId xmlns:a16="http://schemas.microsoft.com/office/drawing/2014/main" id="{8526211D-68F2-4763-8D87-63DA8AB60BEF}"/>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84C6ED0F-B029-4826-8F25-86539AF23E14}"/>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2DB3EDA6-00C8-4CB5-8C57-A8AB2CDBC34E}"/>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8AADCAB4-F1DC-498F-A2E2-6C1E7C534D9F}"/>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Cluster interpretation: four reliability labels</a:t>
            </a:r>
          </a:p>
        </p:txBody>
      </p:sp>
      <p:sp>
        <p:nvSpPr>
          <p:cNvPr id="5" name="slide-subtitle">
            <a:extLst>
              <a:ext uri="{FF2B5EF4-FFF2-40B4-BE49-F238E27FC236}">
                <a16:creationId xmlns:a16="http://schemas.microsoft.com/office/drawing/2014/main" id="{AB215058-724D-4290-BFC8-370D551C8C74}"/>
              </a:ext>
            </a:extLst>
          </p:cNvPr>
          <p:cNvSpPr>
            <a:spLocks noGrp="1"/>
          </p:cNvSpPr>
          <p:nvPr/>
        </p:nvSpPr>
        <p:spPr>
          <a:xfrm>
            <a:off x="1123950" y="1657350"/>
            <a:ext cx="7943850" cy="285750"/>
          </a:xfrm>
          <a:prstGeom prst="rect">
            <a:avLst/>
          </a:prstGeom>
        </p:spPr>
        <p:txBody>
          <a:bodyPr lIns="0" tIns="0" rIns="0" bIns="0"/>
          <a:lstStyle/>
          <a:p>
            <a:pPr>
              <a:defRPr sz="1875" b="0" i="0">
                <a:solidFill>
                  <a:srgbClr val="5D6D76"/>
                </a:solidFill>
              </a:defRPr>
            </a:pPr>
            <a:r>
              <a:rPr sz="1875" b="0" i="0">
                <a:solidFill>
                  <a:srgbClr val="5D6D76"/>
                </a:solidFill>
              </a:rPr>
              <a:t>The model outputs were translated into human-readable bus reliability categories.</a:t>
            </a:r>
          </a:p>
        </p:txBody>
      </p:sp>
      <p:sp>
        <p:nvSpPr>
          <p:cNvPr id="6" name="Rectangle 5">
            <a:extLst>
              <a:ext uri="{FF2B5EF4-FFF2-40B4-BE49-F238E27FC236}">
                <a16:creationId xmlns:a16="http://schemas.microsoft.com/office/drawing/2014/main" id="{08F1D544-BBB6-4EAD-852D-9527AF313BD5}"/>
              </a:ext>
            </a:extLst>
          </p:cNvPr>
          <p:cNvSpPr>
            <a:spLocks noGrp="1"/>
          </p:cNvSpPr>
          <p:nvPr/>
        </p:nvSpPr>
        <p:spPr>
          <a:xfrm>
            <a:off x="1123950" y="2202180"/>
            <a:ext cx="2304398" cy="434340"/>
          </a:xfrm>
          <a:prstGeom prst="rect">
            <a:avLst/>
          </a:prstGeom>
          <a:solidFill>
            <a:srgbClr val="1E5A64"/>
          </a:solidFill>
        </p:spPr>
        <p:txBody>
          <a:bodyPr/>
          <a:lstStyle/>
          <a:p>
            <a:endParaRPr lang="en-US"/>
          </a:p>
        </p:txBody>
      </p:sp>
      <p:sp>
        <p:nvSpPr>
          <p:cNvPr id="7" name="Rectangle 6">
            <a:extLst>
              <a:ext uri="{FF2B5EF4-FFF2-40B4-BE49-F238E27FC236}">
                <a16:creationId xmlns:a16="http://schemas.microsoft.com/office/drawing/2014/main" id="{8BA43D8F-B5C5-4F38-B6F6-5280E0174B3F}"/>
              </a:ext>
            </a:extLst>
          </p:cNvPr>
          <p:cNvSpPr>
            <a:spLocks noGrp="1"/>
          </p:cNvSpPr>
          <p:nvPr/>
        </p:nvSpPr>
        <p:spPr>
          <a:xfrm>
            <a:off x="1276350" y="2324100"/>
            <a:ext cx="2000250" cy="209550"/>
          </a:xfrm>
          <a:prstGeom prst="rect">
            <a:avLst/>
          </a:prstGeom>
        </p:spPr>
        <p:txBody>
          <a:bodyPr lIns="0" tIns="0" rIns="0" bIns="0"/>
          <a:lstStyle/>
          <a:p>
            <a:pPr>
              <a:defRPr sz="1350" b="1" i="0">
                <a:solidFill>
                  <a:srgbClr val="FFFFFF"/>
                </a:solidFill>
              </a:defRPr>
            </a:pPr>
            <a:r>
              <a:rPr sz="1350" b="1" i="0">
                <a:solidFill>
                  <a:srgbClr val="FFFFFF"/>
                </a:solidFill>
              </a:rPr>
              <a:t>Label</a:t>
            </a:r>
          </a:p>
        </p:txBody>
      </p:sp>
      <p:sp>
        <p:nvSpPr>
          <p:cNvPr id="8" name="Rectangle 7">
            <a:extLst>
              <a:ext uri="{FF2B5EF4-FFF2-40B4-BE49-F238E27FC236}">
                <a16:creationId xmlns:a16="http://schemas.microsoft.com/office/drawing/2014/main" id="{6A928C3D-183B-4C21-8D75-16EABB865600}"/>
              </a:ext>
            </a:extLst>
          </p:cNvPr>
          <p:cNvSpPr>
            <a:spLocks noGrp="1"/>
          </p:cNvSpPr>
          <p:nvPr/>
        </p:nvSpPr>
        <p:spPr>
          <a:xfrm>
            <a:off x="3428348" y="2202180"/>
            <a:ext cx="1536265" cy="434340"/>
          </a:xfrm>
          <a:prstGeom prst="rect">
            <a:avLst/>
          </a:prstGeom>
          <a:solidFill>
            <a:srgbClr val="1E5A64"/>
          </a:solidFill>
        </p:spPr>
        <p:txBody>
          <a:bodyPr/>
          <a:lstStyle/>
          <a:p>
            <a:endParaRPr lang="en-US"/>
          </a:p>
        </p:txBody>
      </p:sp>
      <p:sp>
        <p:nvSpPr>
          <p:cNvPr id="9" name="Rectangle 8">
            <a:extLst>
              <a:ext uri="{FF2B5EF4-FFF2-40B4-BE49-F238E27FC236}">
                <a16:creationId xmlns:a16="http://schemas.microsoft.com/office/drawing/2014/main" id="{A3263335-AA6A-4DE1-BFB7-B3ABBAD591CE}"/>
              </a:ext>
            </a:extLst>
          </p:cNvPr>
          <p:cNvSpPr>
            <a:spLocks noGrp="1"/>
          </p:cNvSpPr>
          <p:nvPr/>
        </p:nvSpPr>
        <p:spPr>
          <a:xfrm>
            <a:off x="3581400" y="2324100"/>
            <a:ext cx="1238250" cy="209550"/>
          </a:xfrm>
          <a:prstGeom prst="rect">
            <a:avLst/>
          </a:prstGeom>
        </p:spPr>
        <p:txBody>
          <a:bodyPr lIns="0" tIns="0" rIns="0" bIns="0"/>
          <a:lstStyle/>
          <a:p>
            <a:pPr>
              <a:defRPr sz="1350" b="1" i="0">
                <a:solidFill>
                  <a:srgbClr val="FFFFFF"/>
                </a:solidFill>
              </a:defRPr>
            </a:pPr>
            <a:r>
              <a:rPr sz="1350" b="1" i="0">
                <a:solidFill>
                  <a:srgbClr val="FFFFFF"/>
                </a:solidFill>
              </a:rPr>
              <a:t>Windows</a:t>
            </a:r>
          </a:p>
        </p:txBody>
      </p:sp>
      <p:sp>
        <p:nvSpPr>
          <p:cNvPr id="10" name="Rectangle 9">
            <a:extLst>
              <a:ext uri="{FF2B5EF4-FFF2-40B4-BE49-F238E27FC236}">
                <a16:creationId xmlns:a16="http://schemas.microsoft.com/office/drawing/2014/main" id="{93AD15CE-3C61-4ACB-8E62-CAB663A3581D}"/>
              </a:ext>
            </a:extLst>
          </p:cNvPr>
          <p:cNvSpPr>
            <a:spLocks noGrp="1"/>
          </p:cNvSpPr>
          <p:nvPr/>
        </p:nvSpPr>
        <p:spPr>
          <a:xfrm>
            <a:off x="4964613" y="2202180"/>
            <a:ext cx="4169862" cy="434340"/>
          </a:xfrm>
          <a:prstGeom prst="rect">
            <a:avLst/>
          </a:prstGeom>
          <a:solidFill>
            <a:srgbClr val="1E5A64"/>
          </a:solidFill>
        </p:spPr>
        <p:txBody>
          <a:bodyPr/>
          <a:lstStyle/>
          <a:p>
            <a:endParaRPr lang="en-US"/>
          </a:p>
        </p:txBody>
      </p:sp>
      <p:sp>
        <p:nvSpPr>
          <p:cNvPr id="11" name="Rectangle 10">
            <a:extLst>
              <a:ext uri="{FF2B5EF4-FFF2-40B4-BE49-F238E27FC236}">
                <a16:creationId xmlns:a16="http://schemas.microsoft.com/office/drawing/2014/main" id="{63D20964-CC5D-4DB5-9B8E-7FB7FB267D79}"/>
              </a:ext>
            </a:extLst>
          </p:cNvPr>
          <p:cNvSpPr>
            <a:spLocks noGrp="1"/>
          </p:cNvSpPr>
          <p:nvPr/>
        </p:nvSpPr>
        <p:spPr>
          <a:xfrm>
            <a:off x="5124450" y="2324100"/>
            <a:ext cx="3867150" cy="209550"/>
          </a:xfrm>
          <a:prstGeom prst="rect">
            <a:avLst/>
          </a:prstGeom>
        </p:spPr>
        <p:txBody>
          <a:bodyPr lIns="0" tIns="0" rIns="0" bIns="0"/>
          <a:lstStyle/>
          <a:p>
            <a:pPr>
              <a:defRPr sz="1350" b="1" i="0">
                <a:solidFill>
                  <a:srgbClr val="FFFFFF"/>
                </a:solidFill>
              </a:defRPr>
            </a:pPr>
            <a:r>
              <a:rPr sz="1350" b="1" i="0">
                <a:solidFill>
                  <a:srgbClr val="FFFFFF"/>
                </a:solidFill>
              </a:rPr>
              <a:t>Meaning</a:t>
            </a:r>
          </a:p>
        </p:txBody>
      </p:sp>
      <p:sp>
        <p:nvSpPr>
          <p:cNvPr id="12" name="Rectangle 11">
            <a:extLst>
              <a:ext uri="{FF2B5EF4-FFF2-40B4-BE49-F238E27FC236}">
                <a16:creationId xmlns:a16="http://schemas.microsoft.com/office/drawing/2014/main" id="{0D4B69B5-06AF-45D5-8627-F19693A252A0}"/>
              </a:ext>
            </a:extLst>
          </p:cNvPr>
          <p:cNvSpPr>
            <a:spLocks noGrp="1"/>
          </p:cNvSpPr>
          <p:nvPr/>
        </p:nvSpPr>
        <p:spPr>
          <a:xfrm>
            <a:off x="1123950" y="2636520"/>
            <a:ext cx="2304398" cy="422910"/>
          </a:xfrm>
          <a:prstGeom prst="rect">
            <a:avLst/>
          </a:prstGeom>
          <a:solidFill>
            <a:srgbClr val="FFFFFF"/>
          </a:solidFill>
          <a:ln w="9525">
            <a:solidFill>
              <a:srgbClr val="E0E7E4"/>
            </a:solidFill>
            <a:prstDash val="solid"/>
          </a:ln>
        </p:spPr>
        <p:txBody>
          <a:bodyPr/>
          <a:lstStyle/>
          <a:p>
            <a:endParaRPr lang="en-US"/>
          </a:p>
        </p:txBody>
      </p:sp>
      <p:sp>
        <p:nvSpPr>
          <p:cNvPr id="13" name="Rectangle 12">
            <a:extLst>
              <a:ext uri="{FF2B5EF4-FFF2-40B4-BE49-F238E27FC236}">
                <a16:creationId xmlns:a16="http://schemas.microsoft.com/office/drawing/2014/main" id="{E655C070-AB66-4CC7-9289-E737F3A295D5}"/>
              </a:ext>
            </a:extLst>
          </p:cNvPr>
          <p:cNvSpPr>
            <a:spLocks noGrp="1"/>
          </p:cNvSpPr>
          <p:nvPr/>
        </p:nvSpPr>
        <p:spPr>
          <a:xfrm>
            <a:off x="1276350" y="2743200"/>
            <a:ext cx="2000250" cy="209550"/>
          </a:xfrm>
          <a:prstGeom prst="rect">
            <a:avLst/>
          </a:prstGeom>
        </p:spPr>
        <p:txBody>
          <a:bodyPr lIns="0" tIns="0" rIns="0" bIns="0"/>
          <a:lstStyle/>
          <a:p>
            <a:pPr>
              <a:defRPr sz="1275" b="0" i="0">
                <a:solidFill>
                  <a:srgbClr val="10242E"/>
                </a:solidFill>
              </a:defRPr>
            </a:pPr>
            <a:r>
              <a:rPr sz="1275" b="0" i="0">
                <a:solidFill>
                  <a:srgbClr val="10242E"/>
                </a:solidFill>
              </a:rPr>
              <a:t>Reliable</a:t>
            </a:r>
          </a:p>
        </p:txBody>
      </p:sp>
      <p:sp>
        <p:nvSpPr>
          <p:cNvPr id="14" name="Rectangle 13">
            <a:extLst>
              <a:ext uri="{FF2B5EF4-FFF2-40B4-BE49-F238E27FC236}">
                <a16:creationId xmlns:a16="http://schemas.microsoft.com/office/drawing/2014/main" id="{5FC861F7-78B0-4BEF-AD03-61E72836D945}"/>
              </a:ext>
            </a:extLst>
          </p:cNvPr>
          <p:cNvSpPr>
            <a:spLocks noGrp="1"/>
          </p:cNvSpPr>
          <p:nvPr/>
        </p:nvSpPr>
        <p:spPr>
          <a:xfrm>
            <a:off x="3428348" y="2636520"/>
            <a:ext cx="1536265" cy="422910"/>
          </a:xfrm>
          <a:prstGeom prst="rect">
            <a:avLst/>
          </a:prstGeom>
          <a:solidFill>
            <a:srgbClr val="FFFFFF"/>
          </a:solidFill>
          <a:ln w="9525">
            <a:solidFill>
              <a:srgbClr val="E0E7E4"/>
            </a:solidFill>
            <a:prstDash val="solid"/>
          </a:ln>
        </p:spPr>
        <p:txBody>
          <a:bodyPr/>
          <a:lstStyle/>
          <a:p>
            <a:endParaRPr lang="en-US"/>
          </a:p>
        </p:txBody>
      </p:sp>
      <p:sp>
        <p:nvSpPr>
          <p:cNvPr id="15" name="Rectangle 14">
            <a:extLst>
              <a:ext uri="{FF2B5EF4-FFF2-40B4-BE49-F238E27FC236}">
                <a16:creationId xmlns:a16="http://schemas.microsoft.com/office/drawing/2014/main" id="{AFE8D87F-B0DE-4AA4-BAEF-D914F9EDA8E3}"/>
              </a:ext>
            </a:extLst>
          </p:cNvPr>
          <p:cNvSpPr>
            <a:spLocks noGrp="1"/>
          </p:cNvSpPr>
          <p:nvPr/>
        </p:nvSpPr>
        <p:spPr>
          <a:xfrm>
            <a:off x="3581400" y="2743200"/>
            <a:ext cx="1238250" cy="209550"/>
          </a:xfrm>
          <a:prstGeom prst="rect">
            <a:avLst/>
          </a:prstGeom>
        </p:spPr>
        <p:txBody>
          <a:bodyPr lIns="0" tIns="0" rIns="0" bIns="0"/>
          <a:lstStyle/>
          <a:p>
            <a:pPr>
              <a:defRPr sz="1275" b="0" i="0">
                <a:solidFill>
                  <a:srgbClr val="10242E"/>
                </a:solidFill>
              </a:defRPr>
            </a:pPr>
            <a:r>
              <a:rPr sz="1275" b="0" i="0">
                <a:solidFill>
                  <a:srgbClr val="10242E"/>
                </a:solidFill>
              </a:rPr>
              <a:t>3,557</a:t>
            </a:r>
          </a:p>
        </p:txBody>
      </p:sp>
      <p:sp>
        <p:nvSpPr>
          <p:cNvPr id="16" name="Rectangle 15">
            <a:extLst>
              <a:ext uri="{FF2B5EF4-FFF2-40B4-BE49-F238E27FC236}">
                <a16:creationId xmlns:a16="http://schemas.microsoft.com/office/drawing/2014/main" id="{53ADAB82-7C8D-4EB8-85A5-3F38EEFD0902}"/>
              </a:ext>
            </a:extLst>
          </p:cNvPr>
          <p:cNvSpPr>
            <a:spLocks noGrp="1"/>
          </p:cNvSpPr>
          <p:nvPr/>
        </p:nvSpPr>
        <p:spPr>
          <a:xfrm>
            <a:off x="4964613" y="2636520"/>
            <a:ext cx="4169862" cy="422910"/>
          </a:xfrm>
          <a:prstGeom prst="rect">
            <a:avLst/>
          </a:prstGeom>
          <a:solidFill>
            <a:srgbClr val="FFFFFF"/>
          </a:solidFill>
          <a:ln w="9525">
            <a:solidFill>
              <a:srgbClr val="E0E7E4"/>
            </a:solidFill>
            <a:prstDash val="solid"/>
          </a:ln>
        </p:spPr>
        <p:txBody>
          <a:bodyPr/>
          <a:lstStyle/>
          <a:p>
            <a:endParaRPr lang="en-US"/>
          </a:p>
        </p:txBody>
      </p:sp>
      <p:sp>
        <p:nvSpPr>
          <p:cNvPr id="17" name="Rectangle 16">
            <a:extLst>
              <a:ext uri="{FF2B5EF4-FFF2-40B4-BE49-F238E27FC236}">
                <a16:creationId xmlns:a16="http://schemas.microsoft.com/office/drawing/2014/main" id="{CC4B4D18-0990-4097-A012-2D2DC9A949C6}"/>
              </a:ext>
            </a:extLst>
          </p:cNvPr>
          <p:cNvSpPr>
            <a:spLocks noGrp="1"/>
          </p:cNvSpPr>
          <p:nvPr/>
        </p:nvSpPr>
        <p:spPr>
          <a:xfrm>
            <a:off x="5124450" y="2743200"/>
            <a:ext cx="3867150" cy="209550"/>
          </a:xfrm>
          <a:prstGeom prst="rect">
            <a:avLst/>
          </a:prstGeom>
        </p:spPr>
        <p:txBody>
          <a:bodyPr lIns="0" tIns="0" rIns="0" bIns="0"/>
          <a:lstStyle/>
          <a:p>
            <a:pPr>
              <a:defRPr sz="1275" b="0" i="0">
                <a:solidFill>
                  <a:srgbClr val="10242E"/>
                </a:solidFill>
              </a:defRPr>
            </a:pPr>
            <a:r>
              <a:rPr sz="1275" b="0" i="0">
                <a:solidFill>
                  <a:srgbClr val="10242E"/>
                </a:solidFill>
              </a:rPr>
              <a:t>high coverage, low delay variation</a:t>
            </a:r>
          </a:p>
        </p:txBody>
      </p:sp>
      <p:sp>
        <p:nvSpPr>
          <p:cNvPr id="18" name="Rectangle 17">
            <a:extLst>
              <a:ext uri="{FF2B5EF4-FFF2-40B4-BE49-F238E27FC236}">
                <a16:creationId xmlns:a16="http://schemas.microsoft.com/office/drawing/2014/main" id="{AC335775-D737-429E-A523-7964F148841F}"/>
              </a:ext>
            </a:extLst>
          </p:cNvPr>
          <p:cNvSpPr>
            <a:spLocks noGrp="1"/>
          </p:cNvSpPr>
          <p:nvPr/>
        </p:nvSpPr>
        <p:spPr>
          <a:xfrm>
            <a:off x="1123950" y="3059430"/>
            <a:ext cx="2304398" cy="422910"/>
          </a:xfrm>
          <a:prstGeom prst="rect">
            <a:avLst/>
          </a:prstGeom>
          <a:solidFill>
            <a:srgbClr val="F0F4F2"/>
          </a:solidFill>
          <a:ln w="9525">
            <a:solidFill>
              <a:srgbClr val="E0E7E4"/>
            </a:solidFill>
            <a:prstDash val="solid"/>
          </a:ln>
        </p:spPr>
        <p:txBody>
          <a:bodyPr/>
          <a:lstStyle/>
          <a:p>
            <a:endParaRPr lang="en-US"/>
          </a:p>
        </p:txBody>
      </p:sp>
      <p:sp>
        <p:nvSpPr>
          <p:cNvPr id="19" name="Rectangle 18">
            <a:extLst>
              <a:ext uri="{FF2B5EF4-FFF2-40B4-BE49-F238E27FC236}">
                <a16:creationId xmlns:a16="http://schemas.microsoft.com/office/drawing/2014/main" id="{F0B3C1C8-CAF7-42D6-B95F-D2C5F10F5380}"/>
              </a:ext>
            </a:extLst>
          </p:cNvPr>
          <p:cNvSpPr>
            <a:spLocks noGrp="1"/>
          </p:cNvSpPr>
          <p:nvPr/>
        </p:nvSpPr>
        <p:spPr>
          <a:xfrm>
            <a:off x="1276350" y="3181350"/>
            <a:ext cx="2000250" cy="209550"/>
          </a:xfrm>
          <a:prstGeom prst="rect">
            <a:avLst/>
          </a:prstGeom>
        </p:spPr>
        <p:txBody>
          <a:bodyPr lIns="0" tIns="0" rIns="0" bIns="0"/>
          <a:lstStyle/>
          <a:p>
            <a:pPr>
              <a:defRPr sz="1275" b="0" i="0">
                <a:solidFill>
                  <a:srgbClr val="10242E"/>
                </a:solidFill>
              </a:defRPr>
            </a:pPr>
            <a:r>
              <a:rPr sz="1275" b="0" i="0">
                <a:solidFill>
                  <a:srgbClr val="10242E"/>
                </a:solidFill>
              </a:rPr>
              <a:t>Watch</a:t>
            </a:r>
          </a:p>
        </p:txBody>
      </p:sp>
      <p:sp>
        <p:nvSpPr>
          <p:cNvPr id="20" name="Rectangle 19">
            <a:extLst>
              <a:ext uri="{FF2B5EF4-FFF2-40B4-BE49-F238E27FC236}">
                <a16:creationId xmlns:a16="http://schemas.microsoft.com/office/drawing/2014/main" id="{4CB42322-370B-433A-848A-363307E467F3}"/>
              </a:ext>
            </a:extLst>
          </p:cNvPr>
          <p:cNvSpPr>
            <a:spLocks noGrp="1"/>
          </p:cNvSpPr>
          <p:nvPr/>
        </p:nvSpPr>
        <p:spPr>
          <a:xfrm>
            <a:off x="3428348" y="3059430"/>
            <a:ext cx="1536265" cy="422910"/>
          </a:xfrm>
          <a:prstGeom prst="rect">
            <a:avLst/>
          </a:prstGeom>
          <a:solidFill>
            <a:srgbClr val="F0F4F2"/>
          </a:solidFill>
          <a:ln w="9525">
            <a:solidFill>
              <a:srgbClr val="E0E7E4"/>
            </a:solidFill>
            <a:prstDash val="solid"/>
          </a:ln>
        </p:spPr>
        <p:txBody>
          <a:bodyPr/>
          <a:lstStyle/>
          <a:p>
            <a:endParaRPr lang="en-US"/>
          </a:p>
        </p:txBody>
      </p:sp>
      <p:sp>
        <p:nvSpPr>
          <p:cNvPr id="21" name="Rectangle 20">
            <a:extLst>
              <a:ext uri="{FF2B5EF4-FFF2-40B4-BE49-F238E27FC236}">
                <a16:creationId xmlns:a16="http://schemas.microsoft.com/office/drawing/2014/main" id="{0333915A-030C-4238-BEE6-AEDE4CF17D91}"/>
              </a:ext>
            </a:extLst>
          </p:cNvPr>
          <p:cNvSpPr>
            <a:spLocks noGrp="1"/>
          </p:cNvSpPr>
          <p:nvPr/>
        </p:nvSpPr>
        <p:spPr>
          <a:xfrm>
            <a:off x="3581400" y="3181350"/>
            <a:ext cx="1238250" cy="209550"/>
          </a:xfrm>
          <a:prstGeom prst="rect">
            <a:avLst/>
          </a:prstGeom>
        </p:spPr>
        <p:txBody>
          <a:bodyPr lIns="0" tIns="0" rIns="0" bIns="0"/>
          <a:lstStyle/>
          <a:p>
            <a:pPr>
              <a:defRPr sz="1275" b="0" i="0">
                <a:solidFill>
                  <a:srgbClr val="10242E"/>
                </a:solidFill>
              </a:defRPr>
            </a:pPr>
            <a:r>
              <a:rPr sz="1275" b="0" i="0">
                <a:solidFill>
                  <a:srgbClr val="10242E"/>
                </a:solidFill>
              </a:rPr>
              <a:t>1,202</a:t>
            </a:r>
          </a:p>
        </p:txBody>
      </p:sp>
      <p:sp>
        <p:nvSpPr>
          <p:cNvPr id="22" name="Rectangle 21">
            <a:extLst>
              <a:ext uri="{FF2B5EF4-FFF2-40B4-BE49-F238E27FC236}">
                <a16:creationId xmlns:a16="http://schemas.microsoft.com/office/drawing/2014/main" id="{7B14DEF6-F637-42D2-BE52-BB7573EE043D}"/>
              </a:ext>
            </a:extLst>
          </p:cNvPr>
          <p:cNvSpPr>
            <a:spLocks noGrp="1"/>
          </p:cNvSpPr>
          <p:nvPr/>
        </p:nvSpPr>
        <p:spPr>
          <a:xfrm>
            <a:off x="4964613" y="3059430"/>
            <a:ext cx="4169862" cy="422910"/>
          </a:xfrm>
          <a:prstGeom prst="rect">
            <a:avLst/>
          </a:prstGeom>
          <a:solidFill>
            <a:srgbClr val="F0F4F2"/>
          </a:solidFill>
          <a:ln w="9525">
            <a:solidFill>
              <a:srgbClr val="E0E7E4"/>
            </a:solidFill>
            <a:prstDash val="solid"/>
          </a:ln>
        </p:spPr>
        <p:txBody>
          <a:bodyPr/>
          <a:lstStyle/>
          <a:p>
            <a:endParaRPr lang="en-US"/>
          </a:p>
        </p:txBody>
      </p:sp>
      <p:sp>
        <p:nvSpPr>
          <p:cNvPr id="23" name="Rectangle 22">
            <a:extLst>
              <a:ext uri="{FF2B5EF4-FFF2-40B4-BE49-F238E27FC236}">
                <a16:creationId xmlns:a16="http://schemas.microsoft.com/office/drawing/2014/main" id="{674C802B-A5D6-449B-A422-0FE03838A3D6}"/>
              </a:ext>
            </a:extLst>
          </p:cNvPr>
          <p:cNvSpPr>
            <a:spLocks noGrp="1"/>
          </p:cNvSpPr>
          <p:nvPr/>
        </p:nvSpPr>
        <p:spPr>
          <a:xfrm>
            <a:off x="5124450" y="3181350"/>
            <a:ext cx="3867150" cy="209550"/>
          </a:xfrm>
          <a:prstGeom prst="rect">
            <a:avLst/>
          </a:prstGeom>
        </p:spPr>
        <p:txBody>
          <a:bodyPr lIns="0" tIns="0" rIns="0" bIns="0"/>
          <a:lstStyle/>
          <a:p>
            <a:pPr>
              <a:defRPr sz="1275" b="0" i="0">
                <a:solidFill>
                  <a:srgbClr val="10242E"/>
                </a:solidFill>
              </a:defRPr>
            </a:pPr>
            <a:r>
              <a:rPr sz="1275" b="0" i="0">
                <a:solidFill>
                  <a:srgbClr val="10242E"/>
                </a:solidFill>
              </a:rPr>
              <a:t>not severe, but should be monitored</a:t>
            </a:r>
          </a:p>
        </p:txBody>
      </p:sp>
      <p:sp>
        <p:nvSpPr>
          <p:cNvPr id="24" name="Rectangle 23">
            <a:extLst>
              <a:ext uri="{FF2B5EF4-FFF2-40B4-BE49-F238E27FC236}">
                <a16:creationId xmlns:a16="http://schemas.microsoft.com/office/drawing/2014/main" id="{DFECAD92-2407-4A88-A5D0-86BA387437EF}"/>
              </a:ext>
            </a:extLst>
          </p:cNvPr>
          <p:cNvSpPr>
            <a:spLocks noGrp="1"/>
          </p:cNvSpPr>
          <p:nvPr/>
        </p:nvSpPr>
        <p:spPr>
          <a:xfrm>
            <a:off x="1123950" y="3482340"/>
            <a:ext cx="2304398" cy="422910"/>
          </a:xfrm>
          <a:prstGeom prst="rect">
            <a:avLst/>
          </a:prstGeom>
          <a:solidFill>
            <a:srgbClr val="FFFFFF"/>
          </a:solidFill>
          <a:ln w="9525">
            <a:solidFill>
              <a:srgbClr val="E0E7E4"/>
            </a:solidFill>
            <a:prstDash val="solid"/>
          </a:ln>
        </p:spPr>
        <p:txBody>
          <a:bodyPr/>
          <a:lstStyle/>
          <a:p>
            <a:endParaRPr lang="en-US"/>
          </a:p>
        </p:txBody>
      </p:sp>
      <p:sp>
        <p:nvSpPr>
          <p:cNvPr id="25" name="Rectangle 24">
            <a:extLst>
              <a:ext uri="{FF2B5EF4-FFF2-40B4-BE49-F238E27FC236}">
                <a16:creationId xmlns:a16="http://schemas.microsoft.com/office/drawing/2014/main" id="{CE65DA4E-C0DF-4C56-9156-36DF1EC7E89C}"/>
              </a:ext>
            </a:extLst>
          </p:cNvPr>
          <p:cNvSpPr>
            <a:spLocks noGrp="1"/>
          </p:cNvSpPr>
          <p:nvPr/>
        </p:nvSpPr>
        <p:spPr>
          <a:xfrm>
            <a:off x="1276350" y="3600450"/>
            <a:ext cx="2000250" cy="209550"/>
          </a:xfrm>
          <a:prstGeom prst="rect">
            <a:avLst/>
          </a:prstGeom>
        </p:spPr>
        <p:txBody>
          <a:bodyPr lIns="0" tIns="0" rIns="0" bIns="0"/>
          <a:lstStyle/>
          <a:p>
            <a:pPr>
              <a:defRPr sz="1275" b="0" i="0">
                <a:solidFill>
                  <a:srgbClr val="10242E"/>
                </a:solidFill>
              </a:defRPr>
            </a:pPr>
            <a:r>
              <a:rPr sz="1275" b="0" i="0">
                <a:solidFill>
                  <a:srgbClr val="10242E"/>
                </a:solidFill>
              </a:rPr>
              <a:t>Delay hotspot</a:t>
            </a:r>
          </a:p>
        </p:txBody>
      </p:sp>
      <p:sp>
        <p:nvSpPr>
          <p:cNvPr id="26" name="Rectangle 25">
            <a:extLst>
              <a:ext uri="{FF2B5EF4-FFF2-40B4-BE49-F238E27FC236}">
                <a16:creationId xmlns:a16="http://schemas.microsoft.com/office/drawing/2014/main" id="{9623DA30-E312-485C-933C-A8DDB445D28C}"/>
              </a:ext>
            </a:extLst>
          </p:cNvPr>
          <p:cNvSpPr>
            <a:spLocks noGrp="1"/>
          </p:cNvSpPr>
          <p:nvPr/>
        </p:nvSpPr>
        <p:spPr>
          <a:xfrm>
            <a:off x="3428348" y="3482340"/>
            <a:ext cx="1536265" cy="422910"/>
          </a:xfrm>
          <a:prstGeom prst="rect">
            <a:avLst/>
          </a:prstGeom>
          <a:solidFill>
            <a:srgbClr val="FFFFFF"/>
          </a:solidFill>
          <a:ln w="9525">
            <a:solidFill>
              <a:srgbClr val="E0E7E4"/>
            </a:solidFill>
            <a:prstDash val="solid"/>
          </a:ln>
        </p:spPr>
        <p:txBody>
          <a:bodyPr/>
          <a:lstStyle/>
          <a:p>
            <a:endParaRPr lang="en-US"/>
          </a:p>
        </p:txBody>
      </p:sp>
      <p:sp>
        <p:nvSpPr>
          <p:cNvPr id="27" name="Rectangle 26">
            <a:extLst>
              <a:ext uri="{FF2B5EF4-FFF2-40B4-BE49-F238E27FC236}">
                <a16:creationId xmlns:a16="http://schemas.microsoft.com/office/drawing/2014/main" id="{F56A1E4D-D374-4254-B4B6-A1B87FB82632}"/>
              </a:ext>
            </a:extLst>
          </p:cNvPr>
          <p:cNvSpPr>
            <a:spLocks noGrp="1"/>
          </p:cNvSpPr>
          <p:nvPr/>
        </p:nvSpPr>
        <p:spPr>
          <a:xfrm>
            <a:off x="3581400" y="3600450"/>
            <a:ext cx="1238250" cy="209550"/>
          </a:xfrm>
          <a:prstGeom prst="rect">
            <a:avLst/>
          </a:prstGeom>
        </p:spPr>
        <p:txBody>
          <a:bodyPr lIns="0" tIns="0" rIns="0" bIns="0"/>
          <a:lstStyle/>
          <a:p>
            <a:pPr>
              <a:defRPr sz="1275" b="0" i="0">
                <a:solidFill>
                  <a:srgbClr val="10242E"/>
                </a:solidFill>
              </a:defRPr>
            </a:pPr>
            <a:r>
              <a:rPr sz="1275" b="0" i="0">
                <a:solidFill>
                  <a:srgbClr val="10242E"/>
                </a:solidFill>
              </a:rPr>
              <a:t>752</a:t>
            </a:r>
          </a:p>
        </p:txBody>
      </p:sp>
      <p:sp>
        <p:nvSpPr>
          <p:cNvPr id="28" name="Rectangle 27">
            <a:extLst>
              <a:ext uri="{FF2B5EF4-FFF2-40B4-BE49-F238E27FC236}">
                <a16:creationId xmlns:a16="http://schemas.microsoft.com/office/drawing/2014/main" id="{C6581A6D-0B4B-4F1E-883D-41484F44C04E}"/>
              </a:ext>
            </a:extLst>
          </p:cNvPr>
          <p:cNvSpPr>
            <a:spLocks noGrp="1"/>
          </p:cNvSpPr>
          <p:nvPr/>
        </p:nvSpPr>
        <p:spPr>
          <a:xfrm>
            <a:off x="4964613" y="3482340"/>
            <a:ext cx="4169862" cy="422910"/>
          </a:xfrm>
          <a:prstGeom prst="rect">
            <a:avLst/>
          </a:prstGeom>
          <a:solidFill>
            <a:srgbClr val="FFFFFF"/>
          </a:solidFill>
          <a:ln w="9525">
            <a:solidFill>
              <a:srgbClr val="E0E7E4"/>
            </a:solidFill>
            <a:prstDash val="solid"/>
          </a:ln>
        </p:spPr>
        <p:txBody>
          <a:bodyPr/>
          <a:lstStyle/>
          <a:p>
            <a:endParaRPr lang="en-US"/>
          </a:p>
        </p:txBody>
      </p:sp>
      <p:sp>
        <p:nvSpPr>
          <p:cNvPr id="29" name="Rectangle 28">
            <a:extLst>
              <a:ext uri="{FF2B5EF4-FFF2-40B4-BE49-F238E27FC236}">
                <a16:creationId xmlns:a16="http://schemas.microsoft.com/office/drawing/2014/main" id="{77D7310C-1617-4F7F-8B2A-D88492282B59}"/>
              </a:ext>
            </a:extLst>
          </p:cNvPr>
          <p:cNvSpPr>
            <a:spLocks noGrp="1"/>
          </p:cNvSpPr>
          <p:nvPr/>
        </p:nvSpPr>
        <p:spPr>
          <a:xfrm>
            <a:off x="5124450" y="3600450"/>
            <a:ext cx="3867150" cy="209550"/>
          </a:xfrm>
          <a:prstGeom prst="rect">
            <a:avLst/>
          </a:prstGeom>
        </p:spPr>
        <p:txBody>
          <a:bodyPr lIns="0" tIns="0" rIns="0" bIns="0"/>
          <a:lstStyle/>
          <a:p>
            <a:pPr>
              <a:defRPr sz="1275" b="0" i="0">
                <a:solidFill>
                  <a:srgbClr val="10242E"/>
                </a:solidFill>
              </a:defRPr>
            </a:pPr>
            <a:r>
              <a:rPr sz="1275" b="0" i="0">
                <a:solidFill>
                  <a:srgbClr val="10242E"/>
                </a:solidFill>
              </a:rPr>
              <a:t>higher delay and p95 delay windows</a:t>
            </a:r>
          </a:p>
        </p:txBody>
      </p:sp>
      <p:sp>
        <p:nvSpPr>
          <p:cNvPr id="30" name="Rectangle 29">
            <a:extLst>
              <a:ext uri="{FF2B5EF4-FFF2-40B4-BE49-F238E27FC236}">
                <a16:creationId xmlns:a16="http://schemas.microsoft.com/office/drawing/2014/main" id="{CA76FFD1-FD1F-4D59-8743-7FA0BF31A3D7}"/>
              </a:ext>
            </a:extLst>
          </p:cNvPr>
          <p:cNvSpPr>
            <a:spLocks noGrp="1"/>
          </p:cNvSpPr>
          <p:nvPr/>
        </p:nvSpPr>
        <p:spPr>
          <a:xfrm>
            <a:off x="1123950" y="3905250"/>
            <a:ext cx="2304398" cy="422910"/>
          </a:xfrm>
          <a:prstGeom prst="rect">
            <a:avLst/>
          </a:prstGeom>
          <a:solidFill>
            <a:srgbClr val="F0F4F2"/>
          </a:solidFill>
          <a:ln w="9525">
            <a:solidFill>
              <a:srgbClr val="E0E7E4"/>
            </a:solidFill>
            <a:prstDash val="solid"/>
          </a:ln>
        </p:spPr>
        <p:txBody>
          <a:bodyPr/>
          <a:lstStyle/>
          <a:p>
            <a:endParaRPr lang="en-US"/>
          </a:p>
        </p:txBody>
      </p:sp>
      <p:sp>
        <p:nvSpPr>
          <p:cNvPr id="31" name="Rectangle 30">
            <a:extLst>
              <a:ext uri="{FF2B5EF4-FFF2-40B4-BE49-F238E27FC236}">
                <a16:creationId xmlns:a16="http://schemas.microsoft.com/office/drawing/2014/main" id="{3751EBB7-7501-4D27-BF6E-07266C8D90D3}"/>
              </a:ext>
            </a:extLst>
          </p:cNvPr>
          <p:cNvSpPr>
            <a:spLocks noGrp="1"/>
          </p:cNvSpPr>
          <p:nvPr/>
        </p:nvSpPr>
        <p:spPr>
          <a:xfrm>
            <a:off x="1276350" y="4019550"/>
            <a:ext cx="2000250" cy="209550"/>
          </a:xfrm>
          <a:prstGeom prst="rect">
            <a:avLst/>
          </a:prstGeom>
        </p:spPr>
        <p:txBody>
          <a:bodyPr lIns="0" tIns="0" rIns="0" bIns="0"/>
          <a:lstStyle/>
          <a:p>
            <a:pPr>
              <a:defRPr sz="1275" b="0" i="0">
                <a:solidFill>
                  <a:srgbClr val="10242E"/>
                </a:solidFill>
              </a:defRPr>
            </a:pPr>
            <a:r>
              <a:rPr sz="1275" b="0" i="0">
                <a:solidFill>
                  <a:srgbClr val="10242E"/>
                </a:solidFill>
              </a:rPr>
              <a:t>Low realtime coverage</a:t>
            </a:r>
          </a:p>
        </p:txBody>
      </p:sp>
      <p:sp>
        <p:nvSpPr>
          <p:cNvPr id="32" name="Rectangle 31">
            <a:extLst>
              <a:ext uri="{FF2B5EF4-FFF2-40B4-BE49-F238E27FC236}">
                <a16:creationId xmlns:a16="http://schemas.microsoft.com/office/drawing/2014/main" id="{7C1EA562-4B40-4989-9294-88FAABD8372B}"/>
              </a:ext>
            </a:extLst>
          </p:cNvPr>
          <p:cNvSpPr>
            <a:spLocks noGrp="1"/>
          </p:cNvSpPr>
          <p:nvPr/>
        </p:nvSpPr>
        <p:spPr>
          <a:xfrm>
            <a:off x="3428348" y="3905250"/>
            <a:ext cx="1536265" cy="422910"/>
          </a:xfrm>
          <a:prstGeom prst="rect">
            <a:avLst/>
          </a:prstGeom>
          <a:solidFill>
            <a:srgbClr val="F0F4F2"/>
          </a:solidFill>
          <a:ln w="9525">
            <a:solidFill>
              <a:srgbClr val="E0E7E4"/>
            </a:solidFill>
            <a:prstDash val="solid"/>
          </a:ln>
        </p:spPr>
        <p:txBody>
          <a:bodyPr/>
          <a:lstStyle/>
          <a:p>
            <a:endParaRPr lang="en-US"/>
          </a:p>
        </p:txBody>
      </p:sp>
      <p:sp>
        <p:nvSpPr>
          <p:cNvPr id="33" name="Rectangle 32">
            <a:extLst>
              <a:ext uri="{FF2B5EF4-FFF2-40B4-BE49-F238E27FC236}">
                <a16:creationId xmlns:a16="http://schemas.microsoft.com/office/drawing/2014/main" id="{EDA84B84-56D5-4ADF-B70A-9DD53DBE3976}"/>
              </a:ext>
            </a:extLst>
          </p:cNvPr>
          <p:cNvSpPr>
            <a:spLocks noGrp="1"/>
          </p:cNvSpPr>
          <p:nvPr/>
        </p:nvSpPr>
        <p:spPr>
          <a:xfrm>
            <a:off x="3581400" y="4019550"/>
            <a:ext cx="1238250" cy="209550"/>
          </a:xfrm>
          <a:prstGeom prst="rect">
            <a:avLst/>
          </a:prstGeom>
        </p:spPr>
        <p:txBody>
          <a:bodyPr lIns="0" tIns="0" rIns="0" bIns="0"/>
          <a:lstStyle/>
          <a:p>
            <a:pPr>
              <a:defRPr sz="1275" b="0" i="0">
                <a:solidFill>
                  <a:srgbClr val="10242E"/>
                </a:solidFill>
              </a:defRPr>
            </a:pPr>
            <a:r>
              <a:rPr sz="1275" b="0" i="0">
                <a:solidFill>
                  <a:srgbClr val="10242E"/>
                </a:solidFill>
              </a:rPr>
              <a:t>489</a:t>
            </a:r>
          </a:p>
        </p:txBody>
      </p:sp>
      <p:sp>
        <p:nvSpPr>
          <p:cNvPr id="34" name="Rectangle 33">
            <a:extLst>
              <a:ext uri="{FF2B5EF4-FFF2-40B4-BE49-F238E27FC236}">
                <a16:creationId xmlns:a16="http://schemas.microsoft.com/office/drawing/2014/main" id="{006418EA-E405-4952-BA85-7F62C44828E2}"/>
              </a:ext>
            </a:extLst>
          </p:cNvPr>
          <p:cNvSpPr>
            <a:spLocks noGrp="1"/>
          </p:cNvSpPr>
          <p:nvPr/>
        </p:nvSpPr>
        <p:spPr>
          <a:xfrm>
            <a:off x="4964613" y="3905250"/>
            <a:ext cx="4169862" cy="422910"/>
          </a:xfrm>
          <a:prstGeom prst="rect">
            <a:avLst/>
          </a:prstGeom>
          <a:solidFill>
            <a:srgbClr val="F0F4F2"/>
          </a:solidFill>
          <a:ln w="9525">
            <a:solidFill>
              <a:srgbClr val="E0E7E4"/>
            </a:solidFill>
            <a:prstDash val="solid"/>
          </a:ln>
        </p:spPr>
        <p:txBody>
          <a:bodyPr/>
          <a:lstStyle/>
          <a:p>
            <a:endParaRPr lang="en-US"/>
          </a:p>
        </p:txBody>
      </p:sp>
      <p:sp>
        <p:nvSpPr>
          <p:cNvPr id="35" name="Rectangle 34">
            <a:extLst>
              <a:ext uri="{FF2B5EF4-FFF2-40B4-BE49-F238E27FC236}">
                <a16:creationId xmlns:a16="http://schemas.microsoft.com/office/drawing/2014/main" id="{806482D6-28E8-4093-A6FE-1D1EBF91F76A}"/>
              </a:ext>
            </a:extLst>
          </p:cNvPr>
          <p:cNvSpPr>
            <a:spLocks noGrp="1"/>
          </p:cNvSpPr>
          <p:nvPr/>
        </p:nvSpPr>
        <p:spPr>
          <a:xfrm>
            <a:off x="5124450" y="4019550"/>
            <a:ext cx="3867150" cy="209550"/>
          </a:xfrm>
          <a:prstGeom prst="rect">
            <a:avLst/>
          </a:prstGeom>
        </p:spPr>
        <p:txBody>
          <a:bodyPr lIns="0" tIns="0" rIns="0" bIns="0"/>
          <a:lstStyle/>
          <a:p>
            <a:pPr>
              <a:defRPr sz="1275" b="0" i="0">
                <a:solidFill>
                  <a:srgbClr val="10242E"/>
                </a:solidFill>
              </a:defRPr>
            </a:pPr>
            <a:r>
              <a:rPr sz="1275" b="0" i="0">
                <a:solidFill>
                  <a:srgbClr val="10242E"/>
                </a:solidFill>
              </a:rPr>
              <a:t>prediction evidence is weaker</a:t>
            </a:r>
          </a:p>
        </p:txBody>
      </p:sp>
      <p:graphicFrame>
        <p:nvGraphicFramePr>
          <p:cNvPr id="36" name="cluster-mix-chart"/>
          <p:cNvGraphicFramePr/>
          <p:nvPr/>
        </p:nvGraphicFramePr>
        <p:xfrm>
          <a:off x="9534525" y="2202180"/>
          <a:ext cx="8010525"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37" name="Rectangle: Rounded Corners 36">
            <a:extLst>
              <a:ext uri="{FF2B5EF4-FFF2-40B4-BE49-F238E27FC236}">
                <a16:creationId xmlns:a16="http://schemas.microsoft.com/office/drawing/2014/main" id="{D81384AD-9592-43D0-A74F-3F4C05D8C2FB}"/>
              </a:ext>
            </a:extLst>
          </p:cNvPr>
          <p:cNvSpPr>
            <a:spLocks noGrp="1"/>
          </p:cNvSpPr>
          <p:nvPr/>
        </p:nvSpPr>
        <p:spPr>
          <a:xfrm>
            <a:off x="9534525" y="6945630"/>
            <a:ext cx="912495" cy="582930"/>
          </a:xfrm>
          <a:prstGeom prst="roundRect">
            <a:avLst>
              <a:gd name="adj" fmla="val 50000"/>
            </a:avLst>
          </a:prstGeom>
          <a:solidFill>
            <a:srgbClr val="24B96F">
              <a:alpha val="13333"/>
            </a:srgbClr>
          </a:solidFill>
          <a:ln w="9525">
            <a:solidFill>
              <a:srgbClr val="24B96F">
                <a:alpha val="40000"/>
              </a:srgbClr>
            </a:solidFill>
            <a:prstDash val="solid"/>
          </a:ln>
        </p:spPr>
        <p:txBody>
          <a:bodyPr/>
          <a:lstStyle/>
          <a:p>
            <a:endParaRPr lang="en-US"/>
          </a:p>
        </p:txBody>
      </p:sp>
      <p:sp>
        <p:nvSpPr>
          <p:cNvPr id="38" name="Rectangle 37">
            <a:extLst>
              <a:ext uri="{FF2B5EF4-FFF2-40B4-BE49-F238E27FC236}">
                <a16:creationId xmlns:a16="http://schemas.microsoft.com/office/drawing/2014/main" id="{9FDDEAD8-AEEF-4670-964B-0D6770E4E073}"/>
              </a:ext>
            </a:extLst>
          </p:cNvPr>
          <p:cNvSpPr>
            <a:spLocks noGrp="1"/>
          </p:cNvSpPr>
          <p:nvPr/>
        </p:nvSpPr>
        <p:spPr>
          <a:xfrm>
            <a:off x="9715500" y="7029450"/>
            <a:ext cx="571500" cy="419100"/>
          </a:xfrm>
          <a:prstGeom prst="rect">
            <a:avLst/>
          </a:prstGeom>
        </p:spPr>
        <p:txBody>
          <a:bodyPr lIns="0" tIns="0" rIns="0" bIns="0"/>
          <a:lstStyle/>
          <a:p>
            <a:pPr>
              <a:defRPr sz="1350" b="1" i="0">
                <a:solidFill>
                  <a:srgbClr val="24B96F"/>
                </a:solidFill>
              </a:defRPr>
            </a:pPr>
            <a:r>
              <a:rPr sz="1350" b="1" i="0">
                <a:solidFill>
                  <a:srgbClr val="24B96F"/>
                </a:solidFill>
              </a:rPr>
              <a:t>Reliable</a:t>
            </a:r>
          </a:p>
        </p:txBody>
      </p:sp>
      <p:sp>
        <p:nvSpPr>
          <p:cNvPr id="39" name="Rectangle: Rounded Corners 38">
            <a:extLst>
              <a:ext uri="{FF2B5EF4-FFF2-40B4-BE49-F238E27FC236}">
                <a16:creationId xmlns:a16="http://schemas.microsoft.com/office/drawing/2014/main" id="{F2DABE12-E019-44EE-8643-6A9D5C3773F9}"/>
              </a:ext>
            </a:extLst>
          </p:cNvPr>
          <p:cNvSpPr>
            <a:spLocks noGrp="1"/>
          </p:cNvSpPr>
          <p:nvPr/>
        </p:nvSpPr>
        <p:spPr>
          <a:xfrm>
            <a:off x="10561320" y="6945630"/>
            <a:ext cx="796099" cy="582930"/>
          </a:xfrm>
          <a:prstGeom prst="roundRect">
            <a:avLst>
              <a:gd name="adj" fmla="val 50000"/>
            </a:avLst>
          </a:prstGeom>
          <a:solidFill>
            <a:srgbClr val="D83B3E">
              <a:alpha val="13333"/>
            </a:srgbClr>
          </a:solidFill>
          <a:ln w="9525">
            <a:solidFill>
              <a:srgbClr val="D83B3E">
                <a:alpha val="40000"/>
              </a:srgbClr>
            </a:solidFill>
            <a:prstDash val="solid"/>
          </a:ln>
        </p:spPr>
        <p:txBody>
          <a:bodyPr/>
          <a:lstStyle/>
          <a:p>
            <a:endParaRPr lang="en-US"/>
          </a:p>
        </p:txBody>
      </p:sp>
      <p:sp>
        <p:nvSpPr>
          <p:cNvPr id="40" name="Rectangle 39">
            <a:extLst>
              <a:ext uri="{FF2B5EF4-FFF2-40B4-BE49-F238E27FC236}">
                <a16:creationId xmlns:a16="http://schemas.microsoft.com/office/drawing/2014/main" id="{D80106B9-84BA-420C-950E-488000A3CDB6}"/>
              </a:ext>
            </a:extLst>
          </p:cNvPr>
          <p:cNvSpPr>
            <a:spLocks noGrp="1"/>
          </p:cNvSpPr>
          <p:nvPr/>
        </p:nvSpPr>
        <p:spPr>
          <a:xfrm>
            <a:off x="10725150" y="7029450"/>
            <a:ext cx="457200" cy="419100"/>
          </a:xfrm>
          <a:prstGeom prst="rect">
            <a:avLst/>
          </a:prstGeom>
        </p:spPr>
        <p:txBody>
          <a:bodyPr lIns="0" tIns="0" rIns="0" bIns="0"/>
          <a:lstStyle/>
          <a:p>
            <a:pPr>
              <a:defRPr sz="1350" b="1" i="0">
                <a:solidFill>
                  <a:srgbClr val="D83B3E"/>
                </a:solidFill>
              </a:defRPr>
            </a:pPr>
            <a:r>
              <a:rPr sz="1350" b="1" i="0">
                <a:solidFill>
                  <a:srgbClr val="D83B3E"/>
                </a:solidFill>
              </a:rPr>
              <a:t>Watch</a:t>
            </a:r>
          </a:p>
        </p:txBody>
      </p:sp>
      <p:sp>
        <p:nvSpPr>
          <p:cNvPr id="41" name="Rectangle: Rounded Corners 40">
            <a:extLst>
              <a:ext uri="{FF2B5EF4-FFF2-40B4-BE49-F238E27FC236}">
                <a16:creationId xmlns:a16="http://schemas.microsoft.com/office/drawing/2014/main" id="{69CE1D4C-2EB2-4455-816E-A48B371D6763}"/>
              </a:ext>
            </a:extLst>
          </p:cNvPr>
          <p:cNvSpPr>
            <a:spLocks noGrp="1"/>
          </p:cNvSpPr>
          <p:nvPr/>
        </p:nvSpPr>
        <p:spPr>
          <a:xfrm>
            <a:off x="11471720" y="6945630"/>
            <a:ext cx="1336643" cy="582930"/>
          </a:xfrm>
          <a:prstGeom prst="roundRect">
            <a:avLst>
              <a:gd name="adj" fmla="val 50000"/>
            </a:avLst>
          </a:prstGeom>
          <a:solidFill>
            <a:srgbClr val="326DFF">
              <a:alpha val="13333"/>
            </a:srgbClr>
          </a:solidFill>
          <a:ln w="9525">
            <a:solidFill>
              <a:srgbClr val="326DFF">
                <a:alpha val="40000"/>
              </a:srgbClr>
            </a:solidFill>
            <a:prstDash val="solid"/>
          </a:ln>
        </p:spPr>
        <p:txBody>
          <a:bodyPr/>
          <a:lstStyle/>
          <a:p>
            <a:endParaRPr lang="en-US"/>
          </a:p>
        </p:txBody>
      </p:sp>
      <p:sp>
        <p:nvSpPr>
          <p:cNvPr id="42" name="Rectangle 41">
            <a:extLst>
              <a:ext uri="{FF2B5EF4-FFF2-40B4-BE49-F238E27FC236}">
                <a16:creationId xmlns:a16="http://schemas.microsoft.com/office/drawing/2014/main" id="{52F98DBF-3C1C-4724-A00D-0E0FB76634D3}"/>
              </a:ext>
            </a:extLst>
          </p:cNvPr>
          <p:cNvSpPr>
            <a:spLocks noGrp="1"/>
          </p:cNvSpPr>
          <p:nvPr/>
        </p:nvSpPr>
        <p:spPr>
          <a:xfrm>
            <a:off x="11639550" y="7029450"/>
            <a:ext cx="990600" cy="419100"/>
          </a:xfrm>
          <a:prstGeom prst="rect">
            <a:avLst/>
          </a:prstGeom>
        </p:spPr>
        <p:txBody>
          <a:bodyPr lIns="0" tIns="0" rIns="0" bIns="0"/>
          <a:lstStyle/>
          <a:p>
            <a:pPr>
              <a:defRPr sz="1350" b="1" i="0">
                <a:solidFill>
                  <a:srgbClr val="326DFF"/>
                </a:solidFill>
              </a:defRPr>
            </a:pPr>
            <a:r>
              <a:rPr sz="1350" b="1" i="0">
                <a:solidFill>
                  <a:srgbClr val="326DFF"/>
                </a:solidFill>
              </a:rPr>
              <a:t>Delay hotspot</a:t>
            </a:r>
          </a:p>
        </p:txBody>
      </p:sp>
      <p:sp>
        <p:nvSpPr>
          <p:cNvPr id="43" name="Rectangle: Rounded Corners 42">
            <a:extLst>
              <a:ext uri="{FF2B5EF4-FFF2-40B4-BE49-F238E27FC236}">
                <a16:creationId xmlns:a16="http://schemas.microsoft.com/office/drawing/2014/main" id="{2D80131A-7DC8-43DD-871F-494993C4F5D0}"/>
              </a:ext>
            </a:extLst>
          </p:cNvPr>
          <p:cNvSpPr>
            <a:spLocks noGrp="1"/>
          </p:cNvSpPr>
          <p:nvPr/>
        </p:nvSpPr>
        <p:spPr>
          <a:xfrm>
            <a:off x="12922663" y="6945630"/>
            <a:ext cx="1309592" cy="582930"/>
          </a:xfrm>
          <a:prstGeom prst="roundRect">
            <a:avLst>
              <a:gd name="adj" fmla="val 50000"/>
            </a:avLst>
          </a:prstGeom>
          <a:solidFill>
            <a:srgbClr val="F39A1E">
              <a:alpha val="13333"/>
            </a:srgbClr>
          </a:solidFill>
          <a:ln w="9525">
            <a:solidFill>
              <a:srgbClr val="F39A1E">
                <a:alpha val="40000"/>
              </a:srgbClr>
            </a:solidFill>
            <a:prstDash val="solid"/>
          </a:ln>
        </p:spPr>
        <p:txBody>
          <a:bodyPr/>
          <a:lstStyle/>
          <a:p>
            <a:endParaRPr lang="en-US"/>
          </a:p>
        </p:txBody>
      </p:sp>
      <p:sp>
        <p:nvSpPr>
          <p:cNvPr id="44" name="Rectangle 43">
            <a:extLst>
              <a:ext uri="{FF2B5EF4-FFF2-40B4-BE49-F238E27FC236}">
                <a16:creationId xmlns:a16="http://schemas.microsoft.com/office/drawing/2014/main" id="{FD8235CD-6BC0-4597-96A3-0B77C67EBEB9}"/>
              </a:ext>
            </a:extLst>
          </p:cNvPr>
          <p:cNvSpPr>
            <a:spLocks noGrp="1"/>
          </p:cNvSpPr>
          <p:nvPr/>
        </p:nvSpPr>
        <p:spPr>
          <a:xfrm>
            <a:off x="13087350" y="7029450"/>
            <a:ext cx="971550" cy="419100"/>
          </a:xfrm>
          <a:prstGeom prst="rect">
            <a:avLst/>
          </a:prstGeom>
        </p:spPr>
        <p:txBody>
          <a:bodyPr lIns="0" tIns="0" rIns="0" bIns="0"/>
          <a:lstStyle/>
          <a:p>
            <a:pPr>
              <a:defRPr sz="1350" b="1" i="0">
                <a:solidFill>
                  <a:srgbClr val="F39A1E"/>
                </a:solidFill>
              </a:defRPr>
            </a:pPr>
            <a:r>
              <a:rPr sz="1350" b="1" i="0">
                <a:solidFill>
                  <a:srgbClr val="F39A1E"/>
                </a:solidFill>
              </a:rPr>
              <a:t>Low coverage</a:t>
            </a:r>
          </a:p>
        </p:txBody>
      </p:sp>
      <p:sp>
        <p:nvSpPr>
          <p:cNvPr id="45" name="source">
            <a:extLst>
              <a:ext uri="{FF2B5EF4-FFF2-40B4-BE49-F238E27FC236}">
                <a16:creationId xmlns:a16="http://schemas.microsoft.com/office/drawing/2014/main" id="{E5F0D50D-3AC4-4D22-8DC8-473288D73741}"/>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2042535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25" name="bg">
            <a:extLst>
              <a:ext uri="{FF2B5EF4-FFF2-40B4-BE49-F238E27FC236}">
                <a16:creationId xmlns:a16="http://schemas.microsoft.com/office/drawing/2014/main" id="{C1EFC346-BE98-423C-BFE3-1EF09A28A790}"/>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A1B5F8A6-2807-487B-9957-32249C882D72}"/>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753E1751-7CC6-4B09-B21D-FA09ED734C84}"/>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4B2EB65D-DB4B-4C63-8E48-12709668AC5E}"/>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Spatial insight: reliability clusters on the Helsinki map</a:t>
            </a:r>
          </a:p>
        </p:txBody>
      </p:sp>
      <p:sp>
        <p:nvSpPr>
          <p:cNvPr id="5" name="slide-subtitle">
            <a:extLst>
              <a:ext uri="{FF2B5EF4-FFF2-40B4-BE49-F238E27FC236}">
                <a16:creationId xmlns:a16="http://schemas.microsoft.com/office/drawing/2014/main" id="{4A7045F4-9D1B-453B-8C5F-2E1A3FA98DAC}"/>
              </a:ext>
            </a:extLst>
          </p:cNvPr>
          <p:cNvSpPr>
            <a:spLocks noGrp="1"/>
          </p:cNvSpPr>
          <p:nvPr/>
        </p:nvSpPr>
        <p:spPr>
          <a:xfrm>
            <a:off x="1123950" y="1657350"/>
            <a:ext cx="9772650" cy="571500"/>
          </a:xfrm>
          <a:prstGeom prst="rect">
            <a:avLst/>
          </a:prstGeom>
        </p:spPr>
        <p:txBody>
          <a:bodyPr lIns="0" tIns="0" rIns="0" bIns="0"/>
          <a:lstStyle/>
          <a:p>
            <a:pPr>
              <a:defRPr sz="1875" b="0" i="0">
                <a:solidFill>
                  <a:srgbClr val="5D6D76"/>
                </a:solidFill>
              </a:defRPr>
            </a:pPr>
            <a:r>
              <a:rPr sz="1875" b="0" i="0">
                <a:solidFill>
                  <a:srgbClr val="5D6D76"/>
                </a:solidFill>
              </a:rPr>
              <a:t>The CartoDB basemap makes the output explainable: clusters are tied to stop locations and corridors.</a:t>
            </a:r>
          </a:p>
        </p:txBody>
      </p:sp>
      <p:sp>
        <p:nvSpPr>
          <p:cNvPr id="6" name="Rectangle: Rounded Corners 5">
            <a:extLst>
              <a:ext uri="{FF2B5EF4-FFF2-40B4-BE49-F238E27FC236}">
                <a16:creationId xmlns:a16="http://schemas.microsoft.com/office/drawing/2014/main" id="{451A0835-E346-4FBC-B731-A253D89B2139}"/>
              </a:ext>
            </a:extLst>
          </p:cNvPr>
          <p:cNvSpPr>
            <a:spLocks noGrp="1"/>
          </p:cNvSpPr>
          <p:nvPr/>
        </p:nvSpPr>
        <p:spPr>
          <a:xfrm>
            <a:off x="1123950" y="2487930"/>
            <a:ext cx="10839926" cy="6983730"/>
          </a:xfrm>
          <a:prstGeom prst="roundRect">
            <a:avLst>
              <a:gd name="adj" fmla="val 3273"/>
            </a:avLst>
          </a:prstGeom>
          <a:solidFill>
            <a:srgbClr val="FFFFFF"/>
          </a:solidFill>
          <a:ln w="9525">
            <a:solidFill>
              <a:srgbClr val="D9E0DD"/>
            </a:solidFill>
            <a:prstDash val="solid"/>
          </a:ln>
        </p:spPr>
        <p:txBody>
          <a:bodyPr/>
          <a:lstStyle/>
          <a:p>
            <a:endParaRPr lang="en-US"/>
          </a:p>
        </p:txBody>
      </p:sp>
      <p:sp>
        <p:nvSpPr>
          <p:cNvPr id="7" name="Rectangle: Rounded Corners 6">
            <a:extLst>
              <a:ext uri="{FF2B5EF4-FFF2-40B4-BE49-F238E27FC236}">
                <a16:creationId xmlns:a16="http://schemas.microsoft.com/office/drawing/2014/main" id="{CA964992-3D82-4DC8-AC0B-E6535B85F25E}"/>
              </a:ext>
            </a:extLst>
          </p:cNvPr>
          <p:cNvSpPr>
            <a:spLocks noGrp="1"/>
          </p:cNvSpPr>
          <p:nvPr/>
        </p:nvSpPr>
        <p:spPr>
          <a:xfrm>
            <a:off x="1123950" y="2487930"/>
            <a:ext cx="10839926" cy="6983730"/>
          </a:xfrm>
          <a:prstGeom prst="roundRect">
            <a:avLst>
              <a:gd name="adj" fmla="val 4092"/>
            </a:avLst>
          </a:prstGeom>
          <a:solidFill>
            <a:srgbClr val="FFFFFF"/>
          </a:solidFill>
          <a:ln w="19050">
            <a:solidFill>
              <a:srgbClr val="24B96F">
                <a:alpha val="53333"/>
              </a:srgbClr>
            </a:solidFill>
            <a:prstDash val="solid"/>
          </a:ln>
        </p:spPr>
        <p:txBody>
          <a:bodyPr/>
          <a:lstStyle/>
          <a:p>
            <a:endParaRPr lang="en-US"/>
          </a:p>
        </p:txBody>
      </p:sp>
      <p:sp>
        <p:nvSpPr>
          <p:cNvPr id="8" name="Rectangle: Rounded Corners 7">
            <a:extLst>
              <a:ext uri="{FF2B5EF4-FFF2-40B4-BE49-F238E27FC236}">
                <a16:creationId xmlns:a16="http://schemas.microsoft.com/office/drawing/2014/main" id="{4FC88160-310C-4825-BFFF-6CC1CC13CB09}"/>
              </a:ext>
            </a:extLst>
          </p:cNvPr>
          <p:cNvSpPr>
            <a:spLocks noGrp="1"/>
          </p:cNvSpPr>
          <p:nvPr/>
        </p:nvSpPr>
        <p:spPr>
          <a:xfrm>
            <a:off x="5867400" y="4876800"/>
            <a:ext cx="1314450" cy="95250"/>
          </a:xfrm>
          <a:prstGeom prst="roundRect">
            <a:avLst>
              <a:gd name="adj" fmla="val 50000"/>
            </a:avLst>
          </a:prstGeom>
          <a:solidFill>
            <a:srgbClr val="24B96F"/>
          </a:solidFill>
        </p:spPr>
        <p:txBody>
          <a:bodyPr/>
          <a:lstStyle/>
          <a:p>
            <a:endParaRPr lang="en-US"/>
          </a:p>
        </p:txBody>
      </p:sp>
      <p:sp>
        <p:nvSpPr>
          <p:cNvPr id="9" name="Rectangle 8">
            <a:extLst>
              <a:ext uri="{FF2B5EF4-FFF2-40B4-BE49-F238E27FC236}">
                <a16:creationId xmlns:a16="http://schemas.microsoft.com/office/drawing/2014/main" id="{B2005DF8-4C8D-46CF-8841-6EB26072D5A7}"/>
              </a:ext>
            </a:extLst>
          </p:cNvPr>
          <p:cNvSpPr>
            <a:spLocks noGrp="1"/>
          </p:cNvSpPr>
          <p:nvPr/>
        </p:nvSpPr>
        <p:spPr>
          <a:xfrm>
            <a:off x="5772150" y="5105400"/>
            <a:ext cx="1562100" cy="228600"/>
          </a:xfrm>
          <a:prstGeom prst="rect">
            <a:avLst/>
          </a:prstGeom>
        </p:spPr>
        <p:txBody>
          <a:bodyPr lIns="0" tIns="0" rIns="0" bIns="0"/>
          <a:lstStyle/>
          <a:p>
            <a:pPr>
              <a:defRPr sz="1500" b="1" i="0">
                <a:solidFill>
                  <a:srgbClr val="24B96F"/>
                </a:solidFill>
              </a:defRPr>
            </a:pPr>
            <a:r>
              <a:rPr sz="1500" b="1" i="0">
                <a:solidFill>
                  <a:srgbClr val="24B96F"/>
                </a:solidFill>
              </a:rPr>
              <a:t>SCREENSHOT SPACE</a:t>
            </a:r>
          </a:p>
        </p:txBody>
      </p:sp>
      <p:sp>
        <p:nvSpPr>
          <p:cNvPr id="10" name="Rectangle 9">
            <a:extLst>
              <a:ext uri="{FF2B5EF4-FFF2-40B4-BE49-F238E27FC236}">
                <a16:creationId xmlns:a16="http://schemas.microsoft.com/office/drawing/2014/main" id="{2BC02D5D-1E3F-4828-B594-24CC74291FEC}"/>
              </a:ext>
            </a:extLst>
          </p:cNvPr>
          <p:cNvSpPr>
            <a:spLocks noGrp="1"/>
          </p:cNvSpPr>
          <p:nvPr/>
        </p:nvSpPr>
        <p:spPr>
          <a:xfrm>
            <a:off x="3886200" y="5505450"/>
            <a:ext cx="5334000" cy="914400"/>
          </a:xfrm>
          <a:prstGeom prst="rect">
            <a:avLst/>
          </a:prstGeom>
        </p:spPr>
        <p:txBody>
          <a:bodyPr lIns="0" tIns="0" rIns="0" bIns="0"/>
          <a:lstStyle/>
          <a:p>
            <a:pPr>
              <a:defRPr sz="3000" b="1" i="0">
                <a:solidFill>
                  <a:srgbClr val="071419"/>
                </a:solidFill>
              </a:defRPr>
            </a:pPr>
            <a:r>
              <a:rPr sz="3000" b="1" i="0">
                <a:solidFill>
                  <a:srgbClr val="071419"/>
                </a:solidFill>
              </a:rPr>
              <a:t>HSL bus reliability clusters by stop location</a:t>
            </a:r>
          </a:p>
        </p:txBody>
      </p:sp>
      <p:sp>
        <p:nvSpPr>
          <p:cNvPr id="11" name="Rectangle 10">
            <a:extLst>
              <a:ext uri="{FF2B5EF4-FFF2-40B4-BE49-F238E27FC236}">
                <a16:creationId xmlns:a16="http://schemas.microsoft.com/office/drawing/2014/main" id="{F7D92322-65EB-43C2-8600-F41609677EB7}"/>
              </a:ext>
            </a:extLst>
          </p:cNvPr>
          <p:cNvSpPr>
            <a:spLocks noGrp="1"/>
          </p:cNvSpPr>
          <p:nvPr/>
        </p:nvSpPr>
        <p:spPr>
          <a:xfrm>
            <a:off x="3752850" y="6591300"/>
            <a:ext cx="5600700" cy="533400"/>
          </a:xfrm>
          <a:prstGeom prst="rect">
            <a:avLst/>
          </a:prstGeom>
        </p:spPr>
        <p:txBody>
          <a:bodyPr lIns="0" tIns="0" rIns="0" bIns="0"/>
          <a:lstStyle/>
          <a:p>
            <a:pPr>
              <a:defRPr sz="1725" b="0" i="0">
                <a:solidFill>
                  <a:srgbClr val="5D6D76"/>
                </a:solidFill>
              </a:defRPr>
            </a:pPr>
            <a:r>
              <a:rPr sz="1725" b="0" i="0">
                <a:solidFill>
                  <a:srgbClr val="5D6D76"/>
                </a:solidFill>
              </a:rPr>
              <a:t>Insert Part 4 spatial plot with CartoDB basemap: green reliable, red watch, blue delay hotspot, orange low realtime coverage.</a:t>
            </a:r>
          </a:p>
        </p:txBody>
      </p:sp>
      <p:sp>
        <p:nvSpPr>
          <p:cNvPr id="12" name="Rectangle: Rounded Corners 11">
            <a:extLst>
              <a:ext uri="{FF2B5EF4-FFF2-40B4-BE49-F238E27FC236}">
                <a16:creationId xmlns:a16="http://schemas.microsoft.com/office/drawing/2014/main" id="{67D1619C-2640-4C7A-A16D-137F3B5678FB}"/>
              </a:ext>
            </a:extLst>
          </p:cNvPr>
          <p:cNvSpPr>
            <a:spLocks noGrp="1"/>
          </p:cNvSpPr>
          <p:nvPr/>
        </p:nvSpPr>
        <p:spPr>
          <a:xfrm>
            <a:off x="12344400" y="2476500"/>
            <a:ext cx="171450" cy="171450"/>
          </a:xfrm>
          <a:prstGeom prst="roundRect">
            <a:avLst>
              <a:gd name="adj" fmla="val 50000"/>
            </a:avLst>
          </a:prstGeom>
          <a:solidFill>
            <a:srgbClr val="1E5A64"/>
          </a:solidFill>
        </p:spPr>
        <p:txBody>
          <a:bodyPr/>
          <a:lstStyle/>
          <a:p>
            <a:endParaRPr lang="en-US"/>
          </a:p>
        </p:txBody>
      </p:sp>
      <p:sp>
        <p:nvSpPr>
          <p:cNvPr id="13" name="Rectangle 12">
            <a:extLst>
              <a:ext uri="{FF2B5EF4-FFF2-40B4-BE49-F238E27FC236}">
                <a16:creationId xmlns:a16="http://schemas.microsoft.com/office/drawing/2014/main" id="{DDBC8085-ECA9-4FEF-A9F6-6A8C669BB60A}"/>
              </a:ext>
            </a:extLst>
          </p:cNvPr>
          <p:cNvSpPr>
            <a:spLocks noGrp="1"/>
          </p:cNvSpPr>
          <p:nvPr/>
        </p:nvSpPr>
        <p:spPr>
          <a:xfrm>
            <a:off x="12649200" y="2495550"/>
            <a:ext cx="4895850" cy="323850"/>
          </a:xfrm>
          <a:prstGeom prst="rect">
            <a:avLst/>
          </a:prstGeom>
        </p:spPr>
        <p:txBody>
          <a:bodyPr lIns="0" tIns="0" rIns="0" bIns="0"/>
          <a:lstStyle/>
          <a:p>
            <a:pPr>
              <a:defRPr sz="2100" b="1" i="0">
                <a:solidFill>
                  <a:srgbClr val="071419"/>
                </a:solidFill>
              </a:defRPr>
            </a:pPr>
            <a:r>
              <a:rPr sz="2100" b="1" i="0">
                <a:solidFill>
                  <a:srgbClr val="071419"/>
                </a:solidFill>
              </a:rPr>
              <a:t>Green</a:t>
            </a:r>
          </a:p>
        </p:txBody>
      </p:sp>
      <p:sp>
        <p:nvSpPr>
          <p:cNvPr id="14" name="Rectangle 13">
            <a:extLst>
              <a:ext uri="{FF2B5EF4-FFF2-40B4-BE49-F238E27FC236}">
                <a16:creationId xmlns:a16="http://schemas.microsoft.com/office/drawing/2014/main" id="{7469A604-A2D9-4B8D-9AEB-2904017202C4}"/>
              </a:ext>
            </a:extLst>
          </p:cNvPr>
          <p:cNvSpPr>
            <a:spLocks noGrp="1"/>
          </p:cNvSpPr>
          <p:nvPr/>
        </p:nvSpPr>
        <p:spPr>
          <a:xfrm>
            <a:off x="12649200" y="2838450"/>
            <a:ext cx="6134100" cy="514350"/>
          </a:xfrm>
          <a:prstGeom prst="rect">
            <a:avLst/>
          </a:prstGeom>
        </p:spPr>
        <p:txBody>
          <a:bodyPr lIns="0" tIns="0" rIns="0" bIns="0"/>
          <a:lstStyle/>
          <a:p>
            <a:pPr>
              <a:defRPr sz="1650" b="0" i="0">
                <a:solidFill>
                  <a:srgbClr val="5D6D76"/>
                </a:solidFill>
              </a:defRPr>
            </a:pPr>
            <a:r>
              <a:rPr sz="1650" b="0" i="0">
                <a:solidFill>
                  <a:srgbClr val="5D6D76"/>
                </a:solidFill>
              </a:rPr>
              <a:t>Reliable stop windows with stronger coverage and lower delay variation.</a:t>
            </a:r>
          </a:p>
        </p:txBody>
      </p:sp>
      <p:sp>
        <p:nvSpPr>
          <p:cNvPr id="15" name="Rectangle: Rounded Corners 14">
            <a:extLst>
              <a:ext uri="{FF2B5EF4-FFF2-40B4-BE49-F238E27FC236}">
                <a16:creationId xmlns:a16="http://schemas.microsoft.com/office/drawing/2014/main" id="{93989AF6-26CF-4E08-AA6B-C1EFA065936B}"/>
              </a:ext>
            </a:extLst>
          </p:cNvPr>
          <p:cNvSpPr>
            <a:spLocks noGrp="1"/>
          </p:cNvSpPr>
          <p:nvPr/>
        </p:nvSpPr>
        <p:spPr>
          <a:xfrm>
            <a:off x="12344400" y="3505200"/>
            <a:ext cx="171450" cy="171450"/>
          </a:xfrm>
          <a:prstGeom prst="roundRect">
            <a:avLst>
              <a:gd name="adj" fmla="val 50000"/>
            </a:avLst>
          </a:prstGeom>
          <a:solidFill>
            <a:srgbClr val="48B8C7"/>
          </a:solidFill>
        </p:spPr>
        <p:txBody>
          <a:bodyPr/>
          <a:lstStyle/>
          <a:p>
            <a:endParaRPr lang="en-US"/>
          </a:p>
        </p:txBody>
      </p:sp>
      <p:sp>
        <p:nvSpPr>
          <p:cNvPr id="16" name="Rectangle 15">
            <a:extLst>
              <a:ext uri="{FF2B5EF4-FFF2-40B4-BE49-F238E27FC236}">
                <a16:creationId xmlns:a16="http://schemas.microsoft.com/office/drawing/2014/main" id="{7870F10E-0A63-4724-ACF4-C7816BEF96F5}"/>
              </a:ext>
            </a:extLst>
          </p:cNvPr>
          <p:cNvSpPr>
            <a:spLocks noGrp="1"/>
          </p:cNvSpPr>
          <p:nvPr/>
        </p:nvSpPr>
        <p:spPr>
          <a:xfrm>
            <a:off x="12649200" y="3524250"/>
            <a:ext cx="4895850" cy="323850"/>
          </a:xfrm>
          <a:prstGeom prst="rect">
            <a:avLst/>
          </a:prstGeom>
        </p:spPr>
        <p:txBody>
          <a:bodyPr lIns="0" tIns="0" rIns="0" bIns="0"/>
          <a:lstStyle/>
          <a:p>
            <a:pPr>
              <a:defRPr sz="2100" b="1" i="0">
                <a:solidFill>
                  <a:srgbClr val="071419"/>
                </a:solidFill>
              </a:defRPr>
            </a:pPr>
            <a:r>
              <a:rPr sz="2100" b="1" i="0">
                <a:solidFill>
                  <a:srgbClr val="071419"/>
                </a:solidFill>
              </a:rPr>
              <a:t>Red</a:t>
            </a:r>
          </a:p>
        </p:txBody>
      </p:sp>
      <p:sp>
        <p:nvSpPr>
          <p:cNvPr id="17" name="Rectangle 16">
            <a:extLst>
              <a:ext uri="{FF2B5EF4-FFF2-40B4-BE49-F238E27FC236}">
                <a16:creationId xmlns:a16="http://schemas.microsoft.com/office/drawing/2014/main" id="{A3B24DFB-6240-40C4-B0B9-64C3B3B45C73}"/>
              </a:ext>
            </a:extLst>
          </p:cNvPr>
          <p:cNvSpPr>
            <a:spLocks noGrp="1"/>
          </p:cNvSpPr>
          <p:nvPr/>
        </p:nvSpPr>
        <p:spPr>
          <a:xfrm>
            <a:off x="12649200" y="3886200"/>
            <a:ext cx="6248400" cy="266700"/>
          </a:xfrm>
          <a:prstGeom prst="rect">
            <a:avLst/>
          </a:prstGeom>
        </p:spPr>
        <p:txBody>
          <a:bodyPr lIns="0" tIns="0" rIns="0" bIns="0"/>
          <a:lstStyle/>
          <a:p>
            <a:pPr>
              <a:defRPr sz="1650" b="0" i="0">
                <a:solidFill>
                  <a:srgbClr val="5D6D76"/>
                </a:solidFill>
              </a:defRPr>
            </a:pPr>
            <a:r>
              <a:rPr sz="1650" b="0" i="0">
                <a:solidFill>
                  <a:srgbClr val="5D6D76"/>
                </a:solidFill>
              </a:rPr>
              <a:t>Watch locations where planners should inspect recurring operational risk.</a:t>
            </a:r>
          </a:p>
        </p:txBody>
      </p:sp>
      <p:sp>
        <p:nvSpPr>
          <p:cNvPr id="18" name="Rectangle: Rounded Corners 17">
            <a:extLst>
              <a:ext uri="{FF2B5EF4-FFF2-40B4-BE49-F238E27FC236}">
                <a16:creationId xmlns:a16="http://schemas.microsoft.com/office/drawing/2014/main" id="{2AD228AF-3A66-4B5A-8BCA-0570FFCBCEBF}"/>
              </a:ext>
            </a:extLst>
          </p:cNvPr>
          <p:cNvSpPr>
            <a:spLocks noGrp="1"/>
          </p:cNvSpPr>
          <p:nvPr/>
        </p:nvSpPr>
        <p:spPr>
          <a:xfrm>
            <a:off x="12344400" y="4305300"/>
            <a:ext cx="171450" cy="171450"/>
          </a:xfrm>
          <a:prstGeom prst="roundRect">
            <a:avLst>
              <a:gd name="adj" fmla="val 50000"/>
            </a:avLst>
          </a:prstGeom>
          <a:solidFill>
            <a:srgbClr val="1E5A64"/>
          </a:solidFill>
        </p:spPr>
        <p:txBody>
          <a:bodyPr/>
          <a:lstStyle/>
          <a:p>
            <a:endParaRPr lang="en-US"/>
          </a:p>
        </p:txBody>
      </p:sp>
      <p:sp>
        <p:nvSpPr>
          <p:cNvPr id="19" name="Rectangle 18">
            <a:extLst>
              <a:ext uri="{FF2B5EF4-FFF2-40B4-BE49-F238E27FC236}">
                <a16:creationId xmlns:a16="http://schemas.microsoft.com/office/drawing/2014/main" id="{B3CD623D-D620-4732-BC65-4BD3C969992E}"/>
              </a:ext>
            </a:extLst>
          </p:cNvPr>
          <p:cNvSpPr>
            <a:spLocks noGrp="1"/>
          </p:cNvSpPr>
          <p:nvPr/>
        </p:nvSpPr>
        <p:spPr>
          <a:xfrm>
            <a:off x="12649200" y="4305300"/>
            <a:ext cx="4895850" cy="323850"/>
          </a:xfrm>
          <a:prstGeom prst="rect">
            <a:avLst/>
          </a:prstGeom>
        </p:spPr>
        <p:txBody>
          <a:bodyPr lIns="0" tIns="0" rIns="0" bIns="0"/>
          <a:lstStyle/>
          <a:p>
            <a:pPr>
              <a:defRPr sz="2100" b="1" i="0">
                <a:solidFill>
                  <a:srgbClr val="071419"/>
                </a:solidFill>
              </a:defRPr>
            </a:pPr>
            <a:r>
              <a:rPr sz="2100" b="1" i="0">
                <a:solidFill>
                  <a:srgbClr val="071419"/>
                </a:solidFill>
              </a:rPr>
              <a:t>Blue</a:t>
            </a:r>
          </a:p>
        </p:txBody>
      </p:sp>
      <p:sp>
        <p:nvSpPr>
          <p:cNvPr id="20" name="Rectangle 19">
            <a:extLst>
              <a:ext uri="{FF2B5EF4-FFF2-40B4-BE49-F238E27FC236}">
                <a16:creationId xmlns:a16="http://schemas.microsoft.com/office/drawing/2014/main" id="{55FD71EC-6BAB-471F-92B9-841278011587}"/>
              </a:ext>
            </a:extLst>
          </p:cNvPr>
          <p:cNvSpPr>
            <a:spLocks noGrp="1"/>
          </p:cNvSpPr>
          <p:nvPr/>
        </p:nvSpPr>
        <p:spPr>
          <a:xfrm>
            <a:off x="12649200" y="4667250"/>
            <a:ext cx="4838700" cy="514350"/>
          </a:xfrm>
          <a:prstGeom prst="rect">
            <a:avLst/>
          </a:prstGeom>
        </p:spPr>
        <p:txBody>
          <a:bodyPr lIns="0" tIns="0" rIns="0" bIns="0"/>
          <a:lstStyle/>
          <a:p>
            <a:pPr>
              <a:defRPr sz="1650" b="0" i="0">
                <a:solidFill>
                  <a:srgbClr val="5D6D76"/>
                </a:solidFill>
              </a:defRPr>
            </a:pPr>
            <a:r>
              <a:rPr sz="1650" b="0" i="0">
                <a:solidFill>
                  <a:srgbClr val="5D6D76"/>
                </a:solidFill>
              </a:rPr>
              <a:t>Delay hotspots with higher delay and p95 absolute delay.</a:t>
            </a:r>
          </a:p>
        </p:txBody>
      </p:sp>
      <p:sp>
        <p:nvSpPr>
          <p:cNvPr id="21" name="Rectangle: Rounded Corners 20">
            <a:extLst>
              <a:ext uri="{FF2B5EF4-FFF2-40B4-BE49-F238E27FC236}">
                <a16:creationId xmlns:a16="http://schemas.microsoft.com/office/drawing/2014/main" id="{EC816C3C-EBB2-45EE-B5BD-1AF4648149EA}"/>
              </a:ext>
            </a:extLst>
          </p:cNvPr>
          <p:cNvSpPr>
            <a:spLocks noGrp="1"/>
          </p:cNvSpPr>
          <p:nvPr/>
        </p:nvSpPr>
        <p:spPr>
          <a:xfrm>
            <a:off x="12344400" y="5334000"/>
            <a:ext cx="171450" cy="171450"/>
          </a:xfrm>
          <a:prstGeom prst="roundRect">
            <a:avLst>
              <a:gd name="adj" fmla="val 50000"/>
            </a:avLst>
          </a:prstGeom>
          <a:solidFill>
            <a:srgbClr val="48B8C7"/>
          </a:solidFill>
        </p:spPr>
        <p:txBody>
          <a:bodyPr/>
          <a:lstStyle/>
          <a:p>
            <a:endParaRPr lang="en-US"/>
          </a:p>
        </p:txBody>
      </p:sp>
      <p:sp>
        <p:nvSpPr>
          <p:cNvPr id="22" name="Rectangle 21">
            <a:extLst>
              <a:ext uri="{FF2B5EF4-FFF2-40B4-BE49-F238E27FC236}">
                <a16:creationId xmlns:a16="http://schemas.microsoft.com/office/drawing/2014/main" id="{86EDE5D0-2D00-4147-BCB0-E13740008A7A}"/>
              </a:ext>
            </a:extLst>
          </p:cNvPr>
          <p:cNvSpPr>
            <a:spLocks noGrp="1"/>
          </p:cNvSpPr>
          <p:nvPr/>
        </p:nvSpPr>
        <p:spPr>
          <a:xfrm>
            <a:off x="12649200" y="5334000"/>
            <a:ext cx="4895850" cy="323850"/>
          </a:xfrm>
          <a:prstGeom prst="rect">
            <a:avLst/>
          </a:prstGeom>
        </p:spPr>
        <p:txBody>
          <a:bodyPr lIns="0" tIns="0" rIns="0" bIns="0"/>
          <a:lstStyle/>
          <a:p>
            <a:pPr>
              <a:defRPr sz="2100" b="1" i="0">
                <a:solidFill>
                  <a:srgbClr val="071419"/>
                </a:solidFill>
              </a:defRPr>
            </a:pPr>
            <a:r>
              <a:rPr sz="2100" b="1" i="0">
                <a:solidFill>
                  <a:srgbClr val="071419"/>
                </a:solidFill>
              </a:rPr>
              <a:t>Orange</a:t>
            </a:r>
          </a:p>
        </p:txBody>
      </p:sp>
      <p:sp>
        <p:nvSpPr>
          <p:cNvPr id="23" name="Rectangle 22">
            <a:extLst>
              <a:ext uri="{FF2B5EF4-FFF2-40B4-BE49-F238E27FC236}">
                <a16:creationId xmlns:a16="http://schemas.microsoft.com/office/drawing/2014/main" id="{CA90F992-D884-42E7-86DD-26159C350DE4}"/>
              </a:ext>
            </a:extLst>
          </p:cNvPr>
          <p:cNvSpPr>
            <a:spLocks noGrp="1"/>
          </p:cNvSpPr>
          <p:nvPr/>
        </p:nvSpPr>
        <p:spPr>
          <a:xfrm>
            <a:off x="12649200" y="5695950"/>
            <a:ext cx="5410200" cy="514350"/>
          </a:xfrm>
          <a:prstGeom prst="rect">
            <a:avLst/>
          </a:prstGeom>
        </p:spPr>
        <p:txBody>
          <a:bodyPr lIns="0" tIns="0" rIns="0" bIns="0"/>
          <a:lstStyle/>
          <a:p>
            <a:pPr>
              <a:defRPr sz="1650" b="0" i="0">
                <a:solidFill>
                  <a:srgbClr val="5D6D76"/>
                </a:solidFill>
              </a:defRPr>
            </a:pPr>
            <a:r>
              <a:rPr sz="1650" b="0" i="0">
                <a:solidFill>
                  <a:srgbClr val="5D6D76"/>
                </a:solidFill>
              </a:rPr>
              <a:t>Low realtime coverage areas where data quality limits certainty.</a:t>
            </a:r>
          </a:p>
        </p:txBody>
      </p:sp>
      <p:sp>
        <p:nvSpPr>
          <p:cNvPr id="24" name="source">
            <a:extLst>
              <a:ext uri="{FF2B5EF4-FFF2-40B4-BE49-F238E27FC236}">
                <a16:creationId xmlns:a16="http://schemas.microsoft.com/office/drawing/2014/main" id="{CD3E4227-988C-4E49-9B88-620EAC52BA47}"/>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1414368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17" name="bg">
            <a:extLst>
              <a:ext uri="{FF2B5EF4-FFF2-40B4-BE49-F238E27FC236}">
                <a16:creationId xmlns:a16="http://schemas.microsoft.com/office/drawing/2014/main" id="{0FBBD1BB-8CA9-4422-A9E1-D27CD54724F7}"/>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E307A9BE-336F-4952-92C2-90E9F05DC477}"/>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475A45D8-E1B2-41D0-B8F5-565B2ADCDE89}"/>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FD2F3251-A7A6-4B61-BCB2-E11690CE80D9}"/>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Anomaly detection evaluation</a:t>
            </a:r>
          </a:p>
        </p:txBody>
      </p:sp>
      <p:sp>
        <p:nvSpPr>
          <p:cNvPr id="5" name="slide-subtitle">
            <a:extLst>
              <a:ext uri="{FF2B5EF4-FFF2-40B4-BE49-F238E27FC236}">
                <a16:creationId xmlns:a16="http://schemas.microsoft.com/office/drawing/2014/main" id="{AD5312EF-EC11-420A-9EEC-848624084A1A}"/>
              </a:ext>
            </a:extLst>
          </p:cNvPr>
          <p:cNvSpPr>
            <a:spLocks noGrp="1"/>
          </p:cNvSpPr>
          <p:nvPr/>
        </p:nvSpPr>
        <p:spPr>
          <a:xfrm>
            <a:off x="1123950" y="1657350"/>
            <a:ext cx="12325350" cy="571500"/>
          </a:xfrm>
          <a:prstGeom prst="rect">
            <a:avLst/>
          </a:prstGeom>
        </p:spPr>
        <p:txBody>
          <a:bodyPr lIns="0" tIns="0" rIns="0" bIns="0"/>
          <a:lstStyle/>
          <a:p>
            <a:pPr>
              <a:defRPr sz="1875" b="0" i="0">
                <a:solidFill>
                  <a:srgbClr val="5D6D76"/>
                </a:solidFill>
              </a:defRPr>
            </a:pPr>
            <a:r>
              <a:rPr sz="1875" b="0" i="0">
                <a:solidFill>
                  <a:srgbClr val="5D6D76"/>
                </a:solidFill>
              </a:rPr>
              <a:t>Without official disruption labels, anomaly models were evaluated using pseudo-labels from extreme delay, stale feed, coverage dropout, and late-heavy windows.</a:t>
            </a:r>
          </a:p>
        </p:txBody>
      </p:sp>
      <p:graphicFrame>
        <p:nvGraphicFramePr>
          <p:cNvPr id="6" name="anomaly-compare-chart"/>
          <p:cNvGraphicFramePr/>
          <p:nvPr/>
        </p:nvGraphicFramePr>
        <p:xfrm>
          <a:off x="1123950" y="2487930"/>
          <a:ext cx="8010525" cy="47625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8A928C97-0E8C-4D5B-99C7-1F3ACC8E47F9}"/>
              </a:ext>
            </a:extLst>
          </p:cNvPr>
          <p:cNvSpPr>
            <a:spLocks noGrp="1"/>
          </p:cNvSpPr>
          <p:nvPr/>
        </p:nvSpPr>
        <p:spPr>
          <a:xfrm>
            <a:off x="1123950" y="7410450"/>
            <a:ext cx="8020050" cy="514350"/>
          </a:xfrm>
          <a:prstGeom prst="rect">
            <a:avLst/>
          </a:prstGeom>
        </p:spPr>
        <p:txBody>
          <a:bodyPr lIns="0" tIns="0" rIns="0" bIns="0"/>
          <a:lstStyle/>
          <a:p>
            <a:pPr>
              <a:defRPr sz="1650" b="0" i="0">
                <a:solidFill>
                  <a:srgbClr val="5D6D76"/>
                </a:solidFill>
              </a:defRPr>
            </a:pPr>
            <a:r>
              <a:rPr sz="1650" b="0" i="0">
                <a:solidFill>
                  <a:srgbClr val="5D6D76"/>
                </a:solidFill>
              </a:rPr>
              <a:t>Isolation Forest performed better on the pseudo-label evaluation, while LOF remains useful as a conservative local comparison.</a:t>
            </a:r>
          </a:p>
        </p:txBody>
      </p:sp>
      <p:sp>
        <p:nvSpPr>
          <p:cNvPr id="8" name="Rectangle 7">
            <a:extLst>
              <a:ext uri="{FF2B5EF4-FFF2-40B4-BE49-F238E27FC236}">
                <a16:creationId xmlns:a16="http://schemas.microsoft.com/office/drawing/2014/main" id="{D8AF8B63-4649-463D-BA3C-72B00E7B1CF9}"/>
              </a:ext>
            </a:extLst>
          </p:cNvPr>
          <p:cNvSpPr>
            <a:spLocks noGrp="1"/>
          </p:cNvSpPr>
          <p:nvPr/>
        </p:nvSpPr>
        <p:spPr>
          <a:xfrm>
            <a:off x="9544050" y="3867150"/>
            <a:ext cx="8020050" cy="628650"/>
          </a:xfrm>
          <a:prstGeom prst="rect">
            <a:avLst/>
          </a:prstGeom>
        </p:spPr>
        <p:txBody>
          <a:bodyPr lIns="0" tIns="0" rIns="0" bIns="0"/>
          <a:lstStyle/>
          <a:p>
            <a:pPr>
              <a:defRPr sz="4050" b="1" i="0">
                <a:solidFill>
                  <a:srgbClr val="D83B3E"/>
                </a:solidFill>
              </a:defRPr>
            </a:pPr>
            <a:r>
              <a:rPr sz="4050" b="1" i="0">
                <a:solidFill>
                  <a:srgbClr val="D83B3E"/>
                </a:solidFill>
              </a:rPr>
              <a:t>454</a:t>
            </a:r>
          </a:p>
        </p:txBody>
      </p:sp>
      <p:sp>
        <p:nvSpPr>
          <p:cNvPr id="9" name="Rectangle 8">
            <a:extLst>
              <a:ext uri="{FF2B5EF4-FFF2-40B4-BE49-F238E27FC236}">
                <a16:creationId xmlns:a16="http://schemas.microsoft.com/office/drawing/2014/main" id="{6572ED23-83F2-4C82-8545-2E5934CAB04D}"/>
              </a:ext>
            </a:extLst>
          </p:cNvPr>
          <p:cNvSpPr>
            <a:spLocks noGrp="1"/>
          </p:cNvSpPr>
          <p:nvPr/>
        </p:nvSpPr>
        <p:spPr>
          <a:xfrm>
            <a:off x="9544050" y="4533900"/>
            <a:ext cx="8020050" cy="228600"/>
          </a:xfrm>
          <a:prstGeom prst="rect">
            <a:avLst/>
          </a:prstGeom>
        </p:spPr>
        <p:txBody>
          <a:bodyPr lIns="0" tIns="0" rIns="0" bIns="0"/>
          <a:lstStyle/>
          <a:p>
            <a:pPr>
              <a:defRPr sz="1500" b="0" i="0">
                <a:solidFill>
                  <a:srgbClr val="5D6D76"/>
                </a:solidFill>
              </a:defRPr>
            </a:pPr>
            <a:r>
              <a:rPr sz="1500" b="0" i="0">
                <a:solidFill>
                  <a:srgbClr val="5D6D76"/>
                </a:solidFill>
              </a:rPr>
              <a:t>active anomaly windows in latest Part 4 snapshot</a:t>
            </a:r>
          </a:p>
        </p:txBody>
      </p:sp>
      <p:sp>
        <p:nvSpPr>
          <p:cNvPr id="10" name="Rectangle 9">
            <a:extLst>
              <a:ext uri="{FF2B5EF4-FFF2-40B4-BE49-F238E27FC236}">
                <a16:creationId xmlns:a16="http://schemas.microsoft.com/office/drawing/2014/main" id="{F16AE7B6-5EA0-4C03-9843-832100CFC4D5}"/>
              </a:ext>
            </a:extLst>
          </p:cNvPr>
          <p:cNvSpPr>
            <a:spLocks noGrp="1"/>
          </p:cNvSpPr>
          <p:nvPr/>
        </p:nvSpPr>
        <p:spPr>
          <a:xfrm>
            <a:off x="9544050" y="4972050"/>
            <a:ext cx="8020050" cy="628650"/>
          </a:xfrm>
          <a:prstGeom prst="rect">
            <a:avLst/>
          </a:prstGeom>
        </p:spPr>
        <p:txBody>
          <a:bodyPr lIns="0" tIns="0" rIns="0" bIns="0"/>
          <a:lstStyle/>
          <a:p>
            <a:pPr>
              <a:defRPr sz="4050" b="1" i="0">
                <a:solidFill>
                  <a:srgbClr val="24B96F"/>
                </a:solidFill>
              </a:defRPr>
            </a:pPr>
            <a:r>
              <a:rPr sz="4050" b="1" i="0">
                <a:solidFill>
                  <a:srgbClr val="24B96F"/>
                </a:solidFill>
              </a:rPr>
              <a:t>0.872</a:t>
            </a:r>
          </a:p>
        </p:txBody>
      </p:sp>
      <p:sp>
        <p:nvSpPr>
          <p:cNvPr id="11" name="Rectangle 10">
            <a:extLst>
              <a:ext uri="{FF2B5EF4-FFF2-40B4-BE49-F238E27FC236}">
                <a16:creationId xmlns:a16="http://schemas.microsoft.com/office/drawing/2014/main" id="{DC36B0FE-E942-4C62-A318-56E260B3EFBC}"/>
              </a:ext>
            </a:extLst>
          </p:cNvPr>
          <p:cNvSpPr>
            <a:spLocks noGrp="1"/>
          </p:cNvSpPr>
          <p:nvPr/>
        </p:nvSpPr>
        <p:spPr>
          <a:xfrm>
            <a:off x="9544050" y="5638800"/>
            <a:ext cx="8020050" cy="228600"/>
          </a:xfrm>
          <a:prstGeom prst="rect">
            <a:avLst/>
          </a:prstGeom>
        </p:spPr>
        <p:txBody>
          <a:bodyPr lIns="0" tIns="0" rIns="0" bIns="0"/>
          <a:lstStyle/>
          <a:p>
            <a:pPr>
              <a:defRPr sz="1500" b="0" i="0">
                <a:solidFill>
                  <a:srgbClr val="5D6D76"/>
                </a:solidFill>
              </a:defRPr>
            </a:pPr>
            <a:r>
              <a:rPr sz="1500" b="0" i="0">
                <a:solidFill>
                  <a:srgbClr val="5D6D76"/>
                </a:solidFill>
              </a:rPr>
              <a:t>Isolation Forest Precision@K</a:t>
            </a:r>
          </a:p>
        </p:txBody>
      </p:sp>
      <p:sp>
        <p:nvSpPr>
          <p:cNvPr id="12" name="Rectangle 11">
            <a:extLst>
              <a:ext uri="{FF2B5EF4-FFF2-40B4-BE49-F238E27FC236}">
                <a16:creationId xmlns:a16="http://schemas.microsoft.com/office/drawing/2014/main" id="{63AB8804-2EA8-4213-AB3C-EDBC7D7EC599}"/>
              </a:ext>
            </a:extLst>
          </p:cNvPr>
          <p:cNvSpPr>
            <a:spLocks noGrp="1"/>
          </p:cNvSpPr>
          <p:nvPr/>
        </p:nvSpPr>
        <p:spPr>
          <a:xfrm>
            <a:off x="9544050" y="6076950"/>
            <a:ext cx="8020050" cy="628650"/>
          </a:xfrm>
          <a:prstGeom prst="rect">
            <a:avLst/>
          </a:prstGeom>
        </p:spPr>
        <p:txBody>
          <a:bodyPr lIns="0" tIns="0" rIns="0" bIns="0"/>
          <a:lstStyle/>
          <a:p>
            <a:pPr>
              <a:defRPr sz="4050" b="1" i="0">
                <a:solidFill>
                  <a:srgbClr val="F39A1E"/>
                </a:solidFill>
              </a:defRPr>
            </a:pPr>
            <a:r>
              <a:rPr sz="4050" b="1" i="0">
                <a:solidFill>
                  <a:srgbClr val="F39A1E"/>
                </a:solidFill>
              </a:rPr>
              <a:t>0.0064</a:t>
            </a:r>
          </a:p>
        </p:txBody>
      </p:sp>
      <p:sp>
        <p:nvSpPr>
          <p:cNvPr id="13" name="Rectangle 12">
            <a:extLst>
              <a:ext uri="{FF2B5EF4-FFF2-40B4-BE49-F238E27FC236}">
                <a16:creationId xmlns:a16="http://schemas.microsoft.com/office/drawing/2014/main" id="{67D21C2C-A000-4D17-B0FE-46858F0E3459}"/>
              </a:ext>
            </a:extLst>
          </p:cNvPr>
          <p:cNvSpPr>
            <a:spLocks noGrp="1"/>
          </p:cNvSpPr>
          <p:nvPr/>
        </p:nvSpPr>
        <p:spPr>
          <a:xfrm>
            <a:off x="9544050" y="6762750"/>
            <a:ext cx="8020050" cy="228600"/>
          </a:xfrm>
          <a:prstGeom prst="rect">
            <a:avLst/>
          </a:prstGeom>
        </p:spPr>
        <p:txBody>
          <a:bodyPr lIns="0" tIns="0" rIns="0" bIns="0"/>
          <a:lstStyle/>
          <a:p>
            <a:pPr>
              <a:defRPr sz="1500" b="0" i="0">
                <a:solidFill>
                  <a:srgbClr val="5D6D76"/>
                </a:solidFill>
              </a:defRPr>
            </a:pPr>
            <a:r>
              <a:rPr sz="1500" b="0" i="0">
                <a:solidFill>
                  <a:srgbClr val="5D6D76"/>
                </a:solidFill>
              </a:rPr>
              <a:t>Isolation Forest false-alarm share</a:t>
            </a:r>
          </a:p>
        </p:txBody>
      </p:sp>
      <p:sp>
        <p:nvSpPr>
          <p:cNvPr id="14" name="Rectangle 13">
            <a:extLst>
              <a:ext uri="{FF2B5EF4-FFF2-40B4-BE49-F238E27FC236}">
                <a16:creationId xmlns:a16="http://schemas.microsoft.com/office/drawing/2014/main" id="{30B24998-9183-49C0-B09F-FE05D6305763}"/>
              </a:ext>
            </a:extLst>
          </p:cNvPr>
          <p:cNvSpPr>
            <a:spLocks noGrp="1"/>
          </p:cNvSpPr>
          <p:nvPr/>
        </p:nvSpPr>
        <p:spPr>
          <a:xfrm>
            <a:off x="9544050" y="7200900"/>
            <a:ext cx="8020050" cy="628650"/>
          </a:xfrm>
          <a:prstGeom prst="rect">
            <a:avLst/>
          </a:prstGeom>
        </p:spPr>
        <p:txBody>
          <a:bodyPr lIns="0" tIns="0" rIns="0" bIns="0"/>
          <a:lstStyle/>
          <a:p>
            <a:pPr>
              <a:defRPr sz="4050" b="1" i="0">
                <a:solidFill>
                  <a:srgbClr val="1E5A64"/>
                </a:solidFill>
              </a:defRPr>
            </a:pPr>
            <a:r>
              <a:rPr sz="4050" b="1" i="0">
                <a:solidFill>
                  <a:srgbClr val="1E5A64"/>
                </a:solidFill>
              </a:rPr>
              <a:t>5,000</a:t>
            </a:r>
          </a:p>
        </p:txBody>
      </p:sp>
      <p:sp>
        <p:nvSpPr>
          <p:cNvPr id="15" name="Rectangle 14">
            <a:extLst>
              <a:ext uri="{FF2B5EF4-FFF2-40B4-BE49-F238E27FC236}">
                <a16:creationId xmlns:a16="http://schemas.microsoft.com/office/drawing/2014/main" id="{A07778F9-5BD2-4CAE-8EF6-8D7D7A5D307F}"/>
              </a:ext>
            </a:extLst>
          </p:cNvPr>
          <p:cNvSpPr>
            <a:spLocks noGrp="1"/>
          </p:cNvSpPr>
          <p:nvPr/>
        </p:nvSpPr>
        <p:spPr>
          <a:xfrm>
            <a:off x="9544050" y="7867650"/>
            <a:ext cx="8020050" cy="228600"/>
          </a:xfrm>
          <a:prstGeom prst="rect">
            <a:avLst/>
          </a:prstGeom>
        </p:spPr>
        <p:txBody>
          <a:bodyPr lIns="0" tIns="0" rIns="0" bIns="0"/>
          <a:lstStyle/>
          <a:p>
            <a:pPr>
              <a:defRPr sz="1500" b="0" i="0">
                <a:solidFill>
                  <a:srgbClr val="5D6D76"/>
                </a:solidFill>
              </a:defRPr>
            </a:pPr>
            <a:r>
              <a:rPr sz="1500" b="0" i="0">
                <a:solidFill>
                  <a:srgbClr val="5D6D76"/>
                </a:solidFill>
              </a:rPr>
              <a:t>recent windows scored for anomalies</a:t>
            </a:r>
          </a:p>
        </p:txBody>
      </p:sp>
      <p:sp>
        <p:nvSpPr>
          <p:cNvPr id="16" name="source">
            <a:extLst>
              <a:ext uri="{FF2B5EF4-FFF2-40B4-BE49-F238E27FC236}">
                <a16:creationId xmlns:a16="http://schemas.microsoft.com/office/drawing/2014/main" id="{769BCD7E-8DBE-4923-B74B-EF58A160957A}"/>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619578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44" name="bg">
            <a:extLst>
              <a:ext uri="{FF2B5EF4-FFF2-40B4-BE49-F238E27FC236}">
                <a16:creationId xmlns:a16="http://schemas.microsoft.com/office/drawing/2014/main" id="{4C71CB7E-3114-47F2-A5AB-5F763EB6D257}"/>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BE76CA62-DF7E-4B5C-B6D2-56C8A3E23209}"/>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EEC89522-34B0-41D6-869B-23445F66FF51}"/>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9FBECADF-2732-4DA6-AB90-F9F7E46B9176}"/>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Key findings from Part 4</a:t>
            </a:r>
          </a:p>
        </p:txBody>
      </p:sp>
      <p:sp>
        <p:nvSpPr>
          <p:cNvPr id="5" name="slide-subtitle">
            <a:extLst>
              <a:ext uri="{FF2B5EF4-FFF2-40B4-BE49-F238E27FC236}">
                <a16:creationId xmlns:a16="http://schemas.microsoft.com/office/drawing/2014/main" id="{FF849399-0462-4DA3-940F-765AF68A0BBE}"/>
              </a:ext>
            </a:extLst>
          </p:cNvPr>
          <p:cNvSpPr>
            <a:spLocks noGrp="1"/>
          </p:cNvSpPr>
          <p:nvPr/>
        </p:nvSpPr>
        <p:spPr>
          <a:xfrm>
            <a:off x="1123950" y="1657350"/>
            <a:ext cx="11182350" cy="571500"/>
          </a:xfrm>
          <a:prstGeom prst="rect">
            <a:avLst/>
          </a:prstGeom>
        </p:spPr>
        <p:txBody>
          <a:bodyPr lIns="0" tIns="0" rIns="0" bIns="0"/>
          <a:lstStyle/>
          <a:p>
            <a:pPr>
              <a:defRPr sz="1875" b="0" i="0">
                <a:solidFill>
                  <a:srgbClr val="5D6D76"/>
                </a:solidFill>
              </a:defRPr>
            </a:pPr>
            <a:r>
              <a:rPr sz="1875" b="0" i="0">
                <a:solidFill>
                  <a:srgbClr val="5D6D76"/>
                </a:solidFill>
              </a:rPr>
              <a:t>The evaluation shows that the project can measure reliability, but it also reveals where data quality affects certainty.</a:t>
            </a:r>
          </a:p>
        </p:txBody>
      </p:sp>
      <p:sp>
        <p:nvSpPr>
          <p:cNvPr id="6" name="Rectangle: Rounded Corners 5">
            <a:extLst>
              <a:ext uri="{FF2B5EF4-FFF2-40B4-BE49-F238E27FC236}">
                <a16:creationId xmlns:a16="http://schemas.microsoft.com/office/drawing/2014/main" id="{754B7879-F7B8-4E10-B55C-7C062FB921B3}"/>
              </a:ext>
            </a:extLst>
          </p:cNvPr>
          <p:cNvSpPr>
            <a:spLocks noGrp="1"/>
          </p:cNvSpPr>
          <p:nvPr/>
        </p:nvSpPr>
        <p:spPr>
          <a:xfrm>
            <a:off x="1143000" y="2476500"/>
            <a:ext cx="171450" cy="171450"/>
          </a:xfrm>
          <a:prstGeom prst="roundRect">
            <a:avLst>
              <a:gd name="adj" fmla="val 50000"/>
            </a:avLst>
          </a:prstGeom>
          <a:solidFill>
            <a:srgbClr val="1E5A64"/>
          </a:solidFill>
        </p:spPr>
        <p:txBody>
          <a:bodyPr/>
          <a:lstStyle/>
          <a:p>
            <a:endParaRPr lang="en-US"/>
          </a:p>
        </p:txBody>
      </p:sp>
      <p:sp>
        <p:nvSpPr>
          <p:cNvPr id="7" name="Rectangle 6">
            <a:extLst>
              <a:ext uri="{FF2B5EF4-FFF2-40B4-BE49-F238E27FC236}">
                <a16:creationId xmlns:a16="http://schemas.microsoft.com/office/drawing/2014/main" id="{40A6843F-4AB7-4B8F-AE95-E7E0F32D198A}"/>
              </a:ext>
            </a:extLst>
          </p:cNvPr>
          <p:cNvSpPr>
            <a:spLocks noGrp="1"/>
          </p:cNvSpPr>
          <p:nvPr/>
        </p:nvSpPr>
        <p:spPr>
          <a:xfrm>
            <a:off x="1447800" y="2495550"/>
            <a:ext cx="7696200" cy="323850"/>
          </a:xfrm>
          <a:prstGeom prst="rect">
            <a:avLst/>
          </a:prstGeom>
        </p:spPr>
        <p:txBody>
          <a:bodyPr lIns="0" tIns="0" rIns="0" bIns="0"/>
          <a:lstStyle/>
          <a:p>
            <a:pPr>
              <a:defRPr sz="2100" b="1" i="0">
                <a:solidFill>
                  <a:srgbClr val="071419"/>
                </a:solidFill>
              </a:defRPr>
            </a:pPr>
            <a:r>
              <a:rPr sz="2100" b="1" i="0">
                <a:solidFill>
                  <a:srgbClr val="071419"/>
                </a:solidFill>
              </a:rPr>
              <a:t>Reliability is mixed</a:t>
            </a:r>
          </a:p>
        </p:txBody>
      </p:sp>
      <p:sp>
        <p:nvSpPr>
          <p:cNvPr id="8" name="Rectangle 7">
            <a:extLst>
              <a:ext uri="{FF2B5EF4-FFF2-40B4-BE49-F238E27FC236}">
                <a16:creationId xmlns:a16="http://schemas.microsoft.com/office/drawing/2014/main" id="{B812B850-A50A-43FA-9C05-983B74C31782}"/>
              </a:ext>
            </a:extLst>
          </p:cNvPr>
          <p:cNvSpPr>
            <a:spLocks noGrp="1"/>
          </p:cNvSpPr>
          <p:nvPr/>
        </p:nvSpPr>
        <p:spPr>
          <a:xfrm>
            <a:off x="1447800" y="2838450"/>
            <a:ext cx="6648450" cy="514350"/>
          </a:xfrm>
          <a:prstGeom prst="rect">
            <a:avLst/>
          </a:prstGeom>
        </p:spPr>
        <p:txBody>
          <a:bodyPr lIns="0" tIns="0" rIns="0" bIns="0"/>
          <a:lstStyle/>
          <a:p>
            <a:pPr>
              <a:defRPr sz="1650" b="0" i="0">
                <a:solidFill>
                  <a:srgbClr val="5D6D76"/>
                </a:solidFill>
              </a:defRPr>
            </a:pPr>
            <a:r>
              <a:rPr sz="1650" b="0" i="0">
                <a:solidFill>
                  <a:srgbClr val="5D6D76"/>
                </a:solidFill>
              </a:rPr>
              <a:t>Most windows are reliable, but watch and delay-hotspot groups expose where route/stop performance should be investigated.</a:t>
            </a:r>
          </a:p>
        </p:txBody>
      </p:sp>
      <p:sp>
        <p:nvSpPr>
          <p:cNvPr id="9" name="Rectangle: Rounded Corners 8">
            <a:extLst>
              <a:ext uri="{FF2B5EF4-FFF2-40B4-BE49-F238E27FC236}">
                <a16:creationId xmlns:a16="http://schemas.microsoft.com/office/drawing/2014/main" id="{F0B659D9-D95D-4CD8-84F1-EDEBDD86FE77}"/>
              </a:ext>
            </a:extLst>
          </p:cNvPr>
          <p:cNvSpPr>
            <a:spLocks noGrp="1"/>
          </p:cNvSpPr>
          <p:nvPr/>
        </p:nvSpPr>
        <p:spPr>
          <a:xfrm>
            <a:off x="1143000" y="3505200"/>
            <a:ext cx="171450" cy="171450"/>
          </a:xfrm>
          <a:prstGeom prst="roundRect">
            <a:avLst>
              <a:gd name="adj" fmla="val 50000"/>
            </a:avLst>
          </a:prstGeom>
          <a:solidFill>
            <a:srgbClr val="48B8C7"/>
          </a:solidFill>
        </p:spPr>
        <p:txBody>
          <a:bodyPr/>
          <a:lstStyle/>
          <a:p>
            <a:endParaRPr lang="en-US"/>
          </a:p>
        </p:txBody>
      </p:sp>
      <p:sp>
        <p:nvSpPr>
          <p:cNvPr id="10" name="Rectangle 9">
            <a:extLst>
              <a:ext uri="{FF2B5EF4-FFF2-40B4-BE49-F238E27FC236}">
                <a16:creationId xmlns:a16="http://schemas.microsoft.com/office/drawing/2014/main" id="{AF8A3C06-DE10-4B3B-9D41-3FF715F8DA79}"/>
              </a:ext>
            </a:extLst>
          </p:cNvPr>
          <p:cNvSpPr>
            <a:spLocks noGrp="1"/>
          </p:cNvSpPr>
          <p:nvPr/>
        </p:nvSpPr>
        <p:spPr>
          <a:xfrm>
            <a:off x="1447800" y="3524250"/>
            <a:ext cx="7696200" cy="323850"/>
          </a:xfrm>
          <a:prstGeom prst="rect">
            <a:avLst/>
          </a:prstGeom>
        </p:spPr>
        <p:txBody>
          <a:bodyPr lIns="0" tIns="0" rIns="0" bIns="0"/>
          <a:lstStyle/>
          <a:p>
            <a:pPr>
              <a:defRPr sz="2100" b="1" i="0">
                <a:solidFill>
                  <a:srgbClr val="071419"/>
                </a:solidFill>
              </a:defRPr>
            </a:pPr>
            <a:r>
              <a:rPr sz="2100" b="1" i="0">
                <a:solidFill>
                  <a:srgbClr val="071419"/>
                </a:solidFill>
              </a:rPr>
              <a:t>Coverage is a core signal</a:t>
            </a:r>
          </a:p>
        </p:txBody>
      </p:sp>
      <p:sp>
        <p:nvSpPr>
          <p:cNvPr id="11" name="Rectangle 10">
            <a:extLst>
              <a:ext uri="{FF2B5EF4-FFF2-40B4-BE49-F238E27FC236}">
                <a16:creationId xmlns:a16="http://schemas.microsoft.com/office/drawing/2014/main" id="{4330CA2A-0F7C-4655-A97D-52541612566C}"/>
              </a:ext>
            </a:extLst>
          </p:cNvPr>
          <p:cNvSpPr>
            <a:spLocks noGrp="1"/>
          </p:cNvSpPr>
          <p:nvPr/>
        </p:nvSpPr>
        <p:spPr>
          <a:xfrm>
            <a:off x="1447800" y="3886200"/>
            <a:ext cx="6724650" cy="514350"/>
          </a:xfrm>
          <a:prstGeom prst="rect">
            <a:avLst/>
          </a:prstGeom>
        </p:spPr>
        <p:txBody>
          <a:bodyPr lIns="0" tIns="0" rIns="0" bIns="0"/>
          <a:lstStyle/>
          <a:p>
            <a:pPr>
              <a:defRPr sz="1650" b="0" i="0">
                <a:solidFill>
                  <a:srgbClr val="5D6D76"/>
                </a:solidFill>
              </a:defRPr>
            </a:pPr>
            <a:r>
              <a:rPr sz="1650" b="0" i="0">
                <a:solidFill>
                  <a:srgbClr val="5D6D76"/>
                </a:solidFill>
              </a:rPr>
              <a:t>Prediction coverage is not just a missing-data issue; low coverage is itself useful for understanding where live evidence is weaker.</a:t>
            </a:r>
          </a:p>
        </p:txBody>
      </p:sp>
      <p:sp>
        <p:nvSpPr>
          <p:cNvPr id="12" name="Rectangle: Rounded Corners 11">
            <a:extLst>
              <a:ext uri="{FF2B5EF4-FFF2-40B4-BE49-F238E27FC236}">
                <a16:creationId xmlns:a16="http://schemas.microsoft.com/office/drawing/2014/main" id="{AD2764CE-1466-43A2-9215-0047239D26F8}"/>
              </a:ext>
            </a:extLst>
          </p:cNvPr>
          <p:cNvSpPr>
            <a:spLocks noGrp="1"/>
          </p:cNvSpPr>
          <p:nvPr/>
        </p:nvSpPr>
        <p:spPr>
          <a:xfrm>
            <a:off x="1143000" y="4572000"/>
            <a:ext cx="171450" cy="171450"/>
          </a:xfrm>
          <a:prstGeom prst="roundRect">
            <a:avLst>
              <a:gd name="adj" fmla="val 50000"/>
            </a:avLst>
          </a:prstGeom>
          <a:solidFill>
            <a:srgbClr val="1E5A64"/>
          </a:solidFill>
        </p:spPr>
        <p:txBody>
          <a:bodyPr/>
          <a:lstStyle/>
          <a:p>
            <a:endParaRPr lang="en-US"/>
          </a:p>
        </p:txBody>
      </p:sp>
      <p:sp>
        <p:nvSpPr>
          <p:cNvPr id="13" name="Rectangle 12">
            <a:extLst>
              <a:ext uri="{FF2B5EF4-FFF2-40B4-BE49-F238E27FC236}">
                <a16:creationId xmlns:a16="http://schemas.microsoft.com/office/drawing/2014/main" id="{5B22CD2E-8E18-491D-9F26-18580C495C54}"/>
              </a:ext>
            </a:extLst>
          </p:cNvPr>
          <p:cNvSpPr>
            <a:spLocks noGrp="1"/>
          </p:cNvSpPr>
          <p:nvPr/>
        </p:nvSpPr>
        <p:spPr>
          <a:xfrm>
            <a:off x="1447800" y="4552950"/>
            <a:ext cx="7696200" cy="323850"/>
          </a:xfrm>
          <a:prstGeom prst="rect">
            <a:avLst/>
          </a:prstGeom>
        </p:spPr>
        <p:txBody>
          <a:bodyPr lIns="0" tIns="0" rIns="0" bIns="0"/>
          <a:lstStyle/>
          <a:p>
            <a:pPr>
              <a:defRPr sz="2100" b="1" i="0">
                <a:solidFill>
                  <a:srgbClr val="071419"/>
                </a:solidFill>
              </a:defRPr>
            </a:pPr>
            <a:r>
              <a:rPr sz="2100" b="1" i="0">
                <a:solidFill>
                  <a:srgbClr val="071419"/>
                </a:solidFill>
              </a:rPr>
              <a:t>Anomalies are a watchlist</a:t>
            </a:r>
          </a:p>
        </p:txBody>
      </p:sp>
      <p:sp>
        <p:nvSpPr>
          <p:cNvPr id="14" name="Rectangle 13">
            <a:extLst>
              <a:ext uri="{FF2B5EF4-FFF2-40B4-BE49-F238E27FC236}">
                <a16:creationId xmlns:a16="http://schemas.microsoft.com/office/drawing/2014/main" id="{31D93567-1E52-4A9D-9A52-66C398710110}"/>
              </a:ext>
            </a:extLst>
          </p:cNvPr>
          <p:cNvSpPr>
            <a:spLocks noGrp="1"/>
          </p:cNvSpPr>
          <p:nvPr/>
        </p:nvSpPr>
        <p:spPr>
          <a:xfrm>
            <a:off x="1447800" y="4914900"/>
            <a:ext cx="6819900" cy="514350"/>
          </a:xfrm>
          <a:prstGeom prst="rect">
            <a:avLst/>
          </a:prstGeom>
        </p:spPr>
        <p:txBody>
          <a:bodyPr lIns="0" tIns="0" rIns="0" bIns="0"/>
          <a:lstStyle/>
          <a:p>
            <a:pPr>
              <a:defRPr sz="1650" b="0" i="0">
                <a:solidFill>
                  <a:srgbClr val="5D6D76"/>
                </a:solidFill>
              </a:defRPr>
            </a:pPr>
            <a:r>
              <a:rPr sz="1650" b="0" i="0">
                <a:solidFill>
                  <a:srgbClr val="5D6D76"/>
                </a:solidFill>
              </a:rPr>
              <a:t>Active anomalies should be explained as investigation candidates, not confirmed disruptions.</a:t>
            </a:r>
          </a:p>
        </p:txBody>
      </p:sp>
      <p:sp>
        <p:nvSpPr>
          <p:cNvPr id="15" name="Rectangle 14">
            <a:extLst>
              <a:ext uri="{FF2B5EF4-FFF2-40B4-BE49-F238E27FC236}">
                <a16:creationId xmlns:a16="http://schemas.microsoft.com/office/drawing/2014/main" id="{215FA899-ECCA-4EAE-A9F1-8DA0219AA450}"/>
              </a:ext>
            </a:extLst>
          </p:cNvPr>
          <p:cNvSpPr>
            <a:spLocks noGrp="1"/>
          </p:cNvSpPr>
          <p:nvPr/>
        </p:nvSpPr>
        <p:spPr>
          <a:xfrm>
            <a:off x="9534525" y="2487930"/>
            <a:ext cx="4369377" cy="434340"/>
          </a:xfrm>
          <a:prstGeom prst="rect">
            <a:avLst/>
          </a:prstGeom>
          <a:solidFill>
            <a:srgbClr val="1E5A64"/>
          </a:solidFill>
        </p:spPr>
        <p:txBody>
          <a:bodyPr/>
          <a:lstStyle/>
          <a:p>
            <a:endParaRPr lang="en-US"/>
          </a:p>
        </p:txBody>
      </p:sp>
      <p:sp>
        <p:nvSpPr>
          <p:cNvPr id="16" name="Rectangle 15">
            <a:extLst>
              <a:ext uri="{FF2B5EF4-FFF2-40B4-BE49-F238E27FC236}">
                <a16:creationId xmlns:a16="http://schemas.microsoft.com/office/drawing/2014/main" id="{CD7CC8B8-EC93-4A7D-BB92-8865EE2188DB}"/>
              </a:ext>
            </a:extLst>
          </p:cNvPr>
          <p:cNvSpPr>
            <a:spLocks noGrp="1"/>
          </p:cNvSpPr>
          <p:nvPr/>
        </p:nvSpPr>
        <p:spPr>
          <a:xfrm>
            <a:off x="9696450" y="2609850"/>
            <a:ext cx="4057650" cy="209550"/>
          </a:xfrm>
          <a:prstGeom prst="rect">
            <a:avLst/>
          </a:prstGeom>
        </p:spPr>
        <p:txBody>
          <a:bodyPr lIns="0" tIns="0" rIns="0" bIns="0"/>
          <a:lstStyle/>
          <a:p>
            <a:pPr>
              <a:defRPr sz="1350" b="1" i="0">
                <a:solidFill>
                  <a:srgbClr val="FFFFFF"/>
                </a:solidFill>
              </a:defRPr>
            </a:pPr>
            <a:r>
              <a:rPr sz="1350" b="1" i="0">
                <a:solidFill>
                  <a:srgbClr val="FFFFFF"/>
                </a:solidFill>
              </a:rPr>
              <a:t>Evidence</a:t>
            </a:r>
          </a:p>
        </p:txBody>
      </p:sp>
      <p:sp>
        <p:nvSpPr>
          <p:cNvPr id="17" name="Rectangle 16">
            <a:extLst>
              <a:ext uri="{FF2B5EF4-FFF2-40B4-BE49-F238E27FC236}">
                <a16:creationId xmlns:a16="http://schemas.microsoft.com/office/drawing/2014/main" id="{F35A230C-7940-4BA7-8B24-42852B3A3E5B}"/>
              </a:ext>
            </a:extLst>
          </p:cNvPr>
          <p:cNvSpPr>
            <a:spLocks noGrp="1"/>
          </p:cNvSpPr>
          <p:nvPr/>
        </p:nvSpPr>
        <p:spPr>
          <a:xfrm>
            <a:off x="13903902" y="2487930"/>
            <a:ext cx="3641148" cy="434340"/>
          </a:xfrm>
          <a:prstGeom prst="rect">
            <a:avLst/>
          </a:prstGeom>
          <a:solidFill>
            <a:srgbClr val="1E5A64"/>
          </a:solidFill>
        </p:spPr>
        <p:txBody>
          <a:bodyPr/>
          <a:lstStyle/>
          <a:p>
            <a:endParaRPr lang="en-US"/>
          </a:p>
        </p:txBody>
      </p:sp>
      <p:sp>
        <p:nvSpPr>
          <p:cNvPr id="18" name="Rectangle 17">
            <a:extLst>
              <a:ext uri="{FF2B5EF4-FFF2-40B4-BE49-F238E27FC236}">
                <a16:creationId xmlns:a16="http://schemas.microsoft.com/office/drawing/2014/main" id="{B88397BF-8360-48E8-B39D-68D1ABF28340}"/>
              </a:ext>
            </a:extLst>
          </p:cNvPr>
          <p:cNvSpPr>
            <a:spLocks noGrp="1"/>
          </p:cNvSpPr>
          <p:nvPr/>
        </p:nvSpPr>
        <p:spPr>
          <a:xfrm>
            <a:off x="14058900" y="2609850"/>
            <a:ext cx="3333750" cy="209550"/>
          </a:xfrm>
          <a:prstGeom prst="rect">
            <a:avLst/>
          </a:prstGeom>
        </p:spPr>
        <p:txBody>
          <a:bodyPr lIns="0" tIns="0" rIns="0" bIns="0"/>
          <a:lstStyle/>
          <a:p>
            <a:pPr>
              <a:defRPr sz="1350" b="1" i="0">
                <a:solidFill>
                  <a:srgbClr val="FFFFFF"/>
                </a:solidFill>
              </a:defRPr>
            </a:pPr>
            <a:r>
              <a:rPr sz="1350" b="1" i="0">
                <a:solidFill>
                  <a:srgbClr val="FFFFFF"/>
                </a:solidFill>
              </a:rPr>
              <a:t>Latest result</a:t>
            </a:r>
          </a:p>
        </p:txBody>
      </p:sp>
      <p:sp>
        <p:nvSpPr>
          <p:cNvPr id="19" name="Rectangle 18">
            <a:extLst>
              <a:ext uri="{FF2B5EF4-FFF2-40B4-BE49-F238E27FC236}">
                <a16:creationId xmlns:a16="http://schemas.microsoft.com/office/drawing/2014/main" id="{E464362E-8B2A-4EDB-9E95-0EB812C53DF1}"/>
              </a:ext>
            </a:extLst>
          </p:cNvPr>
          <p:cNvSpPr>
            <a:spLocks noGrp="1"/>
          </p:cNvSpPr>
          <p:nvPr/>
        </p:nvSpPr>
        <p:spPr>
          <a:xfrm>
            <a:off x="9534525" y="2922270"/>
            <a:ext cx="4369377" cy="422910"/>
          </a:xfrm>
          <a:prstGeom prst="rect">
            <a:avLst/>
          </a:prstGeom>
          <a:solidFill>
            <a:srgbClr val="FFFFFF"/>
          </a:solidFill>
          <a:ln w="9525">
            <a:solidFill>
              <a:srgbClr val="E0E7E4"/>
            </a:solidFill>
            <a:prstDash val="solid"/>
          </a:ln>
        </p:spPr>
        <p:txBody>
          <a:bodyPr/>
          <a:lstStyle/>
          <a:p>
            <a:endParaRPr lang="en-US"/>
          </a:p>
        </p:txBody>
      </p:sp>
      <p:sp>
        <p:nvSpPr>
          <p:cNvPr id="20" name="Rectangle 19">
            <a:extLst>
              <a:ext uri="{FF2B5EF4-FFF2-40B4-BE49-F238E27FC236}">
                <a16:creationId xmlns:a16="http://schemas.microsoft.com/office/drawing/2014/main" id="{0709358A-B929-4E23-97D9-C7E60A6B1C02}"/>
              </a:ext>
            </a:extLst>
          </p:cNvPr>
          <p:cNvSpPr>
            <a:spLocks noGrp="1"/>
          </p:cNvSpPr>
          <p:nvPr/>
        </p:nvSpPr>
        <p:spPr>
          <a:xfrm>
            <a:off x="9696450" y="3028950"/>
            <a:ext cx="4057650" cy="209550"/>
          </a:xfrm>
          <a:prstGeom prst="rect">
            <a:avLst/>
          </a:prstGeom>
        </p:spPr>
        <p:txBody>
          <a:bodyPr lIns="0" tIns="0" rIns="0" bIns="0"/>
          <a:lstStyle/>
          <a:p>
            <a:pPr>
              <a:defRPr sz="1275" b="0" i="0">
                <a:solidFill>
                  <a:srgbClr val="10242E"/>
                </a:solidFill>
              </a:defRPr>
            </a:pPr>
            <a:r>
              <a:rPr sz="1275" b="0" i="0">
                <a:solidFill>
                  <a:srgbClr val="10242E"/>
                </a:solidFill>
              </a:rPr>
              <a:t>Feature windows</a:t>
            </a:r>
          </a:p>
        </p:txBody>
      </p:sp>
      <p:sp>
        <p:nvSpPr>
          <p:cNvPr id="21" name="Rectangle 20">
            <a:extLst>
              <a:ext uri="{FF2B5EF4-FFF2-40B4-BE49-F238E27FC236}">
                <a16:creationId xmlns:a16="http://schemas.microsoft.com/office/drawing/2014/main" id="{14A2BA62-00F8-4512-AB39-B726B39FFB48}"/>
              </a:ext>
            </a:extLst>
          </p:cNvPr>
          <p:cNvSpPr>
            <a:spLocks noGrp="1"/>
          </p:cNvSpPr>
          <p:nvPr/>
        </p:nvSpPr>
        <p:spPr>
          <a:xfrm>
            <a:off x="13903902" y="2922270"/>
            <a:ext cx="3641148" cy="422910"/>
          </a:xfrm>
          <a:prstGeom prst="rect">
            <a:avLst/>
          </a:prstGeom>
          <a:solidFill>
            <a:srgbClr val="FFFFFF"/>
          </a:solidFill>
          <a:ln w="9525">
            <a:solidFill>
              <a:srgbClr val="E0E7E4"/>
            </a:solidFill>
            <a:prstDash val="solid"/>
          </a:ln>
        </p:spPr>
        <p:txBody>
          <a:bodyPr/>
          <a:lstStyle/>
          <a:p>
            <a:endParaRPr lang="en-US"/>
          </a:p>
        </p:txBody>
      </p:sp>
      <p:sp>
        <p:nvSpPr>
          <p:cNvPr id="22" name="Rectangle 21">
            <a:extLst>
              <a:ext uri="{FF2B5EF4-FFF2-40B4-BE49-F238E27FC236}">
                <a16:creationId xmlns:a16="http://schemas.microsoft.com/office/drawing/2014/main" id="{A2C02D60-5989-4804-B2E7-00A46F0A66B4}"/>
              </a:ext>
            </a:extLst>
          </p:cNvPr>
          <p:cNvSpPr>
            <a:spLocks noGrp="1"/>
          </p:cNvSpPr>
          <p:nvPr/>
        </p:nvSpPr>
        <p:spPr>
          <a:xfrm>
            <a:off x="14058900" y="3028950"/>
            <a:ext cx="3333750" cy="209550"/>
          </a:xfrm>
          <a:prstGeom prst="rect">
            <a:avLst/>
          </a:prstGeom>
        </p:spPr>
        <p:txBody>
          <a:bodyPr lIns="0" tIns="0" rIns="0" bIns="0"/>
          <a:lstStyle/>
          <a:p>
            <a:pPr>
              <a:defRPr sz="1275" b="0" i="0">
                <a:solidFill>
                  <a:srgbClr val="10242E"/>
                </a:solidFill>
              </a:defRPr>
            </a:pPr>
            <a:r>
              <a:rPr sz="1275" b="0" i="0">
                <a:solidFill>
                  <a:srgbClr val="10242E"/>
                </a:solidFill>
              </a:rPr>
              <a:t>402,576</a:t>
            </a:r>
          </a:p>
        </p:txBody>
      </p:sp>
      <p:sp>
        <p:nvSpPr>
          <p:cNvPr id="23" name="Rectangle 22">
            <a:extLst>
              <a:ext uri="{FF2B5EF4-FFF2-40B4-BE49-F238E27FC236}">
                <a16:creationId xmlns:a16="http://schemas.microsoft.com/office/drawing/2014/main" id="{EC06208E-BD84-4ED0-881D-A1CCDD5A14DD}"/>
              </a:ext>
            </a:extLst>
          </p:cNvPr>
          <p:cNvSpPr>
            <a:spLocks noGrp="1"/>
          </p:cNvSpPr>
          <p:nvPr/>
        </p:nvSpPr>
        <p:spPr>
          <a:xfrm>
            <a:off x="9534525" y="3345180"/>
            <a:ext cx="4369377" cy="422910"/>
          </a:xfrm>
          <a:prstGeom prst="rect">
            <a:avLst/>
          </a:prstGeom>
          <a:solidFill>
            <a:srgbClr val="F0F4F2"/>
          </a:solidFill>
          <a:ln w="9525">
            <a:solidFill>
              <a:srgbClr val="E0E7E4"/>
            </a:solidFill>
            <a:prstDash val="solid"/>
          </a:ln>
        </p:spPr>
        <p:txBody>
          <a:bodyPr/>
          <a:lstStyle/>
          <a:p>
            <a:endParaRPr lang="en-US"/>
          </a:p>
        </p:txBody>
      </p:sp>
      <p:sp>
        <p:nvSpPr>
          <p:cNvPr id="24" name="Rectangle 23">
            <a:extLst>
              <a:ext uri="{FF2B5EF4-FFF2-40B4-BE49-F238E27FC236}">
                <a16:creationId xmlns:a16="http://schemas.microsoft.com/office/drawing/2014/main" id="{6A350047-FFC5-4200-B93F-AC82A38464CD}"/>
              </a:ext>
            </a:extLst>
          </p:cNvPr>
          <p:cNvSpPr>
            <a:spLocks noGrp="1"/>
          </p:cNvSpPr>
          <p:nvPr/>
        </p:nvSpPr>
        <p:spPr>
          <a:xfrm>
            <a:off x="9696450" y="3467100"/>
            <a:ext cx="4057650" cy="209550"/>
          </a:xfrm>
          <a:prstGeom prst="rect">
            <a:avLst/>
          </a:prstGeom>
        </p:spPr>
        <p:txBody>
          <a:bodyPr lIns="0" tIns="0" rIns="0" bIns="0"/>
          <a:lstStyle/>
          <a:p>
            <a:pPr>
              <a:defRPr sz="1275" b="0" i="0">
                <a:solidFill>
                  <a:srgbClr val="10242E"/>
                </a:solidFill>
              </a:defRPr>
            </a:pPr>
            <a:r>
              <a:rPr sz="1275" b="0" i="0">
                <a:solidFill>
                  <a:srgbClr val="10242E"/>
                </a:solidFill>
              </a:rPr>
              <a:t>Cluster assignments</a:t>
            </a:r>
          </a:p>
        </p:txBody>
      </p:sp>
      <p:sp>
        <p:nvSpPr>
          <p:cNvPr id="25" name="Rectangle 24">
            <a:extLst>
              <a:ext uri="{FF2B5EF4-FFF2-40B4-BE49-F238E27FC236}">
                <a16:creationId xmlns:a16="http://schemas.microsoft.com/office/drawing/2014/main" id="{3951930F-15FA-48F0-9376-4F40CD05065E}"/>
              </a:ext>
            </a:extLst>
          </p:cNvPr>
          <p:cNvSpPr>
            <a:spLocks noGrp="1"/>
          </p:cNvSpPr>
          <p:nvPr/>
        </p:nvSpPr>
        <p:spPr>
          <a:xfrm>
            <a:off x="13903902" y="3345180"/>
            <a:ext cx="3641148" cy="422910"/>
          </a:xfrm>
          <a:prstGeom prst="rect">
            <a:avLst/>
          </a:prstGeom>
          <a:solidFill>
            <a:srgbClr val="F0F4F2"/>
          </a:solidFill>
          <a:ln w="9525">
            <a:solidFill>
              <a:srgbClr val="E0E7E4"/>
            </a:solidFill>
            <a:prstDash val="solid"/>
          </a:ln>
        </p:spPr>
        <p:txBody>
          <a:bodyPr/>
          <a:lstStyle/>
          <a:p>
            <a:endParaRPr lang="en-US"/>
          </a:p>
        </p:txBody>
      </p:sp>
      <p:sp>
        <p:nvSpPr>
          <p:cNvPr id="26" name="Rectangle 25">
            <a:extLst>
              <a:ext uri="{FF2B5EF4-FFF2-40B4-BE49-F238E27FC236}">
                <a16:creationId xmlns:a16="http://schemas.microsoft.com/office/drawing/2014/main" id="{09CC3661-938E-4EC5-AF76-AD12FFD0DD8C}"/>
              </a:ext>
            </a:extLst>
          </p:cNvPr>
          <p:cNvSpPr>
            <a:spLocks noGrp="1"/>
          </p:cNvSpPr>
          <p:nvPr/>
        </p:nvSpPr>
        <p:spPr>
          <a:xfrm>
            <a:off x="14058900" y="3467100"/>
            <a:ext cx="3333750" cy="209550"/>
          </a:xfrm>
          <a:prstGeom prst="rect">
            <a:avLst/>
          </a:prstGeom>
        </p:spPr>
        <p:txBody>
          <a:bodyPr lIns="0" tIns="0" rIns="0" bIns="0"/>
          <a:lstStyle/>
          <a:p>
            <a:pPr>
              <a:defRPr sz="1275" b="0" i="0">
                <a:solidFill>
                  <a:srgbClr val="10242E"/>
                </a:solidFill>
              </a:defRPr>
            </a:pPr>
            <a:r>
              <a:rPr sz="1275" b="0" i="0">
                <a:solidFill>
                  <a:srgbClr val="10242E"/>
                </a:solidFill>
              </a:rPr>
              <a:t>6,000</a:t>
            </a:r>
          </a:p>
        </p:txBody>
      </p:sp>
      <p:sp>
        <p:nvSpPr>
          <p:cNvPr id="27" name="Rectangle 26">
            <a:extLst>
              <a:ext uri="{FF2B5EF4-FFF2-40B4-BE49-F238E27FC236}">
                <a16:creationId xmlns:a16="http://schemas.microsoft.com/office/drawing/2014/main" id="{A5F03108-210B-4943-8500-0F30D671DDF3}"/>
              </a:ext>
            </a:extLst>
          </p:cNvPr>
          <p:cNvSpPr>
            <a:spLocks noGrp="1"/>
          </p:cNvSpPr>
          <p:nvPr/>
        </p:nvSpPr>
        <p:spPr>
          <a:xfrm>
            <a:off x="9534525" y="3768090"/>
            <a:ext cx="4369377" cy="422910"/>
          </a:xfrm>
          <a:prstGeom prst="rect">
            <a:avLst/>
          </a:prstGeom>
          <a:solidFill>
            <a:srgbClr val="FFFFFF"/>
          </a:solidFill>
          <a:ln w="9525">
            <a:solidFill>
              <a:srgbClr val="E0E7E4"/>
            </a:solidFill>
            <a:prstDash val="solid"/>
          </a:ln>
        </p:spPr>
        <p:txBody>
          <a:bodyPr/>
          <a:lstStyle/>
          <a:p>
            <a:endParaRPr lang="en-US"/>
          </a:p>
        </p:txBody>
      </p:sp>
      <p:sp>
        <p:nvSpPr>
          <p:cNvPr id="28" name="Rectangle 27">
            <a:extLst>
              <a:ext uri="{FF2B5EF4-FFF2-40B4-BE49-F238E27FC236}">
                <a16:creationId xmlns:a16="http://schemas.microsoft.com/office/drawing/2014/main" id="{383C2AB7-A8B0-4E1E-89E6-FBF45DA7A021}"/>
              </a:ext>
            </a:extLst>
          </p:cNvPr>
          <p:cNvSpPr>
            <a:spLocks noGrp="1"/>
          </p:cNvSpPr>
          <p:nvPr/>
        </p:nvSpPr>
        <p:spPr>
          <a:xfrm>
            <a:off x="9696450" y="3886200"/>
            <a:ext cx="4057650" cy="209550"/>
          </a:xfrm>
          <a:prstGeom prst="rect">
            <a:avLst/>
          </a:prstGeom>
        </p:spPr>
        <p:txBody>
          <a:bodyPr lIns="0" tIns="0" rIns="0" bIns="0"/>
          <a:lstStyle/>
          <a:p>
            <a:pPr>
              <a:defRPr sz="1275" b="0" i="0">
                <a:solidFill>
                  <a:srgbClr val="10242E"/>
                </a:solidFill>
              </a:defRPr>
            </a:pPr>
            <a:r>
              <a:rPr sz="1275" b="0" i="0">
                <a:solidFill>
                  <a:srgbClr val="10242E"/>
                </a:solidFill>
              </a:rPr>
              <a:t>DBSCAN hotspots</a:t>
            </a:r>
          </a:p>
        </p:txBody>
      </p:sp>
      <p:sp>
        <p:nvSpPr>
          <p:cNvPr id="29" name="Rectangle 28">
            <a:extLst>
              <a:ext uri="{FF2B5EF4-FFF2-40B4-BE49-F238E27FC236}">
                <a16:creationId xmlns:a16="http://schemas.microsoft.com/office/drawing/2014/main" id="{B7B49997-88DB-4DD1-B9E3-2D5BBDE532B9}"/>
              </a:ext>
            </a:extLst>
          </p:cNvPr>
          <p:cNvSpPr>
            <a:spLocks noGrp="1"/>
          </p:cNvSpPr>
          <p:nvPr/>
        </p:nvSpPr>
        <p:spPr>
          <a:xfrm>
            <a:off x="13903902" y="3768090"/>
            <a:ext cx="3641148" cy="422910"/>
          </a:xfrm>
          <a:prstGeom prst="rect">
            <a:avLst/>
          </a:prstGeom>
          <a:solidFill>
            <a:srgbClr val="FFFFFF"/>
          </a:solidFill>
          <a:ln w="9525">
            <a:solidFill>
              <a:srgbClr val="E0E7E4"/>
            </a:solidFill>
            <a:prstDash val="solid"/>
          </a:ln>
        </p:spPr>
        <p:txBody>
          <a:bodyPr/>
          <a:lstStyle/>
          <a:p>
            <a:endParaRPr lang="en-US"/>
          </a:p>
        </p:txBody>
      </p:sp>
      <p:sp>
        <p:nvSpPr>
          <p:cNvPr id="30" name="Rectangle 29">
            <a:extLst>
              <a:ext uri="{FF2B5EF4-FFF2-40B4-BE49-F238E27FC236}">
                <a16:creationId xmlns:a16="http://schemas.microsoft.com/office/drawing/2014/main" id="{7544634D-7AD5-4969-99D2-4C3B3392C964}"/>
              </a:ext>
            </a:extLst>
          </p:cNvPr>
          <p:cNvSpPr>
            <a:spLocks noGrp="1"/>
          </p:cNvSpPr>
          <p:nvPr/>
        </p:nvSpPr>
        <p:spPr>
          <a:xfrm>
            <a:off x="14058900" y="3886200"/>
            <a:ext cx="3333750" cy="209550"/>
          </a:xfrm>
          <a:prstGeom prst="rect">
            <a:avLst/>
          </a:prstGeom>
        </p:spPr>
        <p:txBody>
          <a:bodyPr lIns="0" tIns="0" rIns="0" bIns="0"/>
          <a:lstStyle/>
          <a:p>
            <a:pPr>
              <a:defRPr sz="1275" b="0" i="0">
                <a:solidFill>
                  <a:srgbClr val="10242E"/>
                </a:solidFill>
              </a:defRPr>
            </a:pPr>
            <a:r>
              <a:rPr sz="1275" b="0" i="0">
                <a:solidFill>
                  <a:srgbClr val="10242E"/>
                </a:solidFill>
              </a:rPr>
              <a:t>106</a:t>
            </a:r>
          </a:p>
        </p:txBody>
      </p:sp>
      <p:sp>
        <p:nvSpPr>
          <p:cNvPr id="31" name="Rectangle 30">
            <a:extLst>
              <a:ext uri="{FF2B5EF4-FFF2-40B4-BE49-F238E27FC236}">
                <a16:creationId xmlns:a16="http://schemas.microsoft.com/office/drawing/2014/main" id="{0AB9F810-E6E0-4801-8557-633FF569FC3A}"/>
              </a:ext>
            </a:extLst>
          </p:cNvPr>
          <p:cNvSpPr>
            <a:spLocks noGrp="1"/>
          </p:cNvSpPr>
          <p:nvPr/>
        </p:nvSpPr>
        <p:spPr>
          <a:xfrm>
            <a:off x="9534525" y="4191000"/>
            <a:ext cx="4369377" cy="422910"/>
          </a:xfrm>
          <a:prstGeom prst="rect">
            <a:avLst/>
          </a:prstGeom>
          <a:solidFill>
            <a:srgbClr val="F0F4F2"/>
          </a:solidFill>
          <a:ln w="9525">
            <a:solidFill>
              <a:srgbClr val="E0E7E4"/>
            </a:solidFill>
            <a:prstDash val="solid"/>
          </a:ln>
        </p:spPr>
        <p:txBody>
          <a:bodyPr/>
          <a:lstStyle/>
          <a:p>
            <a:endParaRPr lang="en-US"/>
          </a:p>
        </p:txBody>
      </p:sp>
      <p:sp>
        <p:nvSpPr>
          <p:cNvPr id="32" name="Rectangle 31">
            <a:extLst>
              <a:ext uri="{FF2B5EF4-FFF2-40B4-BE49-F238E27FC236}">
                <a16:creationId xmlns:a16="http://schemas.microsoft.com/office/drawing/2014/main" id="{85358D95-0793-4560-900D-81604DBD653F}"/>
              </a:ext>
            </a:extLst>
          </p:cNvPr>
          <p:cNvSpPr>
            <a:spLocks noGrp="1"/>
          </p:cNvSpPr>
          <p:nvPr/>
        </p:nvSpPr>
        <p:spPr>
          <a:xfrm>
            <a:off x="9696450" y="4305300"/>
            <a:ext cx="4057650" cy="209550"/>
          </a:xfrm>
          <a:prstGeom prst="rect">
            <a:avLst/>
          </a:prstGeom>
        </p:spPr>
        <p:txBody>
          <a:bodyPr lIns="0" tIns="0" rIns="0" bIns="0"/>
          <a:lstStyle/>
          <a:p>
            <a:pPr>
              <a:defRPr sz="1275" b="0" i="0">
                <a:solidFill>
                  <a:srgbClr val="10242E"/>
                </a:solidFill>
              </a:defRPr>
            </a:pPr>
            <a:r>
              <a:rPr sz="1275" b="0" i="0">
                <a:solidFill>
                  <a:srgbClr val="10242E"/>
                </a:solidFill>
              </a:rPr>
              <a:t>Avg prediction coverage</a:t>
            </a:r>
          </a:p>
        </p:txBody>
      </p:sp>
      <p:sp>
        <p:nvSpPr>
          <p:cNvPr id="33" name="Rectangle 32">
            <a:extLst>
              <a:ext uri="{FF2B5EF4-FFF2-40B4-BE49-F238E27FC236}">
                <a16:creationId xmlns:a16="http://schemas.microsoft.com/office/drawing/2014/main" id="{C2AB7B9C-CCFC-4EA5-8A07-EA8FEF0653FE}"/>
              </a:ext>
            </a:extLst>
          </p:cNvPr>
          <p:cNvSpPr>
            <a:spLocks noGrp="1"/>
          </p:cNvSpPr>
          <p:nvPr/>
        </p:nvSpPr>
        <p:spPr>
          <a:xfrm>
            <a:off x="13903902" y="4191000"/>
            <a:ext cx="3641148" cy="422910"/>
          </a:xfrm>
          <a:prstGeom prst="rect">
            <a:avLst/>
          </a:prstGeom>
          <a:solidFill>
            <a:srgbClr val="F0F4F2"/>
          </a:solidFill>
          <a:ln w="9525">
            <a:solidFill>
              <a:srgbClr val="E0E7E4"/>
            </a:solidFill>
            <a:prstDash val="solid"/>
          </a:ln>
        </p:spPr>
        <p:txBody>
          <a:bodyPr/>
          <a:lstStyle/>
          <a:p>
            <a:endParaRPr lang="en-US"/>
          </a:p>
        </p:txBody>
      </p:sp>
      <p:sp>
        <p:nvSpPr>
          <p:cNvPr id="34" name="Rectangle 33">
            <a:extLst>
              <a:ext uri="{FF2B5EF4-FFF2-40B4-BE49-F238E27FC236}">
                <a16:creationId xmlns:a16="http://schemas.microsoft.com/office/drawing/2014/main" id="{110E7F45-DA63-4283-9412-A04AAAB52CB2}"/>
              </a:ext>
            </a:extLst>
          </p:cNvPr>
          <p:cNvSpPr>
            <a:spLocks noGrp="1"/>
          </p:cNvSpPr>
          <p:nvPr/>
        </p:nvSpPr>
        <p:spPr>
          <a:xfrm>
            <a:off x="14058900" y="4305300"/>
            <a:ext cx="3333750" cy="209550"/>
          </a:xfrm>
          <a:prstGeom prst="rect">
            <a:avLst/>
          </a:prstGeom>
        </p:spPr>
        <p:txBody>
          <a:bodyPr lIns="0" tIns="0" rIns="0" bIns="0"/>
          <a:lstStyle/>
          <a:p>
            <a:pPr>
              <a:defRPr sz="1275" b="0" i="0">
                <a:solidFill>
                  <a:srgbClr val="10242E"/>
                </a:solidFill>
              </a:defRPr>
            </a:pPr>
            <a:r>
              <a:rPr sz="1275" b="0" i="0">
                <a:solidFill>
                  <a:srgbClr val="10242E"/>
                </a:solidFill>
              </a:rPr>
              <a:t>97.1%</a:t>
            </a:r>
          </a:p>
        </p:txBody>
      </p:sp>
      <p:sp>
        <p:nvSpPr>
          <p:cNvPr id="35" name="Rectangle 34">
            <a:extLst>
              <a:ext uri="{FF2B5EF4-FFF2-40B4-BE49-F238E27FC236}">
                <a16:creationId xmlns:a16="http://schemas.microsoft.com/office/drawing/2014/main" id="{A091B241-BC28-481A-BEE1-4B6C813C7123}"/>
              </a:ext>
            </a:extLst>
          </p:cNvPr>
          <p:cNvSpPr>
            <a:spLocks noGrp="1"/>
          </p:cNvSpPr>
          <p:nvPr/>
        </p:nvSpPr>
        <p:spPr>
          <a:xfrm>
            <a:off x="9534525" y="4613910"/>
            <a:ext cx="4369377" cy="422910"/>
          </a:xfrm>
          <a:prstGeom prst="rect">
            <a:avLst/>
          </a:prstGeom>
          <a:solidFill>
            <a:srgbClr val="FFFFFF"/>
          </a:solidFill>
          <a:ln w="9525">
            <a:solidFill>
              <a:srgbClr val="E0E7E4"/>
            </a:solidFill>
            <a:prstDash val="solid"/>
          </a:ln>
        </p:spPr>
        <p:txBody>
          <a:bodyPr/>
          <a:lstStyle/>
          <a:p>
            <a:endParaRPr lang="en-US"/>
          </a:p>
        </p:txBody>
      </p:sp>
      <p:sp>
        <p:nvSpPr>
          <p:cNvPr id="36" name="Rectangle 35">
            <a:extLst>
              <a:ext uri="{FF2B5EF4-FFF2-40B4-BE49-F238E27FC236}">
                <a16:creationId xmlns:a16="http://schemas.microsoft.com/office/drawing/2014/main" id="{323A11BC-3227-41CC-88E6-6CB6884015C2}"/>
              </a:ext>
            </a:extLst>
          </p:cNvPr>
          <p:cNvSpPr>
            <a:spLocks noGrp="1"/>
          </p:cNvSpPr>
          <p:nvPr/>
        </p:nvSpPr>
        <p:spPr>
          <a:xfrm>
            <a:off x="9696450" y="4724400"/>
            <a:ext cx="4057650" cy="209550"/>
          </a:xfrm>
          <a:prstGeom prst="rect">
            <a:avLst/>
          </a:prstGeom>
        </p:spPr>
        <p:txBody>
          <a:bodyPr lIns="0" tIns="0" rIns="0" bIns="0"/>
          <a:lstStyle/>
          <a:p>
            <a:pPr>
              <a:defRPr sz="1275" b="0" i="0">
                <a:solidFill>
                  <a:srgbClr val="10242E"/>
                </a:solidFill>
              </a:defRPr>
            </a:pPr>
            <a:r>
              <a:rPr sz="1275" b="0" i="0">
                <a:solidFill>
                  <a:srgbClr val="10242E"/>
                </a:solidFill>
              </a:rPr>
              <a:t>Anomaly scored windows</a:t>
            </a:r>
          </a:p>
        </p:txBody>
      </p:sp>
      <p:sp>
        <p:nvSpPr>
          <p:cNvPr id="37" name="Rectangle 36">
            <a:extLst>
              <a:ext uri="{FF2B5EF4-FFF2-40B4-BE49-F238E27FC236}">
                <a16:creationId xmlns:a16="http://schemas.microsoft.com/office/drawing/2014/main" id="{F33481FA-570C-42DA-B6AF-D1969831D3CD}"/>
              </a:ext>
            </a:extLst>
          </p:cNvPr>
          <p:cNvSpPr>
            <a:spLocks noGrp="1"/>
          </p:cNvSpPr>
          <p:nvPr/>
        </p:nvSpPr>
        <p:spPr>
          <a:xfrm>
            <a:off x="13903902" y="4613910"/>
            <a:ext cx="3641148" cy="422910"/>
          </a:xfrm>
          <a:prstGeom prst="rect">
            <a:avLst/>
          </a:prstGeom>
          <a:solidFill>
            <a:srgbClr val="FFFFFF"/>
          </a:solidFill>
          <a:ln w="9525">
            <a:solidFill>
              <a:srgbClr val="E0E7E4"/>
            </a:solidFill>
            <a:prstDash val="solid"/>
          </a:ln>
        </p:spPr>
        <p:txBody>
          <a:bodyPr/>
          <a:lstStyle/>
          <a:p>
            <a:endParaRPr lang="en-US"/>
          </a:p>
        </p:txBody>
      </p:sp>
      <p:sp>
        <p:nvSpPr>
          <p:cNvPr id="38" name="Rectangle 37">
            <a:extLst>
              <a:ext uri="{FF2B5EF4-FFF2-40B4-BE49-F238E27FC236}">
                <a16:creationId xmlns:a16="http://schemas.microsoft.com/office/drawing/2014/main" id="{9F65BFDC-32A1-43AE-9BCE-DF6A087DC15A}"/>
              </a:ext>
            </a:extLst>
          </p:cNvPr>
          <p:cNvSpPr>
            <a:spLocks noGrp="1"/>
          </p:cNvSpPr>
          <p:nvPr/>
        </p:nvSpPr>
        <p:spPr>
          <a:xfrm>
            <a:off x="14058900" y="4724400"/>
            <a:ext cx="3333750" cy="209550"/>
          </a:xfrm>
          <a:prstGeom prst="rect">
            <a:avLst/>
          </a:prstGeom>
        </p:spPr>
        <p:txBody>
          <a:bodyPr lIns="0" tIns="0" rIns="0" bIns="0"/>
          <a:lstStyle/>
          <a:p>
            <a:pPr>
              <a:defRPr sz="1275" b="0" i="0">
                <a:solidFill>
                  <a:srgbClr val="10242E"/>
                </a:solidFill>
              </a:defRPr>
            </a:pPr>
            <a:r>
              <a:rPr sz="1275" b="0" i="0">
                <a:solidFill>
                  <a:srgbClr val="10242E"/>
                </a:solidFill>
              </a:rPr>
              <a:t>5,000</a:t>
            </a:r>
          </a:p>
        </p:txBody>
      </p:sp>
      <p:sp>
        <p:nvSpPr>
          <p:cNvPr id="39" name="Rectangle 38">
            <a:extLst>
              <a:ext uri="{FF2B5EF4-FFF2-40B4-BE49-F238E27FC236}">
                <a16:creationId xmlns:a16="http://schemas.microsoft.com/office/drawing/2014/main" id="{71EE44BE-DA39-4A81-A117-84AABB71FD71}"/>
              </a:ext>
            </a:extLst>
          </p:cNvPr>
          <p:cNvSpPr>
            <a:spLocks noGrp="1"/>
          </p:cNvSpPr>
          <p:nvPr/>
        </p:nvSpPr>
        <p:spPr>
          <a:xfrm>
            <a:off x="9534525" y="5036820"/>
            <a:ext cx="4369377" cy="422910"/>
          </a:xfrm>
          <a:prstGeom prst="rect">
            <a:avLst/>
          </a:prstGeom>
          <a:solidFill>
            <a:srgbClr val="F0F4F2"/>
          </a:solidFill>
          <a:ln w="9525">
            <a:solidFill>
              <a:srgbClr val="E0E7E4"/>
            </a:solidFill>
            <a:prstDash val="solid"/>
          </a:ln>
        </p:spPr>
        <p:txBody>
          <a:bodyPr/>
          <a:lstStyle/>
          <a:p>
            <a:endParaRPr lang="en-US"/>
          </a:p>
        </p:txBody>
      </p:sp>
      <p:sp>
        <p:nvSpPr>
          <p:cNvPr id="40" name="Rectangle 39">
            <a:extLst>
              <a:ext uri="{FF2B5EF4-FFF2-40B4-BE49-F238E27FC236}">
                <a16:creationId xmlns:a16="http://schemas.microsoft.com/office/drawing/2014/main" id="{59CF8D94-F046-4673-99EF-6E8E954858B9}"/>
              </a:ext>
            </a:extLst>
          </p:cNvPr>
          <p:cNvSpPr>
            <a:spLocks noGrp="1"/>
          </p:cNvSpPr>
          <p:nvPr/>
        </p:nvSpPr>
        <p:spPr>
          <a:xfrm>
            <a:off x="9696450" y="5143500"/>
            <a:ext cx="4057650" cy="209550"/>
          </a:xfrm>
          <a:prstGeom prst="rect">
            <a:avLst/>
          </a:prstGeom>
        </p:spPr>
        <p:txBody>
          <a:bodyPr lIns="0" tIns="0" rIns="0" bIns="0"/>
          <a:lstStyle/>
          <a:p>
            <a:pPr>
              <a:defRPr sz="1275" b="0" i="0">
                <a:solidFill>
                  <a:srgbClr val="10242E"/>
                </a:solidFill>
              </a:defRPr>
            </a:pPr>
            <a:r>
              <a:rPr sz="1275" b="0" i="0">
                <a:solidFill>
                  <a:srgbClr val="10242E"/>
                </a:solidFill>
              </a:rPr>
              <a:t>Active anomaly windows</a:t>
            </a:r>
          </a:p>
        </p:txBody>
      </p:sp>
      <p:sp>
        <p:nvSpPr>
          <p:cNvPr id="41" name="Rectangle 40">
            <a:extLst>
              <a:ext uri="{FF2B5EF4-FFF2-40B4-BE49-F238E27FC236}">
                <a16:creationId xmlns:a16="http://schemas.microsoft.com/office/drawing/2014/main" id="{20EC1462-8292-4F07-BFBB-F76E554B60D4}"/>
              </a:ext>
            </a:extLst>
          </p:cNvPr>
          <p:cNvSpPr>
            <a:spLocks noGrp="1"/>
          </p:cNvSpPr>
          <p:nvPr/>
        </p:nvSpPr>
        <p:spPr>
          <a:xfrm>
            <a:off x="13903902" y="5036820"/>
            <a:ext cx="3641148" cy="422910"/>
          </a:xfrm>
          <a:prstGeom prst="rect">
            <a:avLst/>
          </a:prstGeom>
          <a:solidFill>
            <a:srgbClr val="F0F4F2"/>
          </a:solidFill>
          <a:ln w="9525">
            <a:solidFill>
              <a:srgbClr val="E0E7E4"/>
            </a:solidFill>
            <a:prstDash val="solid"/>
          </a:ln>
        </p:spPr>
        <p:txBody>
          <a:bodyPr/>
          <a:lstStyle/>
          <a:p>
            <a:endParaRPr lang="en-US"/>
          </a:p>
        </p:txBody>
      </p:sp>
      <p:sp>
        <p:nvSpPr>
          <p:cNvPr id="42" name="Rectangle 41">
            <a:extLst>
              <a:ext uri="{FF2B5EF4-FFF2-40B4-BE49-F238E27FC236}">
                <a16:creationId xmlns:a16="http://schemas.microsoft.com/office/drawing/2014/main" id="{ED2A1AC5-1BDD-4FDD-81F8-0E86B5571487}"/>
              </a:ext>
            </a:extLst>
          </p:cNvPr>
          <p:cNvSpPr>
            <a:spLocks noGrp="1"/>
          </p:cNvSpPr>
          <p:nvPr/>
        </p:nvSpPr>
        <p:spPr>
          <a:xfrm>
            <a:off x="14058900" y="5143500"/>
            <a:ext cx="3333750" cy="209550"/>
          </a:xfrm>
          <a:prstGeom prst="rect">
            <a:avLst/>
          </a:prstGeom>
        </p:spPr>
        <p:txBody>
          <a:bodyPr lIns="0" tIns="0" rIns="0" bIns="0"/>
          <a:lstStyle/>
          <a:p>
            <a:pPr>
              <a:defRPr sz="1275" b="0" i="0">
                <a:solidFill>
                  <a:srgbClr val="10242E"/>
                </a:solidFill>
              </a:defRPr>
            </a:pPr>
            <a:r>
              <a:rPr sz="1275" b="0" i="0">
                <a:solidFill>
                  <a:srgbClr val="10242E"/>
                </a:solidFill>
              </a:rPr>
              <a:t>454</a:t>
            </a:r>
          </a:p>
        </p:txBody>
      </p:sp>
      <p:sp>
        <p:nvSpPr>
          <p:cNvPr id="43" name="source">
            <a:extLst>
              <a:ext uri="{FF2B5EF4-FFF2-40B4-BE49-F238E27FC236}">
                <a16:creationId xmlns:a16="http://schemas.microsoft.com/office/drawing/2014/main" id="{823C2344-6E97-4FCC-B186-56527456716D}"/>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1447514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25" name="bg">
            <a:extLst>
              <a:ext uri="{FF2B5EF4-FFF2-40B4-BE49-F238E27FC236}">
                <a16:creationId xmlns:a16="http://schemas.microsoft.com/office/drawing/2014/main" id="{97217AAC-6EE4-4761-B36E-C6F67ABD8E52}"/>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BDDAA3F4-08C9-442C-B34D-B74B7DAEED32}"/>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EC53C1B4-F6F3-45ED-AF02-E3674476AD94}"/>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FA45749A-DD1D-4C88-A8D5-0F0A1D69BEE4}"/>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Dashboard: making the analysis explainable</a:t>
            </a:r>
          </a:p>
        </p:txBody>
      </p:sp>
      <p:sp>
        <p:nvSpPr>
          <p:cNvPr id="5" name="slide-subtitle">
            <a:extLst>
              <a:ext uri="{FF2B5EF4-FFF2-40B4-BE49-F238E27FC236}">
                <a16:creationId xmlns:a16="http://schemas.microsoft.com/office/drawing/2014/main" id="{C13FB55D-B06C-47D9-969D-296347F9339C}"/>
              </a:ext>
            </a:extLst>
          </p:cNvPr>
          <p:cNvSpPr>
            <a:spLocks noGrp="1"/>
          </p:cNvSpPr>
          <p:nvPr/>
        </p:nvSpPr>
        <p:spPr>
          <a:xfrm>
            <a:off x="1123950" y="1657350"/>
            <a:ext cx="11391900" cy="571500"/>
          </a:xfrm>
          <a:prstGeom prst="rect">
            <a:avLst/>
          </a:prstGeom>
        </p:spPr>
        <p:txBody>
          <a:bodyPr lIns="0" tIns="0" rIns="0" bIns="0"/>
          <a:lstStyle/>
          <a:p>
            <a:pPr>
              <a:defRPr sz="1875" b="0" i="0">
                <a:solidFill>
                  <a:srgbClr val="5D6D76"/>
                </a:solidFill>
              </a:defRPr>
            </a:pPr>
            <a:r>
              <a:rPr sz="1875" b="0" i="0">
                <a:solidFill>
                  <a:srgbClr val="5D6D76"/>
                </a:solidFill>
              </a:rPr>
              <a:t>The dashboard supports the notebooks by turning model outputs into live route, vehicle, hotspot, and anomaly views.</a:t>
            </a:r>
          </a:p>
        </p:txBody>
      </p:sp>
      <p:sp>
        <p:nvSpPr>
          <p:cNvPr id="6" name="Rectangle: Rounded Corners 5">
            <a:extLst>
              <a:ext uri="{FF2B5EF4-FFF2-40B4-BE49-F238E27FC236}">
                <a16:creationId xmlns:a16="http://schemas.microsoft.com/office/drawing/2014/main" id="{DAF8870F-D473-47B4-90EE-CCD64383B060}"/>
              </a:ext>
            </a:extLst>
          </p:cNvPr>
          <p:cNvSpPr>
            <a:spLocks noGrp="1"/>
          </p:cNvSpPr>
          <p:nvPr/>
        </p:nvSpPr>
        <p:spPr>
          <a:xfrm>
            <a:off x="1123950" y="2487930"/>
            <a:ext cx="10839926" cy="6983730"/>
          </a:xfrm>
          <a:prstGeom prst="roundRect">
            <a:avLst>
              <a:gd name="adj" fmla="val 3273"/>
            </a:avLst>
          </a:prstGeom>
          <a:solidFill>
            <a:srgbClr val="FFFFFF"/>
          </a:solidFill>
          <a:ln w="9525">
            <a:solidFill>
              <a:srgbClr val="D9E0DD"/>
            </a:solidFill>
            <a:prstDash val="solid"/>
          </a:ln>
        </p:spPr>
        <p:txBody>
          <a:bodyPr/>
          <a:lstStyle/>
          <a:p>
            <a:endParaRPr lang="en-US"/>
          </a:p>
        </p:txBody>
      </p:sp>
      <p:sp>
        <p:nvSpPr>
          <p:cNvPr id="7" name="Rectangle: Rounded Corners 6">
            <a:extLst>
              <a:ext uri="{FF2B5EF4-FFF2-40B4-BE49-F238E27FC236}">
                <a16:creationId xmlns:a16="http://schemas.microsoft.com/office/drawing/2014/main" id="{1D068067-B9C8-4E4C-A637-2492A2B9B2EF}"/>
              </a:ext>
            </a:extLst>
          </p:cNvPr>
          <p:cNvSpPr>
            <a:spLocks noGrp="1"/>
          </p:cNvSpPr>
          <p:nvPr/>
        </p:nvSpPr>
        <p:spPr>
          <a:xfrm>
            <a:off x="1123950" y="2487930"/>
            <a:ext cx="10839926" cy="6983730"/>
          </a:xfrm>
          <a:prstGeom prst="roundRect">
            <a:avLst>
              <a:gd name="adj" fmla="val 4092"/>
            </a:avLst>
          </a:prstGeom>
          <a:solidFill>
            <a:srgbClr val="FFFFFF"/>
          </a:solidFill>
          <a:ln w="19050">
            <a:solidFill>
              <a:srgbClr val="1E5A64">
                <a:alpha val="53333"/>
              </a:srgbClr>
            </a:solidFill>
            <a:prstDash val="solid"/>
          </a:ln>
        </p:spPr>
        <p:txBody>
          <a:bodyPr/>
          <a:lstStyle/>
          <a:p>
            <a:endParaRPr lang="en-US"/>
          </a:p>
        </p:txBody>
      </p:sp>
      <p:sp>
        <p:nvSpPr>
          <p:cNvPr id="8" name="Rectangle: Rounded Corners 7">
            <a:extLst>
              <a:ext uri="{FF2B5EF4-FFF2-40B4-BE49-F238E27FC236}">
                <a16:creationId xmlns:a16="http://schemas.microsoft.com/office/drawing/2014/main" id="{73821819-610F-46D0-B54F-FFFF2A83A6A4}"/>
              </a:ext>
            </a:extLst>
          </p:cNvPr>
          <p:cNvSpPr>
            <a:spLocks noGrp="1"/>
          </p:cNvSpPr>
          <p:nvPr/>
        </p:nvSpPr>
        <p:spPr>
          <a:xfrm>
            <a:off x="5867400" y="5105400"/>
            <a:ext cx="1314450" cy="95250"/>
          </a:xfrm>
          <a:prstGeom prst="roundRect">
            <a:avLst>
              <a:gd name="adj" fmla="val 50000"/>
            </a:avLst>
          </a:prstGeom>
          <a:solidFill>
            <a:srgbClr val="1E5A64"/>
          </a:solidFill>
        </p:spPr>
        <p:txBody>
          <a:bodyPr/>
          <a:lstStyle/>
          <a:p>
            <a:endParaRPr lang="en-US"/>
          </a:p>
        </p:txBody>
      </p:sp>
      <p:sp>
        <p:nvSpPr>
          <p:cNvPr id="9" name="Rectangle 8">
            <a:extLst>
              <a:ext uri="{FF2B5EF4-FFF2-40B4-BE49-F238E27FC236}">
                <a16:creationId xmlns:a16="http://schemas.microsoft.com/office/drawing/2014/main" id="{A2EAFA63-51E0-4741-AC74-70C780A7C9BD}"/>
              </a:ext>
            </a:extLst>
          </p:cNvPr>
          <p:cNvSpPr>
            <a:spLocks noGrp="1"/>
          </p:cNvSpPr>
          <p:nvPr/>
        </p:nvSpPr>
        <p:spPr>
          <a:xfrm>
            <a:off x="5772150" y="5334000"/>
            <a:ext cx="1562100" cy="228600"/>
          </a:xfrm>
          <a:prstGeom prst="rect">
            <a:avLst/>
          </a:prstGeom>
        </p:spPr>
        <p:txBody>
          <a:bodyPr lIns="0" tIns="0" rIns="0" bIns="0"/>
          <a:lstStyle/>
          <a:p>
            <a:pPr>
              <a:defRPr sz="1500" b="1" i="0">
                <a:solidFill>
                  <a:srgbClr val="1E5A64"/>
                </a:solidFill>
              </a:defRPr>
            </a:pPr>
            <a:r>
              <a:rPr sz="1500" b="1" i="0">
                <a:solidFill>
                  <a:srgbClr val="1E5A64"/>
                </a:solidFill>
              </a:rPr>
              <a:t>SCREENSHOT SPACE</a:t>
            </a:r>
          </a:p>
        </p:txBody>
      </p:sp>
      <p:sp>
        <p:nvSpPr>
          <p:cNvPr id="10" name="Rectangle 9">
            <a:extLst>
              <a:ext uri="{FF2B5EF4-FFF2-40B4-BE49-F238E27FC236}">
                <a16:creationId xmlns:a16="http://schemas.microsoft.com/office/drawing/2014/main" id="{2666FB4D-B7E9-4F50-B14B-200D1A05D4FB}"/>
              </a:ext>
            </a:extLst>
          </p:cNvPr>
          <p:cNvSpPr>
            <a:spLocks noGrp="1"/>
          </p:cNvSpPr>
          <p:nvPr/>
        </p:nvSpPr>
        <p:spPr>
          <a:xfrm>
            <a:off x="4781550" y="5734050"/>
            <a:ext cx="3543300" cy="457200"/>
          </a:xfrm>
          <a:prstGeom prst="rect">
            <a:avLst/>
          </a:prstGeom>
        </p:spPr>
        <p:txBody>
          <a:bodyPr lIns="0" tIns="0" rIns="0" bIns="0"/>
          <a:lstStyle/>
          <a:p>
            <a:pPr>
              <a:defRPr sz="3000" b="1" i="0">
                <a:solidFill>
                  <a:srgbClr val="071419"/>
                </a:solidFill>
              </a:defRPr>
            </a:pPr>
            <a:r>
              <a:rPr sz="3000" b="1" i="0">
                <a:solidFill>
                  <a:srgbClr val="071419"/>
                </a:solidFill>
              </a:rPr>
              <a:t>Dashboard screenshot</a:t>
            </a:r>
          </a:p>
        </p:txBody>
      </p:sp>
      <p:sp>
        <p:nvSpPr>
          <p:cNvPr id="11" name="Rectangle 10">
            <a:extLst>
              <a:ext uri="{FF2B5EF4-FFF2-40B4-BE49-F238E27FC236}">
                <a16:creationId xmlns:a16="http://schemas.microsoft.com/office/drawing/2014/main" id="{FBB17539-A868-42C3-B1F6-B2878715A58C}"/>
              </a:ext>
            </a:extLst>
          </p:cNvPr>
          <p:cNvSpPr>
            <a:spLocks noGrp="1"/>
          </p:cNvSpPr>
          <p:nvPr/>
        </p:nvSpPr>
        <p:spPr>
          <a:xfrm>
            <a:off x="3619500" y="6362700"/>
            <a:ext cx="5867400" cy="533400"/>
          </a:xfrm>
          <a:prstGeom prst="rect">
            <a:avLst/>
          </a:prstGeom>
        </p:spPr>
        <p:txBody>
          <a:bodyPr lIns="0" tIns="0" rIns="0" bIns="0"/>
          <a:lstStyle/>
          <a:p>
            <a:pPr>
              <a:defRPr sz="1725" b="0" i="0">
                <a:solidFill>
                  <a:srgbClr val="5D6D76"/>
                </a:solidFill>
              </a:defRPr>
            </a:pPr>
            <a:r>
              <a:rPr sz="1725" b="0" i="0">
                <a:solidFill>
                  <a:srgbClr val="5D6D76"/>
                </a:solidFill>
              </a:rPr>
              <a:t>Insert live analytics dashboard screenshot showing route explorer, map, model controls, and selected route intelligence.</a:t>
            </a:r>
          </a:p>
        </p:txBody>
      </p:sp>
      <p:sp>
        <p:nvSpPr>
          <p:cNvPr id="12" name="Rectangle: Rounded Corners 11">
            <a:extLst>
              <a:ext uri="{FF2B5EF4-FFF2-40B4-BE49-F238E27FC236}">
                <a16:creationId xmlns:a16="http://schemas.microsoft.com/office/drawing/2014/main" id="{24A5C178-1DCB-48B9-BB8A-9CD23D5848A9}"/>
              </a:ext>
            </a:extLst>
          </p:cNvPr>
          <p:cNvSpPr>
            <a:spLocks noGrp="1"/>
          </p:cNvSpPr>
          <p:nvPr/>
        </p:nvSpPr>
        <p:spPr>
          <a:xfrm>
            <a:off x="12344400" y="2476500"/>
            <a:ext cx="171450" cy="171450"/>
          </a:xfrm>
          <a:prstGeom prst="roundRect">
            <a:avLst>
              <a:gd name="adj" fmla="val 50000"/>
            </a:avLst>
          </a:prstGeom>
          <a:solidFill>
            <a:srgbClr val="1E5A64"/>
          </a:solidFill>
        </p:spPr>
        <p:txBody>
          <a:bodyPr/>
          <a:lstStyle/>
          <a:p>
            <a:endParaRPr lang="en-US"/>
          </a:p>
        </p:txBody>
      </p:sp>
      <p:sp>
        <p:nvSpPr>
          <p:cNvPr id="13" name="Rectangle 12">
            <a:extLst>
              <a:ext uri="{FF2B5EF4-FFF2-40B4-BE49-F238E27FC236}">
                <a16:creationId xmlns:a16="http://schemas.microsoft.com/office/drawing/2014/main" id="{2081B8B6-5138-40D6-AE61-801AFAACB428}"/>
              </a:ext>
            </a:extLst>
          </p:cNvPr>
          <p:cNvSpPr>
            <a:spLocks noGrp="1"/>
          </p:cNvSpPr>
          <p:nvPr/>
        </p:nvSpPr>
        <p:spPr>
          <a:xfrm>
            <a:off x="12649200" y="2495550"/>
            <a:ext cx="4895850" cy="323850"/>
          </a:xfrm>
          <a:prstGeom prst="rect">
            <a:avLst/>
          </a:prstGeom>
        </p:spPr>
        <p:txBody>
          <a:bodyPr lIns="0" tIns="0" rIns="0" bIns="0"/>
          <a:lstStyle/>
          <a:p>
            <a:pPr>
              <a:defRPr sz="2100" b="1" i="0">
                <a:solidFill>
                  <a:srgbClr val="071419"/>
                </a:solidFill>
              </a:defRPr>
            </a:pPr>
            <a:r>
              <a:rPr sz="2100" b="1" i="0">
                <a:solidFill>
                  <a:srgbClr val="071419"/>
                </a:solidFill>
              </a:rPr>
              <a:t>Live layer</a:t>
            </a:r>
          </a:p>
        </p:txBody>
      </p:sp>
      <p:sp>
        <p:nvSpPr>
          <p:cNvPr id="14" name="Rectangle 13">
            <a:extLst>
              <a:ext uri="{FF2B5EF4-FFF2-40B4-BE49-F238E27FC236}">
                <a16:creationId xmlns:a16="http://schemas.microsoft.com/office/drawing/2014/main" id="{DD537543-8AE1-4168-9551-15F42B45BDB9}"/>
              </a:ext>
            </a:extLst>
          </p:cNvPr>
          <p:cNvSpPr>
            <a:spLocks noGrp="1"/>
          </p:cNvSpPr>
          <p:nvPr/>
        </p:nvSpPr>
        <p:spPr>
          <a:xfrm>
            <a:off x="12649200" y="2838450"/>
            <a:ext cx="4133850" cy="514350"/>
          </a:xfrm>
          <a:prstGeom prst="rect">
            <a:avLst/>
          </a:prstGeom>
        </p:spPr>
        <p:txBody>
          <a:bodyPr lIns="0" tIns="0" rIns="0" bIns="0"/>
          <a:lstStyle/>
          <a:p>
            <a:pPr>
              <a:defRPr sz="1650" b="0" i="0">
                <a:solidFill>
                  <a:srgbClr val="5D6D76"/>
                </a:solidFill>
              </a:defRPr>
            </a:pPr>
            <a:r>
              <a:rPr sz="1650" b="0" i="0">
                <a:solidFill>
                  <a:srgbClr val="5D6D76"/>
                </a:solidFill>
              </a:rPr>
              <a:t>Orange bus dots represent GTFS-RT live vehicles.</a:t>
            </a:r>
          </a:p>
        </p:txBody>
      </p:sp>
      <p:sp>
        <p:nvSpPr>
          <p:cNvPr id="15" name="Rectangle: Rounded Corners 14">
            <a:extLst>
              <a:ext uri="{FF2B5EF4-FFF2-40B4-BE49-F238E27FC236}">
                <a16:creationId xmlns:a16="http://schemas.microsoft.com/office/drawing/2014/main" id="{C9B5DC79-0F88-4522-8486-FFD0234188B3}"/>
              </a:ext>
            </a:extLst>
          </p:cNvPr>
          <p:cNvSpPr>
            <a:spLocks noGrp="1"/>
          </p:cNvSpPr>
          <p:nvPr/>
        </p:nvSpPr>
        <p:spPr>
          <a:xfrm>
            <a:off x="12344400" y="3505200"/>
            <a:ext cx="171450" cy="171450"/>
          </a:xfrm>
          <a:prstGeom prst="roundRect">
            <a:avLst>
              <a:gd name="adj" fmla="val 50000"/>
            </a:avLst>
          </a:prstGeom>
          <a:solidFill>
            <a:srgbClr val="48B8C7"/>
          </a:solidFill>
        </p:spPr>
        <p:txBody>
          <a:bodyPr/>
          <a:lstStyle/>
          <a:p>
            <a:endParaRPr lang="en-US"/>
          </a:p>
        </p:txBody>
      </p:sp>
      <p:sp>
        <p:nvSpPr>
          <p:cNvPr id="16" name="Rectangle 15">
            <a:extLst>
              <a:ext uri="{FF2B5EF4-FFF2-40B4-BE49-F238E27FC236}">
                <a16:creationId xmlns:a16="http://schemas.microsoft.com/office/drawing/2014/main" id="{0BBA8B0C-069F-40D5-B157-93F94CA70720}"/>
              </a:ext>
            </a:extLst>
          </p:cNvPr>
          <p:cNvSpPr>
            <a:spLocks noGrp="1"/>
          </p:cNvSpPr>
          <p:nvPr/>
        </p:nvSpPr>
        <p:spPr>
          <a:xfrm>
            <a:off x="12649200" y="3524250"/>
            <a:ext cx="4895850" cy="323850"/>
          </a:xfrm>
          <a:prstGeom prst="rect">
            <a:avLst/>
          </a:prstGeom>
        </p:spPr>
        <p:txBody>
          <a:bodyPr lIns="0" tIns="0" rIns="0" bIns="0"/>
          <a:lstStyle/>
          <a:p>
            <a:pPr>
              <a:defRPr sz="2100" b="1" i="0">
                <a:solidFill>
                  <a:srgbClr val="071419"/>
                </a:solidFill>
              </a:defRPr>
            </a:pPr>
            <a:r>
              <a:rPr sz="2100" b="1" i="0">
                <a:solidFill>
                  <a:srgbClr val="071419"/>
                </a:solidFill>
              </a:rPr>
              <a:t>Static layer</a:t>
            </a:r>
          </a:p>
        </p:txBody>
      </p:sp>
      <p:sp>
        <p:nvSpPr>
          <p:cNvPr id="17" name="Rectangle 16">
            <a:extLst>
              <a:ext uri="{FF2B5EF4-FFF2-40B4-BE49-F238E27FC236}">
                <a16:creationId xmlns:a16="http://schemas.microsoft.com/office/drawing/2014/main" id="{90297691-45D7-46F9-A7F3-8103653DD779}"/>
              </a:ext>
            </a:extLst>
          </p:cNvPr>
          <p:cNvSpPr>
            <a:spLocks noGrp="1"/>
          </p:cNvSpPr>
          <p:nvPr/>
        </p:nvSpPr>
        <p:spPr>
          <a:xfrm>
            <a:off x="12649200" y="3886200"/>
            <a:ext cx="4248150" cy="514350"/>
          </a:xfrm>
          <a:prstGeom prst="rect">
            <a:avLst/>
          </a:prstGeom>
        </p:spPr>
        <p:txBody>
          <a:bodyPr lIns="0" tIns="0" rIns="0" bIns="0"/>
          <a:lstStyle/>
          <a:p>
            <a:pPr>
              <a:defRPr sz="1650" b="0" i="0">
                <a:solidFill>
                  <a:srgbClr val="5D6D76"/>
                </a:solidFill>
              </a:defRPr>
            </a:pPr>
            <a:r>
              <a:rPr sz="1650" b="0" i="0">
                <a:solidFill>
                  <a:srgbClr val="5D6D76"/>
                </a:solidFill>
              </a:rPr>
              <a:t>Route geometry and stops come from Static GTFS.</a:t>
            </a:r>
          </a:p>
        </p:txBody>
      </p:sp>
      <p:sp>
        <p:nvSpPr>
          <p:cNvPr id="18" name="Rectangle: Rounded Corners 17">
            <a:extLst>
              <a:ext uri="{FF2B5EF4-FFF2-40B4-BE49-F238E27FC236}">
                <a16:creationId xmlns:a16="http://schemas.microsoft.com/office/drawing/2014/main" id="{02663E48-439F-4C01-9464-6C837DA48B7D}"/>
              </a:ext>
            </a:extLst>
          </p:cNvPr>
          <p:cNvSpPr>
            <a:spLocks noGrp="1"/>
          </p:cNvSpPr>
          <p:nvPr/>
        </p:nvSpPr>
        <p:spPr>
          <a:xfrm>
            <a:off x="12344400" y="4572000"/>
            <a:ext cx="171450" cy="171450"/>
          </a:xfrm>
          <a:prstGeom prst="roundRect">
            <a:avLst>
              <a:gd name="adj" fmla="val 50000"/>
            </a:avLst>
          </a:prstGeom>
          <a:solidFill>
            <a:srgbClr val="1E5A64"/>
          </a:solidFill>
        </p:spPr>
        <p:txBody>
          <a:bodyPr/>
          <a:lstStyle/>
          <a:p>
            <a:endParaRPr lang="en-US"/>
          </a:p>
        </p:txBody>
      </p:sp>
      <p:sp>
        <p:nvSpPr>
          <p:cNvPr id="19" name="Rectangle 18">
            <a:extLst>
              <a:ext uri="{FF2B5EF4-FFF2-40B4-BE49-F238E27FC236}">
                <a16:creationId xmlns:a16="http://schemas.microsoft.com/office/drawing/2014/main" id="{1A0C0DC0-ABBA-4AA3-885B-689A94D7A2BD}"/>
              </a:ext>
            </a:extLst>
          </p:cNvPr>
          <p:cNvSpPr>
            <a:spLocks noGrp="1"/>
          </p:cNvSpPr>
          <p:nvPr/>
        </p:nvSpPr>
        <p:spPr>
          <a:xfrm>
            <a:off x="12649200" y="4552950"/>
            <a:ext cx="4895850" cy="323850"/>
          </a:xfrm>
          <a:prstGeom prst="rect">
            <a:avLst/>
          </a:prstGeom>
        </p:spPr>
        <p:txBody>
          <a:bodyPr lIns="0" tIns="0" rIns="0" bIns="0"/>
          <a:lstStyle/>
          <a:p>
            <a:pPr>
              <a:defRPr sz="2100" b="1" i="0">
                <a:solidFill>
                  <a:srgbClr val="071419"/>
                </a:solidFill>
              </a:defRPr>
            </a:pPr>
            <a:r>
              <a:rPr sz="2100" b="1" i="0">
                <a:solidFill>
                  <a:srgbClr val="071419"/>
                </a:solidFill>
              </a:rPr>
              <a:t>Model layer</a:t>
            </a:r>
          </a:p>
        </p:txBody>
      </p:sp>
      <p:sp>
        <p:nvSpPr>
          <p:cNvPr id="20" name="Rectangle 19">
            <a:extLst>
              <a:ext uri="{FF2B5EF4-FFF2-40B4-BE49-F238E27FC236}">
                <a16:creationId xmlns:a16="http://schemas.microsoft.com/office/drawing/2014/main" id="{FB5A16AE-A52E-4EBB-BAEB-40F55ABE5152}"/>
              </a:ext>
            </a:extLst>
          </p:cNvPr>
          <p:cNvSpPr>
            <a:spLocks noGrp="1"/>
          </p:cNvSpPr>
          <p:nvPr/>
        </p:nvSpPr>
        <p:spPr>
          <a:xfrm>
            <a:off x="12649200" y="4914900"/>
            <a:ext cx="6362700" cy="514350"/>
          </a:xfrm>
          <a:prstGeom prst="rect">
            <a:avLst/>
          </a:prstGeom>
        </p:spPr>
        <p:txBody>
          <a:bodyPr lIns="0" tIns="0" rIns="0" bIns="0"/>
          <a:lstStyle/>
          <a:p>
            <a:pPr>
              <a:defRPr sz="1650" b="0" i="0">
                <a:solidFill>
                  <a:srgbClr val="5D6D76"/>
                </a:solidFill>
              </a:defRPr>
            </a:pPr>
            <a:r>
              <a:rPr sz="1650" b="0" i="0">
                <a:solidFill>
                  <a:srgbClr val="5D6D76"/>
                </a:solidFill>
              </a:rPr>
              <a:t>Clusters, hotspots, and pulsing anomalies come from saved model outputs.</a:t>
            </a:r>
          </a:p>
        </p:txBody>
      </p:sp>
      <p:sp>
        <p:nvSpPr>
          <p:cNvPr id="21" name="Rectangle: Rounded Corners 20">
            <a:extLst>
              <a:ext uri="{FF2B5EF4-FFF2-40B4-BE49-F238E27FC236}">
                <a16:creationId xmlns:a16="http://schemas.microsoft.com/office/drawing/2014/main" id="{FF4099F2-E2C2-4C63-9A98-4CF690D84CB7}"/>
              </a:ext>
            </a:extLst>
          </p:cNvPr>
          <p:cNvSpPr>
            <a:spLocks noGrp="1"/>
          </p:cNvSpPr>
          <p:nvPr/>
        </p:nvSpPr>
        <p:spPr>
          <a:xfrm>
            <a:off x="12344400" y="5600700"/>
            <a:ext cx="171450" cy="171450"/>
          </a:xfrm>
          <a:prstGeom prst="roundRect">
            <a:avLst>
              <a:gd name="adj" fmla="val 50000"/>
            </a:avLst>
          </a:prstGeom>
          <a:solidFill>
            <a:srgbClr val="48B8C7"/>
          </a:solidFill>
        </p:spPr>
        <p:txBody>
          <a:bodyPr/>
          <a:lstStyle/>
          <a:p>
            <a:endParaRPr lang="en-US"/>
          </a:p>
        </p:txBody>
      </p:sp>
      <p:sp>
        <p:nvSpPr>
          <p:cNvPr id="22" name="Rectangle 21">
            <a:extLst>
              <a:ext uri="{FF2B5EF4-FFF2-40B4-BE49-F238E27FC236}">
                <a16:creationId xmlns:a16="http://schemas.microsoft.com/office/drawing/2014/main" id="{AC6411D8-9047-4E2E-9A97-F2FC6C48047B}"/>
              </a:ext>
            </a:extLst>
          </p:cNvPr>
          <p:cNvSpPr>
            <a:spLocks noGrp="1"/>
          </p:cNvSpPr>
          <p:nvPr/>
        </p:nvSpPr>
        <p:spPr>
          <a:xfrm>
            <a:off x="12649200" y="5581650"/>
            <a:ext cx="4895850" cy="323850"/>
          </a:xfrm>
          <a:prstGeom prst="rect">
            <a:avLst/>
          </a:prstGeom>
        </p:spPr>
        <p:txBody>
          <a:bodyPr lIns="0" tIns="0" rIns="0" bIns="0"/>
          <a:lstStyle/>
          <a:p>
            <a:pPr>
              <a:defRPr sz="2100" b="1" i="0">
                <a:solidFill>
                  <a:srgbClr val="071419"/>
                </a:solidFill>
              </a:defRPr>
            </a:pPr>
            <a:r>
              <a:rPr sz="2100" b="1" i="0">
                <a:solidFill>
                  <a:srgbClr val="071419"/>
                </a:solidFill>
              </a:rPr>
              <a:t>Inspector</a:t>
            </a:r>
          </a:p>
        </p:txBody>
      </p:sp>
      <p:sp>
        <p:nvSpPr>
          <p:cNvPr id="23" name="Rectangle 22">
            <a:extLst>
              <a:ext uri="{FF2B5EF4-FFF2-40B4-BE49-F238E27FC236}">
                <a16:creationId xmlns:a16="http://schemas.microsoft.com/office/drawing/2014/main" id="{A4AB72E5-6A76-4208-A580-52A4D0760BB5}"/>
              </a:ext>
            </a:extLst>
          </p:cNvPr>
          <p:cNvSpPr>
            <a:spLocks noGrp="1"/>
          </p:cNvSpPr>
          <p:nvPr/>
        </p:nvSpPr>
        <p:spPr>
          <a:xfrm>
            <a:off x="12649200" y="5943600"/>
            <a:ext cx="6610350" cy="514350"/>
          </a:xfrm>
          <a:prstGeom prst="rect">
            <a:avLst/>
          </a:prstGeom>
        </p:spPr>
        <p:txBody>
          <a:bodyPr lIns="0" tIns="0" rIns="0" bIns="0"/>
          <a:lstStyle/>
          <a:p>
            <a:pPr>
              <a:defRPr sz="1650" b="0" i="0">
                <a:solidFill>
                  <a:srgbClr val="5D6D76"/>
                </a:solidFill>
              </a:defRPr>
            </a:pPr>
            <a:r>
              <a:rPr sz="1650" b="0" i="0">
                <a:solidFill>
                  <a:srgbClr val="5D6D76"/>
                </a:solidFill>
              </a:rPr>
              <a:t>Route and vehicle panels explain OTP, delay, coverage, and next-stop evidence when available.</a:t>
            </a:r>
          </a:p>
        </p:txBody>
      </p:sp>
      <p:sp>
        <p:nvSpPr>
          <p:cNvPr id="24" name="source">
            <a:extLst>
              <a:ext uri="{FF2B5EF4-FFF2-40B4-BE49-F238E27FC236}">
                <a16:creationId xmlns:a16="http://schemas.microsoft.com/office/drawing/2014/main" id="{A11E58AC-F41A-4F0C-9D23-4F7C40CC0AB4}"/>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862864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19" name="bg">
            <a:extLst>
              <a:ext uri="{FF2B5EF4-FFF2-40B4-BE49-F238E27FC236}">
                <a16:creationId xmlns:a16="http://schemas.microsoft.com/office/drawing/2014/main" id="{181C2929-2F43-4027-9E21-C55194D7EC67}"/>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A8D4F818-B81B-42B3-B7BC-7C0F4A87BFE8}"/>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0E8B7E99-73FB-4E04-9A7F-C227C54271AB}"/>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99AE9ECA-EE71-4935-9643-0586D49C814F}"/>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Recommendations for urban mobility improvement</a:t>
            </a:r>
          </a:p>
        </p:txBody>
      </p:sp>
      <p:sp>
        <p:nvSpPr>
          <p:cNvPr id="5" name="slide-subtitle">
            <a:extLst>
              <a:ext uri="{FF2B5EF4-FFF2-40B4-BE49-F238E27FC236}">
                <a16:creationId xmlns:a16="http://schemas.microsoft.com/office/drawing/2014/main" id="{37A4F9F5-80DC-46A4-8B96-A344C86EAA49}"/>
              </a:ext>
            </a:extLst>
          </p:cNvPr>
          <p:cNvSpPr>
            <a:spLocks noGrp="1"/>
          </p:cNvSpPr>
          <p:nvPr/>
        </p:nvSpPr>
        <p:spPr>
          <a:xfrm>
            <a:off x="1123950" y="1657350"/>
            <a:ext cx="7867650" cy="285750"/>
          </a:xfrm>
          <a:prstGeom prst="rect">
            <a:avLst/>
          </a:prstGeom>
        </p:spPr>
        <p:txBody>
          <a:bodyPr lIns="0" tIns="0" rIns="0" bIns="0"/>
          <a:lstStyle/>
          <a:p>
            <a:pPr>
              <a:defRPr sz="1875" b="0" i="0">
                <a:solidFill>
                  <a:srgbClr val="5D6D76"/>
                </a:solidFill>
              </a:defRPr>
            </a:pPr>
            <a:r>
              <a:rPr sz="1875" b="0" i="0">
                <a:solidFill>
                  <a:srgbClr val="5D6D76"/>
                </a:solidFill>
              </a:rPr>
              <a:t>The project turns raw transit feeds into operational decisions planners can act on.</a:t>
            </a:r>
          </a:p>
        </p:txBody>
      </p:sp>
      <p:sp>
        <p:nvSpPr>
          <p:cNvPr id="6" name="Rectangle: Rounded Corners 5">
            <a:extLst>
              <a:ext uri="{FF2B5EF4-FFF2-40B4-BE49-F238E27FC236}">
                <a16:creationId xmlns:a16="http://schemas.microsoft.com/office/drawing/2014/main" id="{122B1FB1-F433-4F82-A15F-14DDE739611B}"/>
              </a:ext>
            </a:extLst>
          </p:cNvPr>
          <p:cNvSpPr>
            <a:spLocks noGrp="1"/>
          </p:cNvSpPr>
          <p:nvPr/>
        </p:nvSpPr>
        <p:spPr>
          <a:xfrm>
            <a:off x="1123950" y="2202180"/>
            <a:ext cx="5295900" cy="7269480"/>
          </a:xfrm>
          <a:prstGeom prst="roundRect">
            <a:avLst>
              <a:gd name="adj" fmla="val 5036"/>
            </a:avLst>
          </a:prstGeom>
          <a:solidFill>
            <a:srgbClr val="FFFFFF"/>
          </a:solidFill>
          <a:ln w="9525">
            <a:solidFill>
              <a:srgbClr val="D9E0DD"/>
            </a:solidFill>
            <a:prstDash val="solid"/>
          </a:ln>
        </p:spPr>
        <p:txBody>
          <a:bodyPr/>
          <a:lstStyle/>
          <a:p>
            <a:endParaRPr lang="en-US"/>
          </a:p>
        </p:txBody>
      </p:sp>
      <p:sp>
        <p:nvSpPr>
          <p:cNvPr id="7" name="Rectangle 6">
            <a:extLst>
              <a:ext uri="{FF2B5EF4-FFF2-40B4-BE49-F238E27FC236}">
                <a16:creationId xmlns:a16="http://schemas.microsoft.com/office/drawing/2014/main" id="{1B900B25-F346-47A2-846A-EE2DE4C71DB7}"/>
              </a:ext>
            </a:extLst>
          </p:cNvPr>
          <p:cNvSpPr>
            <a:spLocks noGrp="1"/>
          </p:cNvSpPr>
          <p:nvPr/>
        </p:nvSpPr>
        <p:spPr>
          <a:xfrm>
            <a:off x="1371600" y="2457450"/>
            <a:ext cx="4800600" cy="628650"/>
          </a:xfrm>
          <a:prstGeom prst="rect">
            <a:avLst/>
          </a:prstGeom>
        </p:spPr>
        <p:txBody>
          <a:bodyPr lIns="0" tIns="0" rIns="0" bIns="0"/>
          <a:lstStyle/>
          <a:p>
            <a:pPr>
              <a:defRPr sz="4050" b="1" i="0">
                <a:solidFill>
                  <a:srgbClr val="326DFF"/>
                </a:solidFill>
              </a:defRPr>
            </a:pPr>
            <a:r>
              <a:rPr sz="4050" b="1" i="0">
                <a:solidFill>
                  <a:srgbClr val="326DFF"/>
                </a:solidFill>
              </a:rPr>
              <a:t>1</a:t>
            </a:r>
          </a:p>
        </p:txBody>
      </p:sp>
      <p:sp>
        <p:nvSpPr>
          <p:cNvPr id="8" name="Rectangle 7">
            <a:extLst>
              <a:ext uri="{FF2B5EF4-FFF2-40B4-BE49-F238E27FC236}">
                <a16:creationId xmlns:a16="http://schemas.microsoft.com/office/drawing/2014/main" id="{2D081AD7-AD03-4947-AB94-AF09198A4D68}"/>
              </a:ext>
            </a:extLst>
          </p:cNvPr>
          <p:cNvSpPr>
            <a:spLocks noGrp="1"/>
          </p:cNvSpPr>
          <p:nvPr/>
        </p:nvSpPr>
        <p:spPr>
          <a:xfrm>
            <a:off x="1371600" y="3124200"/>
            <a:ext cx="4800600" cy="228600"/>
          </a:xfrm>
          <a:prstGeom prst="rect">
            <a:avLst/>
          </a:prstGeom>
        </p:spPr>
        <p:txBody>
          <a:bodyPr lIns="0" tIns="0" rIns="0" bIns="0"/>
          <a:lstStyle/>
          <a:p>
            <a:pPr>
              <a:defRPr sz="1500" b="0" i="0">
                <a:solidFill>
                  <a:srgbClr val="5D6D76"/>
                </a:solidFill>
              </a:defRPr>
            </a:pPr>
            <a:r>
              <a:rPr sz="1500" b="0" i="0">
                <a:solidFill>
                  <a:srgbClr val="5D6D76"/>
                </a:solidFill>
              </a:rPr>
              <a:t>Investigate delay hotspots</a:t>
            </a:r>
          </a:p>
        </p:txBody>
      </p:sp>
      <p:sp>
        <p:nvSpPr>
          <p:cNvPr id="9" name="Rectangle 8">
            <a:extLst>
              <a:ext uri="{FF2B5EF4-FFF2-40B4-BE49-F238E27FC236}">
                <a16:creationId xmlns:a16="http://schemas.microsoft.com/office/drawing/2014/main" id="{1819A857-170A-4AD2-AEF6-198FD0DE4EE0}"/>
              </a:ext>
            </a:extLst>
          </p:cNvPr>
          <p:cNvSpPr>
            <a:spLocks noGrp="1"/>
          </p:cNvSpPr>
          <p:nvPr/>
        </p:nvSpPr>
        <p:spPr>
          <a:xfrm>
            <a:off x="1371600" y="3524250"/>
            <a:ext cx="4800600" cy="552450"/>
          </a:xfrm>
          <a:prstGeom prst="rect">
            <a:avLst/>
          </a:prstGeom>
        </p:spPr>
        <p:txBody>
          <a:bodyPr lIns="0" tIns="0" rIns="0" bIns="0"/>
          <a:lstStyle/>
          <a:p>
            <a:pPr>
              <a:defRPr sz="1800" b="0" i="0">
                <a:solidFill>
                  <a:srgbClr val="5D6D76"/>
                </a:solidFill>
              </a:defRPr>
            </a:pPr>
            <a:r>
              <a:rPr sz="1800" b="0" i="0">
                <a:solidFill>
                  <a:srgbClr val="5D6D76"/>
                </a:solidFill>
              </a:rPr>
              <a:t>Use DBSCAN and cluster maps to identify stops/corridors where delay appears repeatedly.</a:t>
            </a:r>
          </a:p>
        </p:txBody>
      </p:sp>
      <p:sp>
        <p:nvSpPr>
          <p:cNvPr id="10" name="Rectangle: Rounded Corners 9">
            <a:extLst>
              <a:ext uri="{FF2B5EF4-FFF2-40B4-BE49-F238E27FC236}">
                <a16:creationId xmlns:a16="http://schemas.microsoft.com/office/drawing/2014/main" id="{717C558A-A933-4CA2-8312-971209D9A4F7}"/>
              </a:ext>
            </a:extLst>
          </p:cNvPr>
          <p:cNvSpPr>
            <a:spLocks noGrp="1"/>
          </p:cNvSpPr>
          <p:nvPr/>
        </p:nvSpPr>
        <p:spPr>
          <a:xfrm>
            <a:off x="6686550" y="2202180"/>
            <a:ext cx="5295900" cy="7269480"/>
          </a:xfrm>
          <a:prstGeom prst="roundRect">
            <a:avLst>
              <a:gd name="adj" fmla="val 5036"/>
            </a:avLst>
          </a:prstGeom>
          <a:solidFill>
            <a:srgbClr val="FFFFFF"/>
          </a:solidFill>
          <a:ln w="9525">
            <a:solidFill>
              <a:srgbClr val="D9E0DD"/>
            </a:solidFill>
            <a:prstDash val="solid"/>
          </a:ln>
        </p:spPr>
        <p:txBody>
          <a:bodyPr/>
          <a:lstStyle/>
          <a:p>
            <a:endParaRPr lang="en-US"/>
          </a:p>
        </p:txBody>
      </p:sp>
      <p:sp>
        <p:nvSpPr>
          <p:cNvPr id="11" name="Rectangle 10">
            <a:extLst>
              <a:ext uri="{FF2B5EF4-FFF2-40B4-BE49-F238E27FC236}">
                <a16:creationId xmlns:a16="http://schemas.microsoft.com/office/drawing/2014/main" id="{3B006AEE-50BF-4231-B0F1-18BC7AEDABA0}"/>
              </a:ext>
            </a:extLst>
          </p:cNvPr>
          <p:cNvSpPr>
            <a:spLocks noGrp="1"/>
          </p:cNvSpPr>
          <p:nvPr/>
        </p:nvSpPr>
        <p:spPr>
          <a:xfrm>
            <a:off x="6934200" y="2457450"/>
            <a:ext cx="4800600" cy="628650"/>
          </a:xfrm>
          <a:prstGeom prst="rect">
            <a:avLst/>
          </a:prstGeom>
        </p:spPr>
        <p:txBody>
          <a:bodyPr lIns="0" tIns="0" rIns="0" bIns="0"/>
          <a:lstStyle/>
          <a:p>
            <a:pPr>
              <a:defRPr sz="4050" b="1" i="0">
                <a:solidFill>
                  <a:srgbClr val="F39A1E"/>
                </a:solidFill>
              </a:defRPr>
            </a:pPr>
            <a:r>
              <a:rPr sz="4050" b="1" i="0">
                <a:solidFill>
                  <a:srgbClr val="F39A1E"/>
                </a:solidFill>
              </a:rPr>
              <a:t>2</a:t>
            </a:r>
          </a:p>
        </p:txBody>
      </p:sp>
      <p:sp>
        <p:nvSpPr>
          <p:cNvPr id="12" name="Rectangle 11">
            <a:extLst>
              <a:ext uri="{FF2B5EF4-FFF2-40B4-BE49-F238E27FC236}">
                <a16:creationId xmlns:a16="http://schemas.microsoft.com/office/drawing/2014/main" id="{9C4A2B8C-0D85-4632-BC6A-0F07424254DC}"/>
              </a:ext>
            </a:extLst>
          </p:cNvPr>
          <p:cNvSpPr>
            <a:spLocks noGrp="1"/>
          </p:cNvSpPr>
          <p:nvPr/>
        </p:nvSpPr>
        <p:spPr>
          <a:xfrm>
            <a:off x="6934200" y="3124200"/>
            <a:ext cx="4800600" cy="228600"/>
          </a:xfrm>
          <a:prstGeom prst="rect">
            <a:avLst/>
          </a:prstGeom>
        </p:spPr>
        <p:txBody>
          <a:bodyPr lIns="0" tIns="0" rIns="0" bIns="0"/>
          <a:lstStyle/>
          <a:p>
            <a:pPr>
              <a:defRPr sz="1500" b="0" i="0">
                <a:solidFill>
                  <a:srgbClr val="5D6D76"/>
                </a:solidFill>
              </a:defRPr>
            </a:pPr>
            <a:r>
              <a:rPr sz="1500" b="0" i="0">
                <a:solidFill>
                  <a:srgbClr val="5D6D76"/>
                </a:solidFill>
              </a:rPr>
              <a:t>Improve data coverage</a:t>
            </a:r>
          </a:p>
        </p:txBody>
      </p:sp>
      <p:sp>
        <p:nvSpPr>
          <p:cNvPr id="13" name="Rectangle 12">
            <a:extLst>
              <a:ext uri="{FF2B5EF4-FFF2-40B4-BE49-F238E27FC236}">
                <a16:creationId xmlns:a16="http://schemas.microsoft.com/office/drawing/2014/main" id="{58A07B5F-92B6-4AD1-91F7-4916DEF713C7}"/>
              </a:ext>
            </a:extLst>
          </p:cNvPr>
          <p:cNvSpPr>
            <a:spLocks noGrp="1"/>
          </p:cNvSpPr>
          <p:nvPr/>
        </p:nvSpPr>
        <p:spPr>
          <a:xfrm>
            <a:off x="6934200" y="3524250"/>
            <a:ext cx="4800600" cy="838200"/>
          </a:xfrm>
          <a:prstGeom prst="rect">
            <a:avLst/>
          </a:prstGeom>
        </p:spPr>
        <p:txBody>
          <a:bodyPr lIns="0" tIns="0" rIns="0" bIns="0"/>
          <a:lstStyle/>
          <a:p>
            <a:pPr>
              <a:defRPr sz="1800" b="0" i="0">
                <a:solidFill>
                  <a:srgbClr val="5D6D76"/>
                </a:solidFill>
              </a:defRPr>
            </a:pPr>
            <a:r>
              <a:rPr sz="1800" b="0" i="0">
                <a:solidFill>
                  <a:srgbClr val="5D6D76"/>
                </a:solidFill>
              </a:rPr>
              <a:t>Treat low realtime coverage as an operational data-quality issue before making strong reliability conclusions.</a:t>
            </a:r>
          </a:p>
        </p:txBody>
      </p:sp>
      <p:sp>
        <p:nvSpPr>
          <p:cNvPr id="14" name="Rectangle: Rounded Corners 13">
            <a:extLst>
              <a:ext uri="{FF2B5EF4-FFF2-40B4-BE49-F238E27FC236}">
                <a16:creationId xmlns:a16="http://schemas.microsoft.com/office/drawing/2014/main" id="{77B7BD80-F611-43AB-B829-810DA8C9C810}"/>
              </a:ext>
            </a:extLst>
          </p:cNvPr>
          <p:cNvSpPr>
            <a:spLocks noGrp="1"/>
          </p:cNvSpPr>
          <p:nvPr/>
        </p:nvSpPr>
        <p:spPr>
          <a:xfrm>
            <a:off x="12249150" y="2202180"/>
            <a:ext cx="5295900" cy="7269480"/>
          </a:xfrm>
          <a:prstGeom prst="roundRect">
            <a:avLst>
              <a:gd name="adj" fmla="val 5036"/>
            </a:avLst>
          </a:prstGeom>
          <a:solidFill>
            <a:srgbClr val="FFFFFF"/>
          </a:solidFill>
          <a:ln w="9525">
            <a:solidFill>
              <a:srgbClr val="D9E0DD"/>
            </a:solidFill>
            <a:prstDash val="solid"/>
          </a:ln>
        </p:spPr>
        <p:txBody>
          <a:bodyPr/>
          <a:lstStyle/>
          <a:p>
            <a:endParaRPr lang="en-US"/>
          </a:p>
        </p:txBody>
      </p:sp>
      <p:sp>
        <p:nvSpPr>
          <p:cNvPr id="15" name="Rectangle 14">
            <a:extLst>
              <a:ext uri="{FF2B5EF4-FFF2-40B4-BE49-F238E27FC236}">
                <a16:creationId xmlns:a16="http://schemas.microsoft.com/office/drawing/2014/main" id="{8BDEE17F-9369-478F-8827-4A038F560EBD}"/>
              </a:ext>
            </a:extLst>
          </p:cNvPr>
          <p:cNvSpPr>
            <a:spLocks noGrp="1"/>
          </p:cNvSpPr>
          <p:nvPr/>
        </p:nvSpPr>
        <p:spPr>
          <a:xfrm>
            <a:off x="12496800" y="2457450"/>
            <a:ext cx="4800600" cy="628650"/>
          </a:xfrm>
          <a:prstGeom prst="rect">
            <a:avLst/>
          </a:prstGeom>
        </p:spPr>
        <p:txBody>
          <a:bodyPr lIns="0" tIns="0" rIns="0" bIns="0"/>
          <a:lstStyle/>
          <a:p>
            <a:pPr>
              <a:defRPr sz="4050" b="1" i="0">
                <a:solidFill>
                  <a:srgbClr val="D83B3E"/>
                </a:solidFill>
              </a:defRPr>
            </a:pPr>
            <a:r>
              <a:rPr sz="4050" b="1" i="0">
                <a:solidFill>
                  <a:srgbClr val="D83B3E"/>
                </a:solidFill>
              </a:rPr>
              <a:t>3</a:t>
            </a:r>
          </a:p>
        </p:txBody>
      </p:sp>
      <p:sp>
        <p:nvSpPr>
          <p:cNvPr id="16" name="Rectangle 15">
            <a:extLst>
              <a:ext uri="{FF2B5EF4-FFF2-40B4-BE49-F238E27FC236}">
                <a16:creationId xmlns:a16="http://schemas.microsoft.com/office/drawing/2014/main" id="{3BE4CAB2-C85B-45EB-BD22-C32A6A923998}"/>
              </a:ext>
            </a:extLst>
          </p:cNvPr>
          <p:cNvSpPr>
            <a:spLocks noGrp="1"/>
          </p:cNvSpPr>
          <p:nvPr/>
        </p:nvSpPr>
        <p:spPr>
          <a:xfrm>
            <a:off x="12496800" y="3124200"/>
            <a:ext cx="4800600" cy="228600"/>
          </a:xfrm>
          <a:prstGeom prst="rect">
            <a:avLst/>
          </a:prstGeom>
        </p:spPr>
        <p:txBody>
          <a:bodyPr lIns="0" tIns="0" rIns="0" bIns="0"/>
          <a:lstStyle/>
          <a:p>
            <a:pPr>
              <a:defRPr sz="1500" b="0" i="0">
                <a:solidFill>
                  <a:srgbClr val="5D6D76"/>
                </a:solidFill>
              </a:defRPr>
            </a:pPr>
            <a:r>
              <a:rPr sz="1500" b="0" i="0">
                <a:solidFill>
                  <a:srgbClr val="5D6D76"/>
                </a:solidFill>
              </a:rPr>
              <a:t>Use anomaly watchlists</a:t>
            </a:r>
          </a:p>
        </p:txBody>
      </p:sp>
      <p:sp>
        <p:nvSpPr>
          <p:cNvPr id="17" name="Rectangle 16">
            <a:extLst>
              <a:ext uri="{FF2B5EF4-FFF2-40B4-BE49-F238E27FC236}">
                <a16:creationId xmlns:a16="http://schemas.microsoft.com/office/drawing/2014/main" id="{F5A71C2A-DA23-4628-AAB6-110A8C8E3591}"/>
              </a:ext>
            </a:extLst>
          </p:cNvPr>
          <p:cNvSpPr>
            <a:spLocks noGrp="1"/>
          </p:cNvSpPr>
          <p:nvPr/>
        </p:nvSpPr>
        <p:spPr>
          <a:xfrm>
            <a:off x="12496800" y="3524250"/>
            <a:ext cx="4800600" cy="838200"/>
          </a:xfrm>
          <a:prstGeom prst="rect">
            <a:avLst/>
          </a:prstGeom>
        </p:spPr>
        <p:txBody>
          <a:bodyPr lIns="0" tIns="0" rIns="0" bIns="0"/>
          <a:lstStyle/>
          <a:p>
            <a:pPr>
              <a:defRPr sz="1800" b="0" i="0">
                <a:solidFill>
                  <a:srgbClr val="5D6D76"/>
                </a:solidFill>
              </a:defRPr>
            </a:pPr>
            <a:r>
              <a:rPr sz="1800" b="0" i="0">
                <a:solidFill>
                  <a:srgbClr val="5D6D76"/>
                </a:solidFill>
              </a:rPr>
              <a:t>Prioritize routes/stops with recurring anomaly windows for manual review and possible schedule adjustment.</a:t>
            </a:r>
          </a:p>
        </p:txBody>
      </p:sp>
      <p:sp>
        <p:nvSpPr>
          <p:cNvPr id="18" name="source">
            <a:extLst>
              <a:ext uri="{FF2B5EF4-FFF2-40B4-BE49-F238E27FC236}">
                <a16:creationId xmlns:a16="http://schemas.microsoft.com/office/drawing/2014/main" id="{2B543580-363A-4796-ACA9-A347914F0D4C}"/>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1302720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25" name="bg">
            <a:extLst>
              <a:ext uri="{FF2B5EF4-FFF2-40B4-BE49-F238E27FC236}">
                <a16:creationId xmlns:a16="http://schemas.microsoft.com/office/drawing/2014/main" id="{53E34D24-A46A-4D1B-BFB8-E2BA23D7268F}"/>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B8AB3633-A6E9-4630-B392-2454E9B50AF7}"/>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859086F4-11BF-452E-A623-F90298DCC7DE}"/>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E55CEE28-97B9-454B-A0C0-4C36C2F109BB}"/>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Limitations and future work</a:t>
            </a:r>
          </a:p>
        </p:txBody>
      </p:sp>
      <p:sp>
        <p:nvSpPr>
          <p:cNvPr id="5" name="slide-subtitle">
            <a:extLst>
              <a:ext uri="{FF2B5EF4-FFF2-40B4-BE49-F238E27FC236}">
                <a16:creationId xmlns:a16="http://schemas.microsoft.com/office/drawing/2014/main" id="{871AC958-1B8C-4A75-B3F7-9F62E1F7B1C1}"/>
              </a:ext>
            </a:extLst>
          </p:cNvPr>
          <p:cNvSpPr>
            <a:spLocks noGrp="1"/>
          </p:cNvSpPr>
          <p:nvPr/>
        </p:nvSpPr>
        <p:spPr>
          <a:xfrm>
            <a:off x="1123950" y="1657350"/>
            <a:ext cx="11868150" cy="571500"/>
          </a:xfrm>
          <a:prstGeom prst="rect">
            <a:avLst/>
          </a:prstGeom>
        </p:spPr>
        <p:txBody>
          <a:bodyPr lIns="0" tIns="0" rIns="0" bIns="0"/>
          <a:lstStyle/>
          <a:p>
            <a:pPr>
              <a:defRPr sz="1875" b="0" i="0">
                <a:solidFill>
                  <a:srgbClr val="5D6D76"/>
                </a:solidFill>
              </a:defRPr>
            </a:pPr>
            <a:r>
              <a:rPr sz="1875" b="0" i="0">
                <a:solidFill>
                  <a:srgbClr val="5D6D76"/>
                </a:solidFill>
              </a:rPr>
              <a:t>The strongest explanation is honest: the MVP works, but prediction and causal claims need longer history and richer labels.</a:t>
            </a:r>
          </a:p>
        </p:txBody>
      </p:sp>
      <p:sp>
        <p:nvSpPr>
          <p:cNvPr id="6" name="Rectangle: Rounded Corners 5">
            <a:extLst>
              <a:ext uri="{FF2B5EF4-FFF2-40B4-BE49-F238E27FC236}">
                <a16:creationId xmlns:a16="http://schemas.microsoft.com/office/drawing/2014/main" id="{902B5FD0-B8D3-4F99-898D-ED6096778EF3}"/>
              </a:ext>
            </a:extLst>
          </p:cNvPr>
          <p:cNvSpPr>
            <a:spLocks noGrp="1"/>
          </p:cNvSpPr>
          <p:nvPr/>
        </p:nvSpPr>
        <p:spPr>
          <a:xfrm>
            <a:off x="1143000" y="2476500"/>
            <a:ext cx="171450" cy="171450"/>
          </a:xfrm>
          <a:prstGeom prst="roundRect">
            <a:avLst>
              <a:gd name="adj" fmla="val 50000"/>
            </a:avLst>
          </a:prstGeom>
          <a:solidFill>
            <a:srgbClr val="D83B3E"/>
          </a:solidFill>
        </p:spPr>
        <p:txBody>
          <a:bodyPr/>
          <a:lstStyle/>
          <a:p>
            <a:endParaRPr lang="en-US"/>
          </a:p>
        </p:txBody>
      </p:sp>
      <p:sp>
        <p:nvSpPr>
          <p:cNvPr id="7" name="Rectangle 6">
            <a:extLst>
              <a:ext uri="{FF2B5EF4-FFF2-40B4-BE49-F238E27FC236}">
                <a16:creationId xmlns:a16="http://schemas.microsoft.com/office/drawing/2014/main" id="{90ED7415-D57C-47D2-B1B2-A4269D2F7EEC}"/>
              </a:ext>
            </a:extLst>
          </p:cNvPr>
          <p:cNvSpPr>
            <a:spLocks noGrp="1"/>
          </p:cNvSpPr>
          <p:nvPr/>
        </p:nvSpPr>
        <p:spPr>
          <a:xfrm>
            <a:off x="1447800" y="2495550"/>
            <a:ext cx="7696200" cy="323850"/>
          </a:xfrm>
          <a:prstGeom prst="rect">
            <a:avLst/>
          </a:prstGeom>
        </p:spPr>
        <p:txBody>
          <a:bodyPr lIns="0" tIns="0" rIns="0" bIns="0"/>
          <a:lstStyle/>
          <a:p>
            <a:pPr>
              <a:defRPr sz="2100" b="1" i="0">
                <a:solidFill>
                  <a:srgbClr val="071419"/>
                </a:solidFill>
              </a:defRPr>
            </a:pPr>
            <a:r>
              <a:rPr sz="2100" b="1" i="0">
                <a:solidFill>
                  <a:srgbClr val="071419"/>
                </a:solidFill>
              </a:rPr>
              <a:t>Limited GTFS-RT history</a:t>
            </a:r>
          </a:p>
        </p:txBody>
      </p:sp>
      <p:sp>
        <p:nvSpPr>
          <p:cNvPr id="8" name="Rectangle 7">
            <a:extLst>
              <a:ext uri="{FF2B5EF4-FFF2-40B4-BE49-F238E27FC236}">
                <a16:creationId xmlns:a16="http://schemas.microsoft.com/office/drawing/2014/main" id="{EE0C824E-00E9-4E37-AAD4-FBF733A04E7E}"/>
              </a:ext>
            </a:extLst>
          </p:cNvPr>
          <p:cNvSpPr>
            <a:spLocks noGrp="1"/>
          </p:cNvSpPr>
          <p:nvPr/>
        </p:nvSpPr>
        <p:spPr>
          <a:xfrm>
            <a:off x="1447800" y="2838450"/>
            <a:ext cx="6248400" cy="514350"/>
          </a:xfrm>
          <a:prstGeom prst="rect">
            <a:avLst/>
          </a:prstGeom>
        </p:spPr>
        <p:txBody>
          <a:bodyPr lIns="0" tIns="0" rIns="0" bIns="0"/>
          <a:lstStyle/>
          <a:p>
            <a:pPr>
              <a:defRPr sz="1650" b="0" i="0">
                <a:solidFill>
                  <a:srgbClr val="5D6D76"/>
                </a:solidFill>
              </a:defRPr>
            </a:pPr>
            <a:r>
              <a:rPr sz="1650" b="0" i="0">
                <a:solidFill>
                  <a:srgbClr val="5D6D76"/>
                </a:solidFill>
              </a:rPr>
              <a:t>The system stores history while Docker is running, but long-term seasonal analysis needs continuous collection.</a:t>
            </a:r>
          </a:p>
        </p:txBody>
      </p:sp>
      <p:sp>
        <p:nvSpPr>
          <p:cNvPr id="9" name="Rectangle: Rounded Corners 8">
            <a:extLst>
              <a:ext uri="{FF2B5EF4-FFF2-40B4-BE49-F238E27FC236}">
                <a16:creationId xmlns:a16="http://schemas.microsoft.com/office/drawing/2014/main" id="{B79557F1-1054-4B14-82D7-5A5F01EC2F4B}"/>
              </a:ext>
            </a:extLst>
          </p:cNvPr>
          <p:cNvSpPr>
            <a:spLocks noGrp="1"/>
          </p:cNvSpPr>
          <p:nvPr/>
        </p:nvSpPr>
        <p:spPr>
          <a:xfrm>
            <a:off x="1143000" y="3505200"/>
            <a:ext cx="171450" cy="171450"/>
          </a:xfrm>
          <a:prstGeom prst="roundRect">
            <a:avLst>
              <a:gd name="adj" fmla="val 50000"/>
            </a:avLst>
          </a:prstGeom>
          <a:solidFill>
            <a:srgbClr val="48B8C7"/>
          </a:solidFill>
        </p:spPr>
        <p:txBody>
          <a:bodyPr/>
          <a:lstStyle/>
          <a:p>
            <a:endParaRPr lang="en-US"/>
          </a:p>
        </p:txBody>
      </p:sp>
      <p:sp>
        <p:nvSpPr>
          <p:cNvPr id="10" name="Rectangle 9">
            <a:extLst>
              <a:ext uri="{FF2B5EF4-FFF2-40B4-BE49-F238E27FC236}">
                <a16:creationId xmlns:a16="http://schemas.microsoft.com/office/drawing/2014/main" id="{1A9EC8EF-1643-44B5-B2BE-5D9CE77E250B}"/>
              </a:ext>
            </a:extLst>
          </p:cNvPr>
          <p:cNvSpPr>
            <a:spLocks noGrp="1"/>
          </p:cNvSpPr>
          <p:nvPr/>
        </p:nvSpPr>
        <p:spPr>
          <a:xfrm>
            <a:off x="1447800" y="3524250"/>
            <a:ext cx="7696200" cy="323850"/>
          </a:xfrm>
          <a:prstGeom prst="rect">
            <a:avLst/>
          </a:prstGeom>
        </p:spPr>
        <p:txBody>
          <a:bodyPr lIns="0" tIns="0" rIns="0" bIns="0"/>
          <a:lstStyle/>
          <a:p>
            <a:pPr>
              <a:defRPr sz="2100" b="1" i="0">
                <a:solidFill>
                  <a:srgbClr val="071419"/>
                </a:solidFill>
              </a:defRPr>
            </a:pPr>
            <a:r>
              <a:rPr sz="2100" b="1" i="0">
                <a:solidFill>
                  <a:srgbClr val="071419"/>
                </a:solidFill>
              </a:rPr>
              <a:t>No official anomaly labels</a:t>
            </a:r>
          </a:p>
        </p:txBody>
      </p:sp>
      <p:sp>
        <p:nvSpPr>
          <p:cNvPr id="11" name="Rectangle 10">
            <a:extLst>
              <a:ext uri="{FF2B5EF4-FFF2-40B4-BE49-F238E27FC236}">
                <a16:creationId xmlns:a16="http://schemas.microsoft.com/office/drawing/2014/main" id="{2E4DDDE8-A884-4F15-8BAF-904A00407D5F}"/>
              </a:ext>
            </a:extLst>
          </p:cNvPr>
          <p:cNvSpPr>
            <a:spLocks noGrp="1"/>
          </p:cNvSpPr>
          <p:nvPr/>
        </p:nvSpPr>
        <p:spPr>
          <a:xfrm>
            <a:off x="1447800" y="3886200"/>
            <a:ext cx="6858000" cy="514350"/>
          </a:xfrm>
          <a:prstGeom prst="rect">
            <a:avLst/>
          </a:prstGeom>
        </p:spPr>
        <p:txBody>
          <a:bodyPr lIns="0" tIns="0" rIns="0" bIns="0"/>
          <a:lstStyle/>
          <a:p>
            <a:pPr>
              <a:defRPr sz="1650" b="0" i="0">
                <a:solidFill>
                  <a:srgbClr val="5D6D76"/>
                </a:solidFill>
              </a:defRPr>
            </a:pPr>
            <a:r>
              <a:rPr sz="1650" b="0" i="0">
                <a:solidFill>
                  <a:srgbClr val="5D6D76"/>
                </a:solidFill>
              </a:rPr>
              <a:t>Pseudo-labels approximate unusual behaviour; they are useful for evaluation but not ground truth.</a:t>
            </a:r>
          </a:p>
        </p:txBody>
      </p:sp>
      <p:sp>
        <p:nvSpPr>
          <p:cNvPr id="12" name="Rectangle: Rounded Corners 11">
            <a:extLst>
              <a:ext uri="{FF2B5EF4-FFF2-40B4-BE49-F238E27FC236}">
                <a16:creationId xmlns:a16="http://schemas.microsoft.com/office/drawing/2014/main" id="{F12680F1-0A55-49D3-8B06-44935AE1C725}"/>
              </a:ext>
            </a:extLst>
          </p:cNvPr>
          <p:cNvSpPr>
            <a:spLocks noGrp="1"/>
          </p:cNvSpPr>
          <p:nvPr/>
        </p:nvSpPr>
        <p:spPr>
          <a:xfrm>
            <a:off x="1143000" y="4572000"/>
            <a:ext cx="171450" cy="171450"/>
          </a:xfrm>
          <a:prstGeom prst="roundRect">
            <a:avLst>
              <a:gd name="adj" fmla="val 50000"/>
            </a:avLst>
          </a:prstGeom>
          <a:solidFill>
            <a:srgbClr val="D83B3E"/>
          </a:solidFill>
        </p:spPr>
        <p:txBody>
          <a:bodyPr/>
          <a:lstStyle/>
          <a:p>
            <a:endParaRPr lang="en-US"/>
          </a:p>
        </p:txBody>
      </p:sp>
      <p:sp>
        <p:nvSpPr>
          <p:cNvPr id="13" name="Rectangle 12">
            <a:extLst>
              <a:ext uri="{FF2B5EF4-FFF2-40B4-BE49-F238E27FC236}">
                <a16:creationId xmlns:a16="http://schemas.microsoft.com/office/drawing/2014/main" id="{3A240B75-CE80-45DD-838A-48E3083F28CF}"/>
              </a:ext>
            </a:extLst>
          </p:cNvPr>
          <p:cNvSpPr>
            <a:spLocks noGrp="1"/>
          </p:cNvSpPr>
          <p:nvPr/>
        </p:nvSpPr>
        <p:spPr>
          <a:xfrm>
            <a:off x="1447800" y="4552950"/>
            <a:ext cx="7696200" cy="323850"/>
          </a:xfrm>
          <a:prstGeom prst="rect">
            <a:avLst/>
          </a:prstGeom>
        </p:spPr>
        <p:txBody>
          <a:bodyPr lIns="0" tIns="0" rIns="0" bIns="0"/>
          <a:lstStyle/>
          <a:p>
            <a:pPr>
              <a:defRPr sz="2100" b="1" i="0">
                <a:solidFill>
                  <a:srgbClr val="071419"/>
                </a:solidFill>
              </a:defRPr>
            </a:pPr>
            <a:r>
              <a:rPr sz="2100" b="1" i="0">
                <a:solidFill>
                  <a:srgbClr val="071419"/>
                </a:solidFill>
              </a:rPr>
              <a:t>Missing TripUpdates are ambiguous</a:t>
            </a:r>
          </a:p>
        </p:txBody>
      </p:sp>
      <p:sp>
        <p:nvSpPr>
          <p:cNvPr id="14" name="Rectangle 13">
            <a:extLst>
              <a:ext uri="{FF2B5EF4-FFF2-40B4-BE49-F238E27FC236}">
                <a16:creationId xmlns:a16="http://schemas.microsoft.com/office/drawing/2014/main" id="{58059CC8-A1D6-4FD1-95C6-197977127701}"/>
              </a:ext>
            </a:extLst>
          </p:cNvPr>
          <p:cNvSpPr>
            <a:spLocks noGrp="1"/>
          </p:cNvSpPr>
          <p:nvPr/>
        </p:nvSpPr>
        <p:spPr>
          <a:xfrm>
            <a:off x="1447800" y="4914900"/>
            <a:ext cx="6572250" cy="514350"/>
          </a:xfrm>
          <a:prstGeom prst="rect">
            <a:avLst/>
          </a:prstGeom>
        </p:spPr>
        <p:txBody>
          <a:bodyPr lIns="0" tIns="0" rIns="0" bIns="0"/>
          <a:lstStyle/>
          <a:p>
            <a:pPr>
              <a:defRPr sz="1650" b="0" i="0">
                <a:solidFill>
                  <a:srgbClr val="5D6D76"/>
                </a:solidFill>
              </a:defRPr>
            </a:pPr>
            <a:r>
              <a:rPr sz="1650" b="0" i="0">
                <a:solidFill>
                  <a:srgbClr val="5D6D76"/>
                </a:solidFill>
              </a:rPr>
              <a:t>A missing prediction can mean limited feed coverage, not necessarily that the bus was on time or delayed.</a:t>
            </a:r>
          </a:p>
        </p:txBody>
      </p:sp>
      <p:sp>
        <p:nvSpPr>
          <p:cNvPr id="15" name="Rectangle: Rounded Corners 14">
            <a:extLst>
              <a:ext uri="{FF2B5EF4-FFF2-40B4-BE49-F238E27FC236}">
                <a16:creationId xmlns:a16="http://schemas.microsoft.com/office/drawing/2014/main" id="{B69C4697-D730-46BA-AE25-0D51D6BAE89E}"/>
              </a:ext>
            </a:extLst>
          </p:cNvPr>
          <p:cNvSpPr>
            <a:spLocks noGrp="1"/>
          </p:cNvSpPr>
          <p:nvPr/>
        </p:nvSpPr>
        <p:spPr>
          <a:xfrm>
            <a:off x="9525000" y="2476500"/>
            <a:ext cx="171450" cy="171450"/>
          </a:xfrm>
          <a:prstGeom prst="roundRect">
            <a:avLst>
              <a:gd name="adj" fmla="val 50000"/>
            </a:avLst>
          </a:prstGeom>
          <a:solidFill>
            <a:srgbClr val="24B96F"/>
          </a:solidFill>
        </p:spPr>
        <p:txBody>
          <a:bodyPr/>
          <a:lstStyle/>
          <a:p>
            <a:endParaRPr lang="en-US"/>
          </a:p>
        </p:txBody>
      </p:sp>
      <p:sp>
        <p:nvSpPr>
          <p:cNvPr id="16" name="Rectangle 15">
            <a:extLst>
              <a:ext uri="{FF2B5EF4-FFF2-40B4-BE49-F238E27FC236}">
                <a16:creationId xmlns:a16="http://schemas.microsoft.com/office/drawing/2014/main" id="{80E442CC-6CCA-4236-ADF6-674ED9692418}"/>
              </a:ext>
            </a:extLst>
          </p:cNvPr>
          <p:cNvSpPr>
            <a:spLocks noGrp="1"/>
          </p:cNvSpPr>
          <p:nvPr/>
        </p:nvSpPr>
        <p:spPr>
          <a:xfrm>
            <a:off x="9867900" y="2495550"/>
            <a:ext cx="7696200" cy="323850"/>
          </a:xfrm>
          <a:prstGeom prst="rect">
            <a:avLst/>
          </a:prstGeom>
        </p:spPr>
        <p:txBody>
          <a:bodyPr lIns="0" tIns="0" rIns="0" bIns="0"/>
          <a:lstStyle/>
          <a:p>
            <a:pPr>
              <a:defRPr sz="2100" b="1" i="0">
                <a:solidFill>
                  <a:srgbClr val="071419"/>
                </a:solidFill>
              </a:defRPr>
            </a:pPr>
            <a:r>
              <a:rPr sz="2100" b="1" i="0">
                <a:solidFill>
                  <a:srgbClr val="071419"/>
                </a:solidFill>
              </a:rPr>
              <a:t>Future predictive modelling</a:t>
            </a:r>
          </a:p>
        </p:txBody>
      </p:sp>
      <p:sp>
        <p:nvSpPr>
          <p:cNvPr id="17" name="Rectangle 16">
            <a:extLst>
              <a:ext uri="{FF2B5EF4-FFF2-40B4-BE49-F238E27FC236}">
                <a16:creationId xmlns:a16="http://schemas.microsoft.com/office/drawing/2014/main" id="{88369F79-B9FD-458D-940C-BC28DCEB2BDD}"/>
              </a:ext>
            </a:extLst>
          </p:cNvPr>
          <p:cNvSpPr>
            <a:spLocks noGrp="1"/>
          </p:cNvSpPr>
          <p:nvPr/>
        </p:nvSpPr>
        <p:spPr>
          <a:xfrm>
            <a:off x="9867900" y="2838450"/>
            <a:ext cx="5943600" cy="514350"/>
          </a:xfrm>
          <a:prstGeom prst="rect">
            <a:avLst/>
          </a:prstGeom>
        </p:spPr>
        <p:txBody>
          <a:bodyPr lIns="0" tIns="0" rIns="0" bIns="0"/>
          <a:lstStyle/>
          <a:p>
            <a:pPr>
              <a:defRPr sz="1650" b="0" i="0">
                <a:solidFill>
                  <a:srgbClr val="5D6D76"/>
                </a:solidFill>
              </a:defRPr>
            </a:pPr>
            <a:r>
              <a:rPr sz="1650" b="0" i="0">
                <a:solidFill>
                  <a:srgbClr val="5D6D76"/>
                </a:solidFill>
              </a:rPr>
              <a:t>Delay prediction can be added after richer labelled history is available.</a:t>
            </a:r>
          </a:p>
        </p:txBody>
      </p:sp>
      <p:sp>
        <p:nvSpPr>
          <p:cNvPr id="18" name="Rectangle: Rounded Corners 17">
            <a:extLst>
              <a:ext uri="{FF2B5EF4-FFF2-40B4-BE49-F238E27FC236}">
                <a16:creationId xmlns:a16="http://schemas.microsoft.com/office/drawing/2014/main" id="{FA5EE2B8-8082-4F27-8C2B-7AEA04D8DC69}"/>
              </a:ext>
            </a:extLst>
          </p:cNvPr>
          <p:cNvSpPr>
            <a:spLocks noGrp="1"/>
          </p:cNvSpPr>
          <p:nvPr/>
        </p:nvSpPr>
        <p:spPr>
          <a:xfrm>
            <a:off x="9525000" y="3505200"/>
            <a:ext cx="171450" cy="171450"/>
          </a:xfrm>
          <a:prstGeom prst="roundRect">
            <a:avLst>
              <a:gd name="adj" fmla="val 50000"/>
            </a:avLst>
          </a:prstGeom>
          <a:solidFill>
            <a:srgbClr val="48B8C7"/>
          </a:solidFill>
        </p:spPr>
        <p:txBody>
          <a:bodyPr/>
          <a:lstStyle/>
          <a:p>
            <a:endParaRPr lang="en-US"/>
          </a:p>
        </p:txBody>
      </p:sp>
      <p:sp>
        <p:nvSpPr>
          <p:cNvPr id="19" name="Rectangle 18">
            <a:extLst>
              <a:ext uri="{FF2B5EF4-FFF2-40B4-BE49-F238E27FC236}">
                <a16:creationId xmlns:a16="http://schemas.microsoft.com/office/drawing/2014/main" id="{8B8E0B35-9256-4FCD-A931-F72432341CFA}"/>
              </a:ext>
            </a:extLst>
          </p:cNvPr>
          <p:cNvSpPr>
            <a:spLocks noGrp="1"/>
          </p:cNvSpPr>
          <p:nvPr/>
        </p:nvSpPr>
        <p:spPr>
          <a:xfrm>
            <a:off x="9867900" y="3524250"/>
            <a:ext cx="7696200" cy="323850"/>
          </a:xfrm>
          <a:prstGeom prst="rect">
            <a:avLst/>
          </a:prstGeom>
        </p:spPr>
        <p:txBody>
          <a:bodyPr lIns="0" tIns="0" rIns="0" bIns="0"/>
          <a:lstStyle/>
          <a:p>
            <a:pPr>
              <a:defRPr sz="2100" b="1" i="0">
                <a:solidFill>
                  <a:srgbClr val="071419"/>
                </a:solidFill>
              </a:defRPr>
            </a:pPr>
            <a:r>
              <a:rPr sz="2100" b="1" i="0">
                <a:solidFill>
                  <a:srgbClr val="071419"/>
                </a:solidFill>
              </a:rPr>
              <a:t>Automatic model refresh</a:t>
            </a:r>
          </a:p>
        </p:txBody>
      </p:sp>
      <p:sp>
        <p:nvSpPr>
          <p:cNvPr id="20" name="Rectangle 19">
            <a:extLst>
              <a:ext uri="{FF2B5EF4-FFF2-40B4-BE49-F238E27FC236}">
                <a16:creationId xmlns:a16="http://schemas.microsoft.com/office/drawing/2014/main" id="{C6C5D0BE-4177-424C-B91D-4C15AB9CD327}"/>
              </a:ext>
            </a:extLst>
          </p:cNvPr>
          <p:cNvSpPr>
            <a:spLocks noGrp="1"/>
          </p:cNvSpPr>
          <p:nvPr/>
        </p:nvSpPr>
        <p:spPr>
          <a:xfrm>
            <a:off x="9867900" y="3886200"/>
            <a:ext cx="6400800" cy="514350"/>
          </a:xfrm>
          <a:prstGeom prst="rect">
            <a:avLst/>
          </a:prstGeom>
        </p:spPr>
        <p:txBody>
          <a:bodyPr lIns="0" tIns="0" rIns="0" bIns="0"/>
          <a:lstStyle/>
          <a:p>
            <a:pPr>
              <a:defRPr sz="1650" b="0" i="0">
                <a:solidFill>
                  <a:srgbClr val="5D6D76"/>
                </a:solidFill>
              </a:defRPr>
            </a:pPr>
            <a:r>
              <a:rPr sz="1650" b="0" i="0">
                <a:solidFill>
                  <a:srgbClr val="5D6D76"/>
                </a:solidFill>
              </a:rPr>
              <a:t>Nightly clustering and 1-5 minute anomaly scoring can make the dashboard continuously live.</a:t>
            </a:r>
          </a:p>
        </p:txBody>
      </p:sp>
      <p:sp>
        <p:nvSpPr>
          <p:cNvPr id="21" name="Rectangle: Rounded Corners 20">
            <a:extLst>
              <a:ext uri="{FF2B5EF4-FFF2-40B4-BE49-F238E27FC236}">
                <a16:creationId xmlns:a16="http://schemas.microsoft.com/office/drawing/2014/main" id="{26021C4F-FB71-439B-AD7D-DB3D103DA198}"/>
              </a:ext>
            </a:extLst>
          </p:cNvPr>
          <p:cNvSpPr>
            <a:spLocks noGrp="1"/>
          </p:cNvSpPr>
          <p:nvPr/>
        </p:nvSpPr>
        <p:spPr>
          <a:xfrm>
            <a:off x="9525000" y="4572000"/>
            <a:ext cx="171450" cy="171450"/>
          </a:xfrm>
          <a:prstGeom prst="roundRect">
            <a:avLst>
              <a:gd name="adj" fmla="val 50000"/>
            </a:avLst>
          </a:prstGeom>
          <a:solidFill>
            <a:srgbClr val="24B96F"/>
          </a:solidFill>
        </p:spPr>
        <p:txBody>
          <a:bodyPr/>
          <a:lstStyle/>
          <a:p>
            <a:endParaRPr lang="en-US"/>
          </a:p>
        </p:txBody>
      </p:sp>
      <p:sp>
        <p:nvSpPr>
          <p:cNvPr id="22" name="Rectangle 21">
            <a:extLst>
              <a:ext uri="{FF2B5EF4-FFF2-40B4-BE49-F238E27FC236}">
                <a16:creationId xmlns:a16="http://schemas.microsoft.com/office/drawing/2014/main" id="{EB967F5B-4C6D-482F-A4FF-4B420AB89D22}"/>
              </a:ext>
            </a:extLst>
          </p:cNvPr>
          <p:cNvSpPr>
            <a:spLocks noGrp="1"/>
          </p:cNvSpPr>
          <p:nvPr/>
        </p:nvSpPr>
        <p:spPr>
          <a:xfrm>
            <a:off x="9867900" y="4552950"/>
            <a:ext cx="7696200" cy="323850"/>
          </a:xfrm>
          <a:prstGeom prst="rect">
            <a:avLst/>
          </a:prstGeom>
        </p:spPr>
        <p:txBody>
          <a:bodyPr lIns="0" tIns="0" rIns="0" bIns="0"/>
          <a:lstStyle/>
          <a:p>
            <a:pPr>
              <a:defRPr sz="2100" b="1" i="0">
                <a:solidFill>
                  <a:srgbClr val="071419"/>
                </a:solidFill>
              </a:defRPr>
            </a:pPr>
            <a:r>
              <a:rPr sz="2100" b="1" i="0">
                <a:solidFill>
                  <a:srgbClr val="071419"/>
                </a:solidFill>
              </a:rPr>
              <a:t>Planner-facing alerts</a:t>
            </a:r>
          </a:p>
        </p:txBody>
      </p:sp>
      <p:sp>
        <p:nvSpPr>
          <p:cNvPr id="23" name="Rectangle 22">
            <a:extLst>
              <a:ext uri="{FF2B5EF4-FFF2-40B4-BE49-F238E27FC236}">
                <a16:creationId xmlns:a16="http://schemas.microsoft.com/office/drawing/2014/main" id="{3FE32C34-552D-4839-94BF-C2A249977852}"/>
              </a:ext>
            </a:extLst>
          </p:cNvPr>
          <p:cNvSpPr>
            <a:spLocks noGrp="1"/>
          </p:cNvSpPr>
          <p:nvPr/>
        </p:nvSpPr>
        <p:spPr>
          <a:xfrm>
            <a:off x="9867900" y="4914900"/>
            <a:ext cx="6858000" cy="514350"/>
          </a:xfrm>
          <a:prstGeom prst="rect">
            <a:avLst/>
          </a:prstGeom>
        </p:spPr>
        <p:txBody>
          <a:bodyPr lIns="0" tIns="0" rIns="0" bIns="0"/>
          <a:lstStyle/>
          <a:p>
            <a:pPr>
              <a:defRPr sz="1650" b="0" i="0">
                <a:solidFill>
                  <a:srgbClr val="5D6D76"/>
                </a:solidFill>
              </a:defRPr>
            </a:pPr>
            <a:r>
              <a:rPr sz="1650" b="0" i="0">
                <a:solidFill>
                  <a:srgbClr val="5D6D76"/>
                </a:solidFill>
              </a:rPr>
              <a:t>Convert repeated hotspots into route-level recommendations and downloadable reports.</a:t>
            </a:r>
          </a:p>
        </p:txBody>
      </p:sp>
      <p:sp>
        <p:nvSpPr>
          <p:cNvPr id="24" name="source">
            <a:extLst>
              <a:ext uri="{FF2B5EF4-FFF2-40B4-BE49-F238E27FC236}">
                <a16:creationId xmlns:a16="http://schemas.microsoft.com/office/drawing/2014/main" id="{B22CC1E5-62C9-4C12-8DF9-3E10DED117C1}"/>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2049041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ED"/>
        </a:solidFill>
        <a:effectLst/>
      </p:bgPr>
    </p:bg>
    <p:spTree>
      <p:nvGrpSpPr>
        <p:cNvPr id="1" name=""/>
        <p:cNvGrpSpPr/>
        <p:nvPr/>
      </p:nvGrpSpPr>
      <p:grpSpPr>
        <a:xfrm>
          <a:off x="0" y="0"/>
          <a:ext cx="0" cy="0"/>
          <a:chOff x="0" y="0"/>
          <a:chExt cx="0" cy="0"/>
        </a:xfrm>
      </p:grpSpPr>
      <p:sp>
        <p:nvSpPr>
          <p:cNvPr id="21" name="bg">
            <a:extLst>
              <a:ext uri="{FF2B5EF4-FFF2-40B4-BE49-F238E27FC236}">
                <a16:creationId xmlns:a16="http://schemas.microsoft.com/office/drawing/2014/main" id="{561DFC4E-8EB6-4AC7-850D-01641A8DEBF3}"/>
              </a:ext>
            </a:extLst>
          </p:cNvPr>
          <p:cNvSpPr>
            <a:spLocks noGrp="1"/>
          </p:cNvSpPr>
          <p:nvPr/>
        </p:nvSpPr>
        <p:spPr>
          <a:xfrm>
            <a:off x="0" y="0"/>
            <a:ext cx="18288000" cy="10287000"/>
          </a:xfrm>
          <a:prstGeom prst="rect">
            <a:avLst/>
          </a:prstGeom>
          <a:solidFill>
            <a:srgbClr val="F6F4ED"/>
          </a:solidFill>
        </p:spPr>
        <p:txBody>
          <a:bodyPr/>
          <a:lstStyle/>
          <a:p>
            <a:endParaRPr lang="en-US"/>
          </a:p>
        </p:txBody>
      </p:sp>
      <p:sp>
        <p:nvSpPr>
          <p:cNvPr id="2" name="accent-band">
            <a:extLst>
              <a:ext uri="{FF2B5EF4-FFF2-40B4-BE49-F238E27FC236}">
                <a16:creationId xmlns:a16="http://schemas.microsoft.com/office/drawing/2014/main" id="{8EB3E339-BBFB-422E-9B72-140EB6767737}"/>
              </a:ext>
            </a:extLst>
          </p:cNvPr>
          <p:cNvSpPr>
            <a:spLocks noGrp="1"/>
          </p:cNvSpPr>
          <p:nvPr/>
        </p:nvSpPr>
        <p:spPr>
          <a:xfrm>
            <a:off x="0" y="0"/>
            <a:ext cx="552450" cy="10287000"/>
          </a:xfrm>
          <a:prstGeom prst="rect">
            <a:avLst/>
          </a:prstGeom>
          <a:solidFill>
            <a:srgbClr val="1E5A64"/>
          </a:solidFill>
        </p:spPr>
        <p:txBody>
          <a:bodyPr/>
          <a:lstStyle/>
          <a:p>
            <a:endParaRPr lang="en-US"/>
          </a:p>
        </p:txBody>
      </p:sp>
      <p:sp>
        <p:nvSpPr>
          <p:cNvPr id="3" name="Rectangle 2">
            <a:extLst>
              <a:ext uri="{FF2B5EF4-FFF2-40B4-BE49-F238E27FC236}">
                <a16:creationId xmlns:a16="http://schemas.microsoft.com/office/drawing/2014/main" id="{218494F8-D2FC-4B12-AD8F-30AB8DC8D3DC}"/>
              </a:ext>
            </a:extLst>
          </p:cNvPr>
          <p:cNvSpPr>
            <a:spLocks noGrp="1"/>
          </p:cNvSpPr>
          <p:nvPr/>
        </p:nvSpPr>
        <p:spPr>
          <a:xfrm>
            <a:off x="1123950" y="552450"/>
            <a:ext cx="16421100" cy="209550"/>
          </a:xfrm>
          <a:prstGeom prst="rect">
            <a:avLst/>
          </a:prstGeom>
        </p:spPr>
        <p:txBody>
          <a:bodyPr lIns="0" tIns="0" rIns="0" bIns="0"/>
          <a:lstStyle/>
          <a:p>
            <a:pPr>
              <a:defRPr sz="1350" b="1" i="0">
                <a:solidFill>
                  <a:srgbClr val="1E5A64"/>
                </a:solidFill>
              </a:defRPr>
            </a:pPr>
            <a:r>
              <a:rPr sz="1350" b="1" i="0">
                <a:solidFill>
                  <a:srgbClr val="1E5A64"/>
                </a:solidFill>
              </a:rPr>
              <a:t>HSL BUS RELIABILITY ANALYZER</a:t>
            </a:r>
          </a:p>
        </p:txBody>
      </p:sp>
      <p:sp>
        <p:nvSpPr>
          <p:cNvPr id="4" name="slide-title">
            <a:extLst>
              <a:ext uri="{FF2B5EF4-FFF2-40B4-BE49-F238E27FC236}">
                <a16:creationId xmlns:a16="http://schemas.microsoft.com/office/drawing/2014/main" id="{2D2DC4E7-6186-4F2E-8DD2-774725ECDD33}"/>
              </a:ext>
            </a:extLst>
          </p:cNvPr>
          <p:cNvSpPr>
            <a:spLocks noGrp="1"/>
          </p:cNvSpPr>
          <p:nvPr/>
        </p:nvSpPr>
        <p:spPr>
          <a:xfrm>
            <a:off x="1123950" y="876300"/>
            <a:ext cx="16421100" cy="666750"/>
          </a:xfrm>
          <a:prstGeom prst="rect">
            <a:avLst/>
          </a:prstGeom>
        </p:spPr>
        <p:txBody>
          <a:bodyPr lIns="0" tIns="0" rIns="0" bIns="0"/>
          <a:lstStyle/>
          <a:p>
            <a:pPr>
              <a:defRPr sz="4350" b="1" i="0">
                <a:solidFill>
                  <a:srgbClr val="071419"/>
                </a:solidFill>
              </a:defRPr>
            </a:pPr>
            <a:r>
              <a:rPr sz="4350" b="1" i="0">
                <a:solidFill>
                  <a:srgbClr val="071419"/>
                </a:solidFill>
              </a:rPr>
              <a:t>Conclusion</a:t>
            </a:r>
          </a:p>
        </p:txBody>
      </p:sp>
      <p:sp>
        <p:nvSpPr>
          <p:cNvPr id="5" name="slide-subtitle">
            <a:extLst>
              <a:ext uri="{FF2B5EF4-FFF2-40B4-BE49-F238E27FC236}">
                <a16:creationId xmlns:a16="http://schemas.microsoft.com/office/drawing/2014/main" id="{CA8C2380-0FA7-498E-9D9F-7FB69CDDC777}"/>
              </a:ext>
            </a:extLst>
          </p:cNvPr>
          <p:cNvSpPr>
            <a:spLocks noGrp="1"/>
          </p:cNvSpPr>
          <p:nvPr/>
        </p:nvSpPr>
        <p:spPr>
          <a:xfrm>
            <a:off x="1123950" y="1657350"/>
            <a:ext cx="11715750" cy="571500"/>
          </a:xfrm>
          <a:prstGeom prst="rect">
            <a:avLst/>
          </a:prstGeom>
        </p:spPr>
        <p:txBody>
          <a:bodyPr lIns="0" tIns="0" rIns="0" bIns="0"/>
          <a:lstStyle/>
          <a:p>
            <a:pPr>
              <a:defRPr sz="1875" b="0" i="0">
                <a:solidFill>
                  <a:srgbClr val="5D6D76"/>
                </a:solidFill>
              </a:defRPr>
            </a:pPr>
            <a:r>
              <a:rPr sz="1875" b="0" i="0">
                <a:solidFill>
                  <a:srgbClr val="5D6D76"/>
                </a:solidFill>
              </a:rPr>
              <a:t>The project achieved a complete bus-reliability analysis workflow from raw feeds to models, evaluation, and a dashboard.</a:t>
            </a:r>
          </a:p>
        </p:txBody>
      </p:sp>
      <p:sp>
        <p:nvSpPr>
          <p:cNvPr id="6" name="Rectangle 5">
            <a:extLst>
              <a:ext uri="{FF2B5EF4-FFF2-40B4-BE49-F238E27FC236}">
                <a16:creationId xmlns:a16="http://schemas.microsoft.com/office/drawing/2014/main" id="{12128FEB-FE28-4D36-AC61-2214FFA6C6BA}"/>
              </a:ext>
            </a:extLst>
          </p:cNvPr>
          <p:cNvSpPr>
            <a:spLocks noGrp="1"/>
          </p:cNvSpPr>
          <p:nvPr/>
        </p:nvSpPr>
        <p:spPr>
          <a:xfrm>
            <a:off x="1123950" y="4457700"/>
            <a:ext cx="12325350" cy="1104900"/>
          </a:xfrm>
          <a:prstGeom prst="rect">
            <a:avLst/>
          </a:prstGeom>
        </p:spPr>
        <p:txBody>
          <a:bodyPr lIns="0" tIns="0" rIns="0" bIns="0"/>
          <a:lstStyle/>
          <a:p>
            <a:pPr>
              <a:defRPr sz="3600" b="1" i="0">
                <a:solidFill>
                  <a:srgbClr val="071419"/>
                </a:solidFill>
              </a:defRPr>
            </a:pPr>
            <a:r>
              <a:rPr sz="3600" b="1" i="0">
                <a:solidFill>
                  <a:srgbClr val="071419"/>
                </a:solidFill>
              </a:rPr>
              <a:t>From GTFS schedules + GTFS-RT live data, we built an explainable HSL bus reliability system.</a:t>
            </a:r>
          </a:p>
        </p:txBody>
      </p:sp>
      <p:sp>
        <p:nvSpPr>
          <p:cNvPr id="7" name="Rectangle: Rounded Corners 6">
            <a:extLst>
              <a:ext uri="{FF2B5EF4-FFF2-40B4-BE49-F238E27FC236}">
                <a16:creationId xmlns:a16="http://schemas.microsoft.com/office/drawing/2014/main" id="{0D3F018D-1ECD-41E2-8705-A12B7732C61D}"/>
              </a:ext>
            </a:extLst>
          </p:cNvPr>
          <p:cNvSpPr>
            <a:spLocks noGrp="1"/>
          </p:cNvSpPr>
          <p:nvPr/>
        </p:nvSpPr>
        <p:spPr>
          <a:xfrm>
            <a:off x="1123950" y="5882640"/>
            <a:ext cx="1744599" cy="582930"/>
          </a:xfrm>
          <a:prstGeom prst="roundRect">
            <a:avLst>
              <a:gd name="adj" fmla="val 50000"/>
            </a:avLst>
          </a:prstGeom>
          <a:solidFill>
            <a:srgbClr val="1E5A64">
              <a:alpha val="13333"/>
            </a:srgbClr>
          </a:solidFill>
          <a:ln w="9525">
            <a:solidFill>
              <a:srgbClr val="1E5A64">
                <a:alpha val="40000"/>
              </a:srgbClr>
            </a:solidFill>
            <a:prstDash val="solid"/>
          </a:ln>
        </p:spPr>
        <p:txBody>
          <a:bodyPr/>
          <a:lstStyle/>
          <a:p>
            <a:endParaRPr lang="en-US"/>
          </a:p>
        </p:txBody>
      </p:sp>
      <p:sp>
        <p:nvSpPr>
          <p:cNvPr id="8" name="Rectangle 7">
            <a:extLst>
              <a:ext uri="{FF2B5EF4-FFF2-40B4-BE49-F238E27FC236}">
                <a16:creationId xmlns:a16="http://schemas.microsoft.com/office/drawing/2014/main" id="{331E4CD3-C9CF-48E6-8EEF-694C7FEF17BD}"/>
              </a:ext>
            </a:extLst>
          </p:cNvPr>
          <p:cNvSpPr>
            <a:spLocks noGrp="1"/>
          </p:cNvSpPr>
          <p:nvPr/>
        </p:nvSpPr>
        <p:spPr>
          <a:xfrm>
            <a:off x="1295400" y="5962650"/>
            <a:ext cx="1409700" cy="419100"/>
          </a:xfrm>
          <a:prstGeom prst="rect">
            <a:avLst/>
          </a:prstGeom>
        </p:spPr>
        <p:txBody>
          <a:bodyPr lIns="0" tIns="0" rIns="0" bIns="0"/>
          <a:lstStyle/>
          <a:p>
            <a:pPr>
              <a:defRPr sz="1350" b="1" i="0">
                <a:solidFill>
                  <a:srgbClr val="1E5A64"/>
                </a:solidFill>
              </a:defRPr>
            </a:pPr>
            <a:r>
              <a:rPr sz="1350" b="1" i="0">
                <a:solidFill>
                  <a:srgbClr val="1E5A64"/>
                </a:solidFill>
              </a:rPr>
              <a:t>Data understanding</a:t>
            </a:r>
          </a:p>
        </p:txBody>
      </p:sp>
      <p:sp>
        <p:nvSpPr>
          <p:cNvPr id="9" name="Rectangle: Rounded Corners 8">
            <a:extLst>
              <a:ext uri="{FF2B5EF4-FFF2-40B4-BE49-F238E27FC236}">
                <a16:creationId xmlns:a16="http://schemas.microsoft.com/office/drawing/2014/main" id="{9B9D2160-18B7-48F3-8C3F-2D8AD276D880}"/>
              </a:ext>
            </a:extLst>
          </p:cNvPr>
          <p:cNvSpPr>
            <a:spLocks noGrp="1"/>
          </p:cNvSpPr>
          <p:nvPr/>
        </p:nvSpPr>
        <p:spPr>
          <a:xfrm>
            <a:off x="3039999" y="5882640"/>
            <a:ext cx="1332738" cy="377190"/>
          </a:xfrm>
          <a:prstGeom prst="roundRect">
            <a:avLst>
              <a:gd name="adj" fmla="val 50000"/>
            </a:avLst>
          </a:prstGeom>
          <a:solidFill>
            <a:srgbClr val="F39A1E">
              <a:alpha val="13333"/>
            </a:srgbClr>
          </a:solidFill>
          <a:ln w="9525">
            <a:solidFill>
              <a:srgbClr val="F39A1E">
                <a:alpha val="40000"/>
              </a:srgbClr>
            </a:solidFill>
            <a:prstDash val="solid"/>
          </a:ln>
        </p:spPr>
        <p:txBody>
          <a:bodyPr/>
          <a:lstStyle/>
          <a:p>
            <a:endParaRPr lang="en-US"/>
          </a:p>
        </p:txBody>
      </p:sp>
      <p:sp>
        <p:nvSpPr>
          <p:cNvPr id="10" name="Rectangle 9">
            <a:extLst>
              <a:ext uri="{FF2B5EF4-FFF2-40B4-BE49-F238E27FC236}">
                <a16:creationId xmlns:a16="http://schemas.microsoft.com/office/drawing/2014/main" id="{FB16A85D-3311-4EFD-9B9A-532FB0D2837F}"/>
              </a:ext>
            </a:extLst>
          </p:cNvPr>
          <p:cNvSpPr>
            <a:spLocks noGrp="1"/>
          </p:cNvSpPr>
          <p:nvPr/>
        </p:nvSpPr>
        <p:spPr>
          <a:xfrm>
            <a:off x="3219450" y="5962650"/>
            <a:ext cx="990600" cy="209550"/>
          </a:xfrm>
          <a:prstGeom prst="rect">
            <a:avLst/>
          </a:prstGeom>
        </p:spPr>
        <p:txBody>
          <a:bodyPr lIns="0" tIns="0" rIns="0" bIns="0"/>
          <a:lstStyle/>
          <a:p>
            <a:pPr>
              <a:defRPr sz="1350" b="1" i="0">
                <a:solidFill>
                  <a:srgbClr val="F39A1E"/>
                </a:solidFill>
              </a:defRPr>
            </a:pPr>
            <a:r>
              <a:rPr sz="1350" b="1" i="0">
                <a:solidFill>
                  <a:srgbClr val="F39A1E"/>
                </a:solidFill>
              </a:rPr>
              <a:t>Preprocessing</a:t>
            </a:r>
          </a:p>
        </p:txBody>
      </p:sp>
      <p:sp>
        <p:nvSpPr>
          <p:cNvPr id="11" name="Rectangle: Rounded Corners 10">
            <a:extLst>
              <a:ext uri="{FF2B5EF4-FFF2-40B4-BE49-F238E27FC236}">
                <a16:creationId xmlns:a16="http://schemas.microsoft.com/office/drawing/2014/main" id="{787617ED-6154-4E14-922E-CCCEAD021B67}"/>
              </a:ext>
            </a:extLst>
          </p:cNvPr>
          <p:cNvSpPr>
            <a:spLocks noGrp="1"/>
          </p:cNvSpPr>
          <p:nvPr/>
        </p:nvSpPr>
        <p:spPr>
          <a:xfrm>
            <a:off x="4544187" y="5882640"/>
            <a:ext cx="1054227" cy="582930"/>
          </a:xfrm>
          <a:prstGeom prst="roundRect">
            <a:avLst>
              <a:gd name="adj" fmla="val 50000"/>
            </a:avLst>
          </a:prstGeom>
          <a:solidFill>
            <a:srgbClr val="326DFF">
              <a:alpha val="13333"/>
            </a:srgbClr>
          </a:solidFill>
          <a:ln w="9525">
            <a:solidFill>
              <a:srgbClr val="326DFF">
                <a:alpha val="40000"/>
              </a:srgbClr>
            </a:solidFill>
            <a:prstDash val="solid"/>
          </a:ln>
        </p:spPr>
        <p:txBody>
          <a:bodyPr/>
          <a:lstStyle/>
          <a:p>
            <a:endParaRPr lang="en-US"/>
          </a:p>
        </p:txBody>
      </p:sp>
      <p:sp>
        <p:nvSpPr>
          <p:cNvPr id="12" name="Rectangle 11">
            <a:extLst>
              <a:ext uri="{FF2B5EF4-FFF2-40B4-BE49-F238E27FC236}">
                <a16:creationId xmlns:a16="http://schemas.microsoft.com/office/drawing/2014/main" id="{09426C89-66F4-4C85-A211-0CD0AAC63FB0}"/>
              </a:ext>
            </a:extLst>
          </p:cNvPr>
          <p:cNvSpPr>
            <a:spLocks noGrp="1"/>
          </p:cNvSpPr>
          <p:nvPr/>
        </p:nvSpPr>
        <p:spPr>
          <a:xfrm>
            <a:off x="4724400" y="5962650"/>
            <a:ext cx="704850" cy="419100"/>
          </a:xfrm>
          <a:prstGeom prst="rect">
            <a:avLst/>
          </a:prstGeom>
        </p:spPr>
        <p:txBody>
          <a:bodyPr lIns="0" tIns="0" rIns="0" bIns="0"/>
          <a:lstStyle/>
          <a:p>
            <a:pPr>
              <a:defRPr sz="1350" b="1" i="0">
                <a:solidFill>
                  <a:srgbClr val="326DFF"/>
                </a:solidFill>
              </a:defRPr>
            </a:pPr>
            <a:r>
              <a:rPr sz="1350" b="1" i="0">
                <a:solidFill>
                  <a:srgbClr val="326DFF"/>
                </a:solidFill>
              </a:rPr>
              <a:t>Clustering</a:t>
            </a:r>
          </a:p>
        </p:txBody>
      </p:sp>
      <p:sp>
        <p:nvSpPr>
          <p:cNvPr id="13" name="Rectangle: Rounded Corners 12">
            <a:extLst>
              <a:ext uri="{FF2B5EF4-FFF2-40B4-BE49-F238E27FC236}">
                <a16:creationId xmlns:a16="http://schemas.microsoft.com/office/drawing/2014/main" id="{D3D752BC-BDDF-454E-B47C-76CE0919C234}"/>
              </a:ext>
            </a:extLst>
          </p:cNvPr>
          <p:cNvSpPr>
            <a:spLocks noGrp="1"/>
          </p:cNvSpPr>
          <p:nvPr/>
        </p:nvSpPr>
        <p:spPr>
          <a:xfrm>
            <a:off x="5769864" y="5882640"/>
            <a:ext cx="1694402" cy="582930"/>
          </a:xfrm>
          <a:prstGeom prst="roundRect">
            <a:avLst>
              <a:gd name="adj" fmla="val 50000"/>
            </a:avLst>
          </a:prstGeom>
          <a:solidFill>
            <a:srgbClr val="D83B3E">
              <a:alpha val="13333"/>
            </a:srgbClr>
          </a:solidFill>
          <a:ln w="9525">
            <a:solidFill>
              <a:srgbClr val="D83B3E">
                <a:alpha val="40000"/>
              </a:srgbClr>
            </a:solidFill>
            <a:prstDash val="solid"/>
          </a:ln>
        </p:spPr>
        <p:txBody>
          <a:bodyPr/>
          <a:lstStyle/>
          <a:p>
            <a:endParaRPr lang="en-US"/>
          </a:p>
        </p:txBody>
      </p:sp>
      <p:sp>
        <p:nvSpPr>
          <p:cNvPr id="14" name="Rectangle 13">
            <a:extLst>
              <a:ext uri="{FF2B5EF4-FFF2-40B4-BE49-F238E27FC236}">
                <a16:creationId xmlns:a16="http://schemas.microsoft.com/office/drawing/2014/main" id="{D0378CF1-EFAC-4EFE-91AD-921EF8E31BEE}"/>
              </a:ext>
            </a:extLst>
          </p:cNvPr>
          <p:cNvSpPr>
            <a:spLocks noGrp="1"/>
          </p:cNvSpPr>
          <p:nvPr/>
        </p:nvSpPr>
        <p:spPr>
          <a:xfrm>
            <a:off x="5943600" y="5962650"/>
            <a:ext cx="1352550" cy="419100"/>
          </a:xfrm>
          <a:prstGeom prst="rect">
            <a:avLst/>
          </a:prstGeom>
        </p:spPr>
        <p:txBody>
          <a:bodyPr lIns="0" tIns="0" rIns="0" bIns="0"/>
          <a:lstStyle/>
          <a:p>
            <a:pPr>
              <a:defRPr sz="1350" b="1" i="0">
                <a:solidFill>
                  <a:srgbClr val="D83B3E"/>
                </a:solidFill>
              </a:defRPr>
            </a:pPr>
            <a:r>
              <a:rPr sz="1350" b="1" i="0">
                <a:solidFill>
                  <a:srgbClr val="D83B3E"/>
                </a:solidFill>
              </a:rPr>
              <a:t>Anomaly detection</a:t>
            </a:r>
          </a:p>
        </p:txBody>
      </p:sp>
      <p:sp>
        <p:nvSpPr>
          <p:cNvPr id="15" name="Rectangle: Rounded Corners 14">
            <a:extLst>
              <a:ext uri="{FF2B5EF4-FFF2-40B4-BE49-F238E27FC236}">
                <a16:creationId xmlns:a16="http://schemas.microsoft.com/office/drawing/2014/main" id="{EC156309-F44D-498A-B515-8C481A2D5F7B}"/>
              </a:ext>
            </a:extLst>
          </p:cNvPr>
          <p:cNvSpPr>
            <a:spLocks noGrp="1"/>
          </p:cNvSpPr>
          <p:nvPr/>
        </p:nvSpPr>
        <p:spPr>
          <a:xfrm>
            <a:off x="7635716" y="5882640"/>
            <a:ext cx="1087088" cy="582930"/>
          </a:xfrm>
          <a:prstGeom prst="roundRect">
            <a:avLst>
              <a:gd name="adj" fmla="val 50000"/>
            </a:avLst>
          </a:prstGeom>
          <a:solidFill>
            <a:srgbClr val="24B96F">
              <a:alpha val="13333"/>
            </a:srgbClr>
          </a:solidFill>
          <a:ln w="9525">
            <a:solidFill>
              <a:srgbClr val="24B96F">
                <a:alpha val="40000"/>
              </a:srgbClr>
            </a:solidFill>
            <a:prstDash val="solid"/>
          </a:ln>
        </p:spPr>
        <p:txBody>
          <a:bodyPr/>
          <a:lstStyle/>
          <a:p>
            <a:endParaRPr lang="en-US"/>
          </a:p>
        </p:txBody>
      </p:sp>
      <p:sp>
        <p:nvSpPr>
          <p:cNvPr id="16" name="Rectangle 15">
            <a:extLst>
              <a:ext uri="{FF2B5EF4-FFF2-40B4-BE49-F238E27FC236}">
                <a16:creationId xmlns:a16="http://schemas.microsoft.com/office/drawing/2014/main" id="{3B211E67-DD55-44F0-B3FA-7855916ACFF9}"/>
              </a:ext>
            </a:extLst>
          </p:cNvPr>
          <p:cNvSpPr>
            <a:spLocks noGrp="1"/>
          </p:cNvSpPr>
          <p:nvPr/>
        </p:nvSpPr>
        <p:spPr>
          <a:xfrm>
            <a:off x="7810500" y="5962650"/>
            <a:ext cx="742950" cy="419100"/>
          </a:xfrm>
          <a:prstGeom prst="rect">
            <a:avLst/>
          </a:prstGeom>
        </p:spPr>
        <p:txBody>
          <a:bodyPr lIns="0" tIns="0" rIns="0" bIns="0"/>
          <a:lstStyle/>
          <a:p>
            <a:pPr>
              <a:defRPr sz="1350" b="1" i="0">
                <a:solidFill>
                  <a:srgbClr val="24B96F"/>
                </a:solidFill>
              </a:defRPr>
            </a:pPr>
            <a:r>
              <a:rPr sz="1350" b="1" i="0">
                <a:solidFill>
                  <a:srgbClr val="24B96F"/>
                </a:solidFill>
              </a:rPr>
              <a:t>Evaluation</a:t>
            </a:r>
          </a:p>
        </p:txBody>
      </p:sp>
      <p:sp>
        <p:nvSpPr>
          <p:cNvPr id="17" name="Rectangle: Rounded Corners 16">
            <a:extLst>
              <a:ext uri="{FF2B5EF4-FFF2-40B4-BE49-F238E27FC236}">
                <a16:creationId xmlns:a16="http://schemas.microsoft.com/office/drawing/2014/main" id="{F5E5EAF3-081D-4B50-B596-EAFAF72019C3}"/>
              </a:ext>
            </a:extLst>
          </p:cNvPr>
          <p:cNvSpPr>
            <a:spLocks noGrp="1"/>
          </p:cNvSpPr>
          <p:nvPr/>
        </p:nvSpPr>
        <p:spPr>
          <a:xfrm>
            <a:off x="8894255" y="5882640"/>
            <a:ext cx="1115568" cy="377190"/>
          </a:xfrm>
          <a:prstGeom prst="roundRect">
            <a:avLst>
              <a:gd name="adj" fmla="val 50000"/>
            </a:avLst>
          </a:prstGeom>
          <a:solidFill>
            <a:srgbClr val="48B8C7">
              <a:alpha val="13333"/>
            </a:srgbClr>
          </a:solidFill>
          <a:ln w="9525">
            <a:solidFill>
              <a:srgbClr val="48B8C7">
                <a:alpha val="40000"/>
              </a:srgbClr>
            </a:solidFill>
            <a:prstDash val="solid"/>
          </a:ln>
        </p:spPr>
        <p:txBody>
          <a:bodyPr/>
          <a:lstStyle/>
          <a:p>
            <a:endParaRPr lang="en-US"/>
          </a:p>
        </p:txBody>
      </p:sp>
      <p:sp>
        <p:nvSpPr>
          <p:cNvPr id="18" name="Rectangle 17">
            <a:extLst>
              <a:ext uri="{FF2B5EF4-FFF2-40B4-BE49-F238E27FC236}">
                <a16:creationId xmlns:a16="http://schemas.microsoft.com/office/drawing/2014/main" id="{A7C49DD8-324B-494E-BCB4-46BE80222A3E}"/>
              </a:ext>
            </a:extLst>
          </p:cNvPr>
          <p:cNvSpPr>
            <a:spLocks noGrp="1"/>
          </p:cNvSpPr>
          <p:nvPr/>
        </p:nvSpPr>
        <p:spPr>
          <a:xfrm>
            <a:off x="9067800" y="5962650"/>
            <a:ext cx="781050" cy="209550"/>
          </a:xfrm>
          <a:prstGeom prst="rect">
            <a:avLst/>
          </a:prstGeom>
        </p:spPr>
        <p:txBody>
          <a:bodyPr lIns="0" tIns="0" rIns="0" bIns="0"/>
          <a:lstStyle/>
          <a:p>
            <a:pPr>
              <a:defRPr sz="1350" b="1" i="0">
                <a:solidFill>
                  <a:srgbClr val="48B8C7"/>
                </a:solidFill>
              </a:defRPr>
            </a:pPr>
            <a:r>
              <a:rPr sz="1350" b="1" i="0">
                <a:solidFill>
                  <a:srgbClr val="48B8C7"/>
                </a:solidFill>
              </a:rPr>
              <a:t>Dashboard</a:t>
            </a:r>
          </a:p>
        </p:txBody>
      </p:sp>
      <p:sp>
        <p:nvSpPr>
          <p:cNvPr id="19" name="Rectangle 18">
            <a:extLst>
              <a:ext uri="{FF2B5EF4-FFF2-40B4-BE49-F238E27FC236}">
                <a16:creationId xmlns:a16="http://schemas.microsoft.com/office/drawing/2014/main" id="{FC45ABD2-AD31-440D-A5D3-59BF4B314B35}"/>
              </a:ext>
            </a:extLst>
          </p:cNvPr>
          <p:cNvSpPr>
            <a:spLocks noGrp="1"/>
          </p:cNvSpPr>
          <p:nvPr/>
        </p:nvSpPr>
        <p:spPr>
          <a:xfrm>
            <a:off x="1123950" y="6781800"/>
            <a:ext cx="11410950" cy="723900"/>
          </a:xfrm>
          <a:prstGeom prst="rect">
            <a:avLst/>
          </a:prstGeom>
        </p:spPr>
        <p:txBody>
          <a:bodyPr lIns="0" tIns="0" rIns="0" bIns="0"/>
          <a:lstStyle/>
          <a:p>
            <a:pPr>
              <a:defRPr sz="2325" b="0" i="0">
                <a:solidFill>
                  <a:srgbClr val="5D6D76"/>
                </a:solidFill>
              </a:defRPr>
            </a:pPr>
            <a:r>
              <a:rPr sz="2325" b="0" i="0">
                <a:solidFill>
                  <a:srgbClr val="5D6D76"/>
                </a:solidFill>
              </a:rPr>
              <a:t>Main takeaway: the system helps planners move from raw transit feeds to route-level evidence, spatial reliability patterns, and anomaly watchlists for improving bus service.</a:t>
            </a:r>
          </a:p>
        </p:txBody>
      </p:sp>
      <p:sp>
        <p:nvSpPr>
          <p:cNvPr id="20" name="source">
            <a:extLst>
              <a:ext uri="{FF2B5EF4-FFF2-40B4-BE49-F238E27FC236}">
                <a16:creationId xmlns:a16="http://schemas.microsoft.com/office/drawing/2014/main" id="{7ABD6977-C254-473C-BA07-BD9B3706D369}"/>
              </a:ext>
            </a:extLst>
          </p:cNvPr>
          <p:cNvSpPr>
            <a:spLocks noGrp="1"/>
          </p:cNvSpPr>
          <p:nvPr/>
        </p:nvSpPr>
        <p:spPr>
          <a:xfrm>
            <a:off x="1123950" y="9734550"/>
            <a:ext cx="16421100" cy="152400"/>
          </a:xfrm>
          <a:prstGeom prst="rect">
            <a:avLst/>
          </a:prstGeom>
        </p:spPr>
        <p:txBody>
          <a:bodyPr lIns="0" tIns="0" rIns="0" bIns="0"/>
          <a:lstStyle/>
          <a:p>
            <a:pPr>
              <a:defRPr sz="975" b="0" i="0">
                <a:solidFill>
                  <a:srgbClr val="71818A"/>
                </a:solidFill>
              </a:defRPr>
            </a:pPr>
            <a:r>
              <a:rPr sz="975" b="0" i="0">
                <a:solidFill>
                  <a:srgbClr val="71818A"/>
                </a:solidFill>
              </a:rPr>
              <a:t>Sources: HSL Static GTFS, HSL GTFS-RT VehiclePositions/TripUpdates, project notebooks 03 and 04.</a:t>
            </a:r>
          </a:p>
        </p:txBody>
      </p:sp>
    </p:spTree>
    <p:extLst>
      <p:ext uri="{BB962C8B-B14F-4D97-AF65-F5344CB8AC3E}">
        <p14:creationId xmlns:p14="http://schemas.microsoft.com/office/powerpoint/2010/main" val="64932510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2835</Words>
  <Application>Microsoft Office PowerPoint</Application>
  <DocSecurity>0</DocSecurity>
  <PresentationFormat>Custom</PresentationFormat>
  <Paragraphs>321</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Buland Kumar Pradhan</cp:lastModifiedBy>
  <cp:revision>1</cp:revision>
  <dcterms:created xsi:type="dcterms:W3CDTF">2026-04-28T19:53:56Z</dcterms:created>
  <dcterms:modified xsi:type="dcterms:W3CDTF">2026-04-28T22:20:23Z</dcterms:modified>
</cp:coreProperties>
</file>